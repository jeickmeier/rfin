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828800"/>
            <a:ext cx="7315200" cy="1097280"/>
          </a:xfrm>
          <a:prstGeom prst="rect">
            <a:avLst/>
          </a:prstGeom>
          <a:noFill/>
        </p:spPr>
        <p:txBody>
          <a:bodyPr wrap="square">
            <a:spAutoFit/>
          </a:bodyPr>
          <a:lstStyle/>
          <a:p>
            <a:pPr algn="l">
              <a:defRPr sz="4000" b="1">
                <a:solidFill>
                  <a:srgbClr val="FFFFFF"/>
                </a:solidFill>
                <a:latin typeface="Calibri"/>
              </a:defRPr>
            </a:pPr>
            <a:r>
              <a:t>PIK Coupon Modelling</a:t>
            </a:r>
          </a:p>
        </p:txBody>
      </p:sp>
      <p:sp>
        <p:nvSpPr>
          <p:cNvPr id="3" name="TextBox 2"/>
          <p:cNvSpPr txBox="1"/>
          <p:nvPr/>
        </p:nvSpPr>
        <p:spPr>
          <a:xfrm>
            <a:off x="914400" y="2834640"/>
            <a:ext cx="7315200" cy="731520"/>
          </a:xfrm>
          <a:prstGeom prst="rect">
            <a:avLst/>
          </a:prstGeom>
          <a:noFill/>
        </p:spPr>
        <p:txBody>
          <a:bodyPr wrap="square">
            <a:spAutoFit/>
          </a:bodyPr>
          <a:lstStyle/>
          <a:p>
            <a:pPr algn="l">
              <a:defRPr sz="2800" b="0">
                <a:solidFill>
                  <a:srgbClr val="4EC9B0"/>
                </a:solidFill>
                <a:latin typeface="Calibri"/>
              </a:defRPr>
            </a:pPr>
            <a:r>
              <a:t>The Deep Dive</a:t>
            </a:r>
          </a:p>
        </p:txBody>
      </p:sp>
      <p:sp>
        <p:nvSpPr>
          <p:cNvPr id="4" name="TextBox 3"/>
          <p:cNvSpPr txBox="1"/>
          <p:nvPr/>
        </p:nvSpPr>
        <p:spPr>
          <a:xfrm>
            <a:off x="914400" y="3840480"/>
            <a:ext cx="7315200" cy="731520"/>
          </a:xfrm>
          <a:prstGeom prst="rect">
            <a:avLst/>
          </a:prstGeom>
          <a:noFill/>
        </p:spPr>
        <p:txBody>
          <a:bodyPr wrap="square">
            <a:spAutoFit/>
          </a:bodyPr>
          <a:lstStyle/>
          <a:p>
            <a:pPr algn="l">
              <a:defRPr sz="1600" b="0">
                <a:solidFill>
                  <a:srgbClr val="CCCCCC"/>
                </a:solidFill>
                <a:latin typeface="Calibri"/>
              </a:defRPr>
            </a:pPr>
            <a:r>
              <a:t>Model mechanics, parameters, Monte Carlo paths,</a:t>
            </a:r>
            <a:br/>
            <a:r>
              <a:t>and the structural feedback loop</a:t>
            </a:r>
          </a:p>
        </p:txBody>
      </p:sp>
      <p:sp>
        <p:nvSpPr>
          <p:cNvPr id="5" name="Rectangle 4"/>
          <p:cNvSpPr/>
          <p:nvPr/>
        </p:nvSpPr>
        <p:spPr>
          <a:xfrm>
            <a:off x="914400" y="3611880"/>
            <a:ext cx="2743200" cy="3810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7315200" cy="365760"/>
          </a:xfrm>
          <a:prstGeom prst="rect">
            <a:avLst/>
          </a:prstGeom>
          <a:noFill/>
        </p:spPr>
        <p:txBody>
          <a:bodyPr wrap="square">
            <a:spAutoFit/>
          </a:bodyPr>
          <a:lstStyle/>
          <a:p>
            <a:pPr algn="l">
              <a:defRPr sz="1200" b="0">
                <a:solidFill>
                  <a:srgbClr val="555570"/>
                </a:solidFill>
                <a:latin typeface="Calibri"/>
              </a:defRPr>
            </a:pPr>
            <a:r>
              <a:t>Companion to: PIK Coupon Pricing — How Much Extra Spread Is Enough?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The Result to Explain</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From the executive deck: the hockey-stick PIK premium</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2/16</a:t>
            </a:r>
          </a:p>
        </p:txBody>
      </p:sp>
      <p:sp>
        <p:nvSpPr>
          <p:cNvPr id="6" name="TextBox 5"/>
          <p:cNvSpPr txBox="1"/>
          <p:nvPr/>
        </p:nvSpPr>
        <p:spPr>
          <a:xfrm>
            <a:off x="457200" y="1005840"/>
            <a:ext cx="3657600" cy="274320"/>
          </a:xfrm>
          <a:prstGeom prst="rect">
            <a:avLst/>
          </a:prstGeom>
          <a:noFill/>
        </p:spPr>
        <p:txBody>
          <a:bodyPr wrap="square">
            <a:spAutoFit/>
          </a:bodyPr>
          <a:lstStyle/>
          <a:p>
            <a:pPr algn="l">
              <a:defRPr sz="1400" b="1">
                <a:solidFill>
                  <a:srgbClr val="2C3E6B"/>
                </a:solidFill>
                <a:latin typeface="Calibri"/>
              </a:defRPr>
            </a:pPr>
            <a:r>
              <a:t>PIK Z-Spread Premium by Market Spread</a:t>
            </a:r>
          </a:p>
        </p:txBody>
      </p:sp>
      <p:sp>
        <p:nvSpPr>
          <p:cNvPr id="7" name="TextBox 6"/>
          <p:cNvSpPr txBox="1"/>
          <p:nvPr/>
        </p:nvSpPr>
        <p:spPr>
          <a:xfrm>
            <a:off x="457200" y="1371600"/>
            <a:ext cx="640080" cy="274320"/>
          </a:xfrm>
          <a:prstGeom prst="rect">
            <a:avLst/>
          </a:prstGeom>
          <a:noFill/>
        </p:spPr>
        <p:txBody>
          <a:bodyPr wrap="square">
            <a:spAutoFit/>
          </a:bodyPr>
          <a:lstStyle/>
          <a:p>
            <a:pPr algn="l">
              <a:defRPr sz="900" b="0">
                <a:solidFill>
                  <a:srgbClr val="555570"/>
                </a:solidFill>
                <a:latin typeface="Calibri"/>
              </a:defRPr>
            </a:pPr>
            <a:r>
              <a:t>50bp</a:t>
            </a:r>
          </a:p>
        </p:txBody>
      </p:sp>
      <p:sp>
        <p:nvSpPr>
          <p:cNvPr id="8" name="Rectangle 7"/>
          <p:cNvSpPr/>
          <p:nvPr/>
        </p:nvSpPr>
        <p:spPr>
          <a:xfrm>
            <a:off x="2187551" y="1397000"/>
            <a:ext cx="372769" cy="1778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30351" y="1358900"/>
            <a:ext cx="457200" cy="274320"/>
          </a:xfrm>
          <a:prstGeom prst="rect">
            <a:avLst/>
          </a:prstGeom>
          <a:noFill/>
        </p:spPr>
        <p:txBody>
          <a:bodyPr wrap="square">
            <a:spAutoFit/>
          </a:bodyPr>
          <a:lstStyle/>
          <a:p>
            <a:pPr algn="r">
              <a:defRPr sz="900" b="1">
                <a:solidFill>
                  <a:srgbClr val="5CB85C"/>
                </a:solidFill>
                <a:latin typeface="Calibri"/>
              </a:defRPr>
            </a:pPr>
            <a:r>
              <a:t>-65</a:t>
            </a:r>
          </a:p>
        </p:txBody>
      </p:sp>
      <p:sp>
        <p:nvSpPr>
          <p:cNvPr id="10" name="TextBox 9"/>
          <p:cNvSpPr txBox="1"/>
          <p:nvPr/>
        </p:nvSpPr>
        <p:spPr>
          <a:xfrm>
            <a:off x="457200" y="1755648"/>
            <a:ext cx="640080" cy="274320"/>
          </a:xfrm>
          <a:prstGeom prst="rect">
            <a:avLst/>
          </a:prstGeom>
          <a:noFill/>
        </p:spPr>
        <p:txBody>
          <a:bodyPr wrap="square">
            <a:spAutoFit/>
          </a:bodyPr>
          <a:lstStyle/>
          <a:p>
            <a:pPr algn="l">
              <a:defRPr sz="900" b="0">
                <a:solidFill>
                  <a:srgbClr val="555570"/>
                </a:solidFill>
                <a:latin typeface="Calibri"/>
              </a:defRPr>
            </a:pPr>
            <a:r>
              <a:t>100bp</a:t>
            </a:r>
          </a:p>
        </p:txBody>
      </p:sp>
      <p:sp>
        <p:nvSpPr>
          <p:cNvPr id="11" name="Rectangle 10"/>
          <p:cNvSpPr/>
          <p:nvPr/>
        </p:nvSpPr>
        <p:spPr>
          <a:xfrm>
            <a:off x="2250635" y="1781048"/>
            <a:ext cx="309685" cy="1778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93435" y="1742948"/>
            <a:ext cx="457200" cy="274320"/>
          </a:xfrm>
          <a:prstGeom prst="rect">
            <a:avLst/>
          </a:prstGeom>
          <a:noFill/>
        </p:spPr>
        <p:txBody>
          <a:bodyPr wrap="square">
            <a:spAutoFit/>
          </a:bodyPr>
          <a:lstStyle/>
          <a:p>
            <a:pPr algn="r">
              <a:defRPr sz="900" b="1">
                <a:solidFill>
                  <a:srgbClr val="5CB85C"/>
                </a:solidFill>
                <a:latin typeface="Calibri"/>
              </a:defRPr>
            </a:pPr>
            <a:r>
              <a:t>-54</a:t>
            </a:r>
          </a:p>
        </p:txBody>
      </p:sp>
      <p:sp>
        <p:nvSpPr>
          <p:cNvPr id="13" name="TextBox 12"/>
          <p:cNvSpPr txBox="1"/>
          <p:nvPr/>
        </p:nvSpPr>
        <p:spPr>
          <a:xfrm>
            <a:off x="457200" y="2139696"/>
            <a:ext cx="640080" cy="274320"/>
          </a:xfrm>
          <a:prstGeom prst="rect">
            <a:avLst/>
          </a:prstGeom>
          <a:noFill/>
        </p:spPr>
        <p:txBody>
          <a:bodyPr wrap="square">
            <a:spAutoFit/>
          </a:bodyPr>
          <a:lstStyle/>
          <a:p>
            <a:pPr algn="l">
              <a:defRPr sz="900" b="0">
                <a:solidFill>
                  <a:srgbClr val="555570"/>
                </a:solidFill>
                <a:latin typeface="Calibri"/>
              </a:defRPr>
            </a:pPr>
            <a:r>
              <a:t>200bp</a:t>
            </a:r>
          </a:p>
        </p:txBody>
      </p:sp>
      <p:sp>
        <p:nvSpPr>
          <p:cNvPr id="14" name="Rectangle 13"/>
          <p:cNvSpPr/>
          <p:nvPr/>
        </p:nvSpPr>
        <p:spPr>
          <a:xfrm>
            <a:off x="2382538" y="2165096"/>
            <a:ext cx="177782" cy="1778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25338" y="2126996"/>
            <a:ext cx="457200" cy="274320"/>
          </a:xfrm>
          <a:prstGeom prst="rect">
            <a:avLst/>
          </a:prstGeom>
          <a:noFill/>
        </p:spPr>
        <p:txBody>
          <a:bodyPr wrap="square">
            <a:spAutoFit/>
          </a:bodyPr>
          <a:lstStyle/>
          <a:p>
            <a:pPr algn="r">
              <a:defRPr sz="900" b="1">
                <a:solidFill>
                  <a:srgbClr val="5CB85C"/>
                </a:solidFill>
                <a:latin typeface="Calibri"/>
              </a:defRPr>
            </a:pPr>
            <a:r>
              <a:t>-31</a:t>
            </a:r>
          </a:p>
        </p:txBody>
      </p:sp>
      <p:sp>
        <p:nvSpPr>
          <p:cNvPr id="16" name="TextBox 15"/>
          <p:cNvSpPr txBox="1"/>
          <p:nvPr/>
        </p:nvSpPr>
        <p:spPr>
          <a:xfrm>
            <a:off x="457200" y="2523744"/>
            <a:ext cx="640080" cy="274320"/>
          </a:xfrm>
          <a:prstGeom prst="rect">
            <a:avLst/>
          </a:prstGeom>
          <a:noFill/>
        </p:spPr>
        <p:txBody>
          <a:bodyPr wrap="square">
            <a:spAutoFit/>
          </a:bodyPr>
          <a:lstStyle/>
          <a:p>
            <a:pPr algn="l">
              <a:defRPr sz="900" b="0">
                <a:solidFill>
                  <a:srgbClr val="555570"/>
                </a:solidFill>
                <a:latin typeface="Calibri"/>
              </a:defRPr>
            </a:pPr>
            <a:r>
              <a:t>300bp</a:t>
            </a:r>
          </a:p>
        </p:txBody>
      </p:sp>
      <p:sp>
        <p:nvSpPr>
          <p:cNvPr id="17" name="Rectangle 16"/>
          <p:cNvSpPr/>
          <p:nvPr/>
        </p:nvSpPr>
        <p:spPr>
          <a:xfrm>
            <a:off x="2548851" y="2549144"/>
            <a:ext cx="11469" cy="1778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91651" y="2511044"/>
            <a:ext cx="457200" cy="274320"/>
          </a:xfrm>
          <a:prstGeom prst="rect">
            <a:avLst/>
          </a:prstGeom>
          <a:noFill/>
        </p:spPr>
        <p:txBody>
          <a:bodyPr wrap="square">
            <a:spAutoFit/>
          </a:bodyPr>
          <a:lstStyle/>
          <a:p>
            <a:pPr algn="r">
              <a:defRPr sz="900" b="1">
                <a:solidFill>
                  <a:srgbClr val="5CB85C"/>
                </a:solidFill>
                <a:latin typeface="Calibri"/>
              </a:defRPr>
            </a:pPr>
            <a:r>
              <a:t>-2</a:t>
            </a:r>
          </a:p>
        </p:txBody>
      </p:sp>
      <p:sp>
        <p:nvSpPr>
          <p:cNvPr id="19" name="TextBox 18"/>
          <p:cNvSpPr txBox="1"/>
          <p:nvPr/>
        </p:nvSpPr>
        <p:spPr>
          <a:xfrm>
            <a:off x="457200" y="2907792"/>
            <a:ext cx="640080" cy="274320"/>
          </a:xfrm>
          <a:prstGeom prst="rect">
            <a:avLst/>
          </a:prstGeom>
          <a:noFill/>
        </p:spPr>
        <p:txBody>
          <a:bodyPr wrap="square">
            <a:spAutoFit/>
          </a:bodyPr>
          <a:lstStyle/>
          <a:p>
            <a:pPr algn="l">
              <a:defRPr sz="900" b="0">
                <a:solidFill>
                  <a:srgbClr val="555570"/>
                </a:solidFill>
                <a:latin typeface="Calibri"/>
              </a:defRPr>
            </a:pPr>
            <a:r>
              <a:t>400bp</a:t>
            </a:r>
          </a:p>
        </p:txBody>
      </p:sp>
      <p:sp>
        <p:nvSpPr>
          <p:cNvPr id="20" name="Rectangle 19"/>
          <p:cNvSpPr/>
          <p:nvPr/>
        </p:nvSpPr>
        <p:spPr>
          <a:xfrm>
            <a:off x="2560320" y="2933192"/>
            <a:ext cx="212191" cy="17780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23311" y="2895092"/>
            <a:ext cx="548640" cy="274320"/>
          </a:xfrm>
          <a:prstGeom prst="rect">
            <a:avLst/>
          </a:prstGeom>
          <a:noFill/>
        </p:spPr>
        <p:txBody>
          <a:bodyPr wrap="square">
            <a:spAutoFit/>
          </a:bodyPr>
          <a:lstStyle/>
          <a:p>
            <a:pPr algn="l">
              <a:defRPr sz="900" b="1">
                <a:solidFill>
                  <a:srgbClr val="E88D3F"/>
                </a:solidFill>
                <a:latin typeface="Calibri"/>
              </a:defRPr>
            </a:pPr>
            <a:r>
              <a:t>+37</a:t>
            </a:r>
          </a:p>
        </p:txBody>
      </p:sp>
      <p:sp>
        <p:nvSpPr>
          <p:cNvPr id="22" name="TextBox 21"/>
          <p:cNvSpPr txBox="1"/>
          <p:nvPr/>
        </p:nvSpPr>
        <p:spPr>
          <a:xfrm>
            <a:off x="457200" y="3291840"/>
            <a:ext cx="640080" cy="274320"/>
          </a:xfrm>
          <a:prstGeom prst="rect">
            <a:avLst/>
          </a:prstGeom>
          <a:noFill/>
        </p:spPr>
        <p:txBody>
          <a:bodyPr wrap="square">
            <a:spAutoFit/>
          </a:bodyPr>
          <a:lstStyle/>
          <a:p>
            <a:pPr algn="l">
              <a:defRPr sz="900" b="0">
                <a:solidFill>
                  <a:srgbClr val="555570"/>
                </a:solidFill>
                <a:latin typeface="Calibri"/>
              </a:defRPr>
            </a:pPr>
            <a:r>
              <a:t>600bp</a:t>
            </a:r>
          </a:p>
        </p:txBody>
      </p:sp>
      <p:sp>
        <p:nvSpPr>
          <p:cNvPr id="23" name="Rectangle 22"/>
          <p:cNvSpPr/>
          <p:nvPr/>
        </p:nvSpPr>
        <p:spPr>
          <a:xfrm>
            <a:off x="2560320" y="3317240"/>
            <a:ext cx="613635" cy="17780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24755" y="3279140"/>
            <a:ext cx="548640" cy="274320"/>
          </a:xfrm>
          <a:prstGeom prst="rect">
            <a:avLst/>
          </a:prstGeom>
          <a:noFill/>
        </p:spPr>
        <p:txBody>
          <a:bodyPr wrap="square">
            <a:spAutoFit/>
          </a:bodyPr>
          <a:lstStyle/>
          <a:p>
            <a:pPr algn="l">
              <a:defRPr sz="900" b="1">
                <a:solidFill>
                  <a:srgbClr val="E04F4F"/>
                </a:solidFill>
                <a:latin typeface="Calibri"/>
              </a:defRPr>
            </a:pPr>
            <a:r>
              <a:t>+107</a:t>
            </a:r>
          </a:p>
        </p:txBody>
      </p:sp>
      <p:sp>
        <p:nvSpPr>
          <p:cNvPr id="25" name="TextBox 24"/>
          <p:cNvSpPr txBox="1"/>
          <p:nvPr/>
        </p:nvSpPr>
        <p:spPr>
          <a:xfrm>
            <a:off x="457200" y="3675888"/>
            <a:ext cx="640080" cy="274320"/>
          </a:xfrm>
          <a:prstGeom prst="rect">
            <a:avLst/>
          </a:prstGeom>
          <a:noFill/>
        </p:spPr>
        <p:txBody>
          <a:bodyPr wrap="square">
            <a:spAutoFit/>
          </a:bodyPr>
          <a:lstStyle/>
          <a:p>
            <a:pPr algn="l">
              <a:defRPr sz="900" b="0">
                <a:solidFill>
                  <a:srgbClr val="555570"/>
                </a:solidFill>
                <a:latin typeface="Calibri"/>
              </a:defRPr>
            </a:pPr>
            <a:r>
              <a:t>850bp</a:t>
            </a:r>
          </a:p>
        </p:txBody>
      </p:sp>
      <p:sp>
        <p:nvSpPr>
          <p:cNvPr id="26" name="Rectangle 25"/>
          <p:cNvSpPr/>
          <p:nvPr/>
        </p:nvSpPr>
        <p:spPr>
          <a:xfrm>
            <a:off x="2560320" y="3701288"/>
            <a:ext cx="1238741" cy="17780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9861" y="3663188"/>
            <a:ext cx="548640" cy="274320"/>
          </a:xfrm>
          <a:prstGeom prst="rect">
            <a:avLst/>
          </a:prstGeom>
          <a:noFill/>
        </p:spPr>
        <p:txBody>
          <a:bodyPr wrap="square">
            <a:spAutoFit/>
          </a:bodyPr>
          <a:lstStyle/>
          <a:p>
            <a:pPr algn="l">
              <a:defRPr sz="900" b="1">
                <a:solidFill>
                  <a:srgbClr val="E04F4F"/>
                </a:solidFill>
                <a:latin typeface="Calibri"/>
              </a:defRPr>
            </a:pPr>
            <a:r>
              <a:t>+216</a:t>
            </a:r>
          </a:p>
        </p:txBody>
      </p:sp>
      <p:sp>
        <p:nvSpPr>
          <p:cNvPr id="28" name="TextBox 27"/>
          <p:cNvSpPr txBox="1"/>
          <p:nvPr/>
        </p:nvSpPr>
        <p:spPr>
          <a:xfrm>
            <a:off x="457200" y="4059936"/>
            <a:ext cx="640080" cy="274320"/>
          </a:xfrm>
          <a:prstGeom prst="rect">
            <a:avLst/>
          </a:prstGeom>
          <a:noFill/>
        </p:spPr>
        <p:txBody>
          <a:bodyPr wrap="square">
            <a:spAutoFit/>
          </a:bodyPr>
          <a:lstStyle/>
          <a:p>
            <a:pPr algn="l">
              <a:defRPr sz="900" b="0">
                <a:solidFill>
                  <a:srgbClr val="555570"/>
                </a:solidFill>
                <a:latin typeface="Calibri"/>
              </a:defRPr>
            </a:pPr>
            <a:r>
              <a:t>1200bp</a:t>
            </a:r>
          </a:p>
        </p:txBody>
      </p:sp>
      <p:sp>
        <p:nvSpPr>
          <p:cNvPr id="29" name="Rectangle 28"/>
          <p:cNvSpPr/>
          <p:nvPr/>
        </p:nvSpPr>
        <p:spPr>
          <a:xfrm>
            <a:off x="2560320" y="4085336"/>
            <a:ext cx="1645920" cy="17780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57040" y="4047236"/>
            <a:ext cx="548640" cy="274320"/>
          </a:xfrm>
          <a:prstGeom prst="rect">
            <a:avLst/>
          </a:prstGeom>
          <a:noFill/>
        </p:spPr>
        <p:txBody>
          <a:bodyPr wrap="square">
            <a:spAutoFit/>
          </a:bodyPr>
          <a:lstStyle/>
          <a:p>
            <a:pPr algn="l">
              <a:defRPr sz="900" b="1">
                <a:solidFill>
                  <a:srgbClr val="E04F4F"/>
                </a:solidFill>
                <a:latin typeface="Calibri"/>
              </a:defRPr>
            </a:pPr>
            <a:r>
              <a:t>+287</a:t>
            </a:r>
          </a:p>
        </p:txBody>
      </p:sp>
      <p:sp>
        <p:nvSpPr>
          <p:cNvPr id="31" name="Rectangle 30"/>
          <p:cNvSpPr/>
          <p:nvPr/>
        </p:nvSpPr>
        <p:spPr>
          <a:xfrm>
            <a:off x="2560320" y="1371600"/>
            <a:ext cx="25400" cy="3108960"/>
          </a:xfrm>
          <a:prstGeom prst="rect">
            <a:avLst/>
          </a:prstGeom>
          <a:solidFill>
            <a:srgbClr val="555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46320" y="1005840"/>
            <a:ext cx="4114800" cy="274320"/>
          </a:xfrm>
          <a:prstGeom prst="rect">
            <a:avLst/>
          </a:prstGeom>
          <a:noFill/>
        </p:spPr>
        <p:txBody>
          <a:bodyPr wrap="square">
            <a:spAutoFit/>
          </a:bodyPr>
          <a:lstStyle/>
          <a:p>
            <a:pPr algn="l">
              <a:defRPr sz="1400" b="1">
                <a:solidFill>
                  <a:srgbClr val="2C3E6B"/>
                </a:solidFill>
                <a:latin typeface="Calibri"/>
              </a:defRPr>
            </a:pPr>
            <a:r>
              <a:t>Questions This Deck Answers</a:t>
            </a:r>
          </a:p>
        </p:txBody>
      </p:sp>
      <p:sp>
        <p:nvSpPr>
          <p:cNvPr id="33" name="TextBox 32"/>
          <p:cNvSpPr txBox="1"/>
          <p:nvPr/>
        </p:nvSpPr>
        <p:spPr>
          <a:xfrm>
            <a:off x="4846320" y="1371600"/>
            <a:ext cx="4114800" cy="4114800"/>
          </a:xfrm>
          <a:prstGeom prst="rect">
            <a:avLst/>
          </a:prstGeom>
          <a:noFill/>
        </p:spPr>
        <p:txBody>
          <a:bodyPr wrap="square">
            <a:spAutoFit/>
          </a:bodyPr>
          <a:lstStyle/>
          <a:p>
            <a:pPr>
              <a:spcAft>
                <a:spcPts val="800"/>
              </a:spcAft>
              <a:defRPr sz="1200">
                <a:solidFill>
                  <a:srgbClr val="2D2D3D"/>
                </a:solidFill>
                <a:latin typeface="Calibri"/>
              </a:defRPr>
            </a:pPr>
            <a:r>
              <a:t>Why does the PIK premium flip sign around 300bp?</a:t>
            </a:r>
          </a:p>
          <a:p>
            <a:pPr>
              <a:spcAft>
                <a:spcPts val="800"/>
              </a:spcAft>
              <a:defRPr sz="1200">
                <a:solidFill>
                  <a:srgbClr val="2D2D3D"/>
                </a:solidFill>
                <a:latin typeface="Calibri"/>
              </a:defRPr>
            </a:pPr>
            <a:r>
              <a:t>What drives the non-linearity — why isn’t it proportional to spread?</a:t>
            </a:r>
          </a:p>
          <a:p>
            <a:pPr>
              <a:spcAft>
                <a:spcPts val="800"/>
              </a:spcAft>
              <a:defRPr sz="1200">
                <a:solidFill>
                  <a:srgbClr val="2D2D3D"/>
                </a:solidFill>
                <a:latin typeface="Calibri"/>
              </a:defRPr>
            </a:pPr>
            <a:r>
              <a:t>How does the hazard-rate model price PIK, and where does it break down?</a:t>
            </a:r>
          </a:p>
          <a:p>
            <a:pPr>
              <a:spcAft>
                <a:spcPts val="800"/>
              </a:spcAft>
              <a:defRPr sz="1200">
                <a:solidFill>
                  <a:srgbClr val="2D2D3D"/>
                </a:solidFill>
                <a:latin typeface="Calibri"/>
              </a:defRPr>
            </a:pPr>
            <a:r>
              <a:t>What is the Merton structural model and how is it calibrated?</a:t>
            </a:r>
          </a:p>
          <a:p>
            <a:pPr>
              <a:spcAft>
                <a:spcPts val="800"/>
              </a:spcAft>
              <a:defRPr sz="1200">
                <a:solidFill>
                  <a:srgbClr val="2D2D3D"/>
                </a:solidFill>
                <a:latin typeface="Calibri"/>
              </a:defRPr>
            </a:pPr>
            <a:r>
              <a:t>How do endogenous hazard and dynamic recovery create the feedback loop?</a:t>
            </a:r>
          </a:p>
          <a:p>
            <a:pPr>
              <a:spcAft>
                <a:spcPts val="800"/>
              </a:spcAft>
              <a:defRPr sz="1200">
                <a:solidFill>
                  <a:srgbClr val="2D2D3D"/>
                </a:solidFill>
                <a:latin typeface="Calibri"/>
              </a:defRPr>
            </a:pPr>
            <a:r>
              <a:t>What do Monte Carlo paths actually look like?</a:t>
            </a:r>
          </a:p>
          <a:p>
            <a:pPr>
              <a:spcAft>
                <a:spcPts val="800"/>
              </a:spcAft>
              <a:defRPr sz="1200">
                <a:solidFill>
                  <a:srgbClr val="2D2D3D"/>
                </a:solidFill>
                <a:latin typeface="Calibri"/>
              </a:defRPr>
            </a:pPr>
            <a:r>
              <a:t>Why does the toggle option fail to protect investors?</a:t>
            </a:r>
          </a:p>
          <a:p>
            <a:pPr>
              <a:spcAft>
                <a:spcPts val="800"/>
              </a:spcAft>
              <a:defRPr sz="1200">
                <a:solidFill>
                  <a:srgbClr val="2D2D3D"/>
                </a:solidFill>
                <a:latin typeface="Calibri"/>
              </a:defRPr>
            </a:pPr>
            <a:r>
              <a:t>What are the key parameter assumptions and how sensitive are results?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Bond Setup &amp; Cash Flow Timing</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The fundamental difference between cash-pay and PIK</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3/16</a:t>
            </a:r>
          </a:p>
        </p:txBody>
      </p:sp>
      <p:sp>
        <p:nvSpPr>
          <p:cNvPr id="6" name="Rounded Rectangle 5"/>
          <p:cNvSpPr/>
          <p:nvPr/>
        </p:nvSpPr>
        <p:spPr>
          <a:xfrm>
            <a:off x="457200" y="1005840"/>
            <a:ext cx="8229600" cy="365760"/>
          </a:xfrm>
          <a:prstGeom prst="roundRect">
            <a:avLst/>
          </a:prstGeom>
          <a:solidFill>
            <a:srgbClr val="2C3E6B"/>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200" b="1">
                <a:solidFill>
                  <a:srgbClr val="FFFFFF"/>
                </a:solidFill>
                <a:latin typeface="Calibri"/>
              </a:defRPr>
            </a:pPr>
            <a:r>
              <a:t>5-year  |  8.5% semi-annual  |  Par = 100  |  Risk-free = 4.50% flat  |  Recovery = issuer-dependent</a:t>
            </a:r>
          </a:p>
        </p:txBody>
      </p:sp>
      <p:sp>
        <p:nvSpPr>
          <p:cNvPr id="7" name="TextBox 6"/>
          <p:cNvSpPr txBox="1"/>
          <p:nvPr/>
        </p:nvSpPr>
        <p:spPr>
          <a:xfrm>
            <a:off x="457200" y="1645920"/>
            <a:ext cx="3840480" cy="274320"/>
          </a:xfrm>
          <a:prstGeom prst="rect">
            <a:avLst/>
          </a:prstGeom>
          <a:noFill/>
        </p:spPr>
        <p:txBody>
          <a:bodyPr wrap="square">
            <a:spAutoFit/>
          </a:bodyPr>
          <a:lstStyle/>
          <a:p>
            <a:pPr algn="l">
              <a:defRPr sz="1300" b="1">
                <a:solidFill>
                  <a:srgbClr val="5CB85C"/>
                </a:solidFill>
                <a:latin typeface="Calibri"/>
              </a:defRPr>
            </a:pPr>
            <a:r>
              <a:t>CASH-PAY: 10 coupons + par at maturity</a:t>
            </a:r>
          </a:p>
        </p:txBody>
      </p:sp>
      <p:sp>
        <p:nvSpPr>
          <p:cNvPr id="8" name="TextBox 7"/>
          <p:cNvSpPr txBox="1"/>
          <p:nvPr/>
        </p:nvSpPr>
        <p:spPr>
          <a:xfrm>
            <a:off x="457200" y="2011680"/>
            <a:ext cx="384048" cy="201168"/>
          </a:xfrm>
          <a:prstGeom prst="rect">
            <a:avLst/>
          </a:prstGeom>
          <a:noFill/>
        </p:spPr>
        <p:txBody>
          <a:bodyPr wrap="square">
            <a:spAutoFit/>
          </a:bodyPr>
          <a:lstStyle/>
          <a:p>
            <a:pPr algn="ctr">
              <a:defRPr sz="700" b="0">
                <a:solidFill>
                  <a:srgbClr val="5CB85C"/>
                </a:solidFill>
                <a:latin typeface="Calibri"/>
              </a:defRPr>
            </a:pPr>
            <a:r>
              <a:t>4.25</a:t>
            </a:r>
          </a:p>
        </p:txBody>
      </p:sp>
      <p:sp>
        <p:nvSpPr>
          <p:cNvPr id="9" name="TextBox 8"/>
          <p:cNvSpPr txBox="1"/>
          <p:nvPr/>
        </p:nvSpPr>
        <p:spPr>
          <a:xfrm>
            <a:off x="457200" y="2194560"/>
            <a:ext cx="384048" cy="164592"/>
          </a:xfrm>
          <a:prstGeom prst="rect">
            <a:avLst/>
          </a:prstGeom>
          <a:noFill/>
        </p:spPr>
        <p:txBody>
          <a:bodyPr wrap="square">
            <a:spAutoFit/>
          </a:bodyPr>
          <a:lstStyle/>
          <a:p>
            <a:pPr algn="ctr">
              <a:defRPr sz="600" b="0">
                <a:solidFill>
                  <a:srgbClr val="555570"/>
                </a:solidFill>
                <a:latin typeface="Calibri"/>
              </a:defRPr>
            </a:pPr>
            <a:r>
              <a:t>0.5Y</a:t>
            </a:r>
          </a:p>
        </p:txBody>
      </p:sp>
      <p:sp>
        <p:nvSpPr>
          <p:cNvPr id="10" name="TextBox 9"/>
          <p:cNvSpPr txBox="1"/>
          <p:nvPr/>
        </p:nvSpPr>
        <p:spPr>
          <a:xfrm>
            <a:off x="841247" y="2011680"/>
            <a:ext cx="384048" cy="201168"/>
          </a:xfrm>
          <a:prstGeom prst="rect">
            <a:avLst/>
          </a:prstGeom>
          <a:noFill/>
        </p:spPr>
        <p:txBody>
          <a:bodyPr wrap="square">
            <a:spAutoFit/>
          </a:bodyPr>
          <a:lstStyle/>
          <a:p>
            <a:pPr algn="ctr">
              <a:defRPr sz="700" b="0">
                <a:solidFill>
                  <a:srgbClr val="5CB85C"/>
                </a:solidFill>
                <a:latin typeface="Calibri"/>
              </a:defRPr>
            </a:pPr>
            <a:r>
              <a:t>4.25</a:t>
            </a:r>
          </a:p>
        </p:txBody>
      </p:sp>
      <p:sp>
        <p:nvSpPr>
          <p:cNvPr id="11" name="TextBox 10"/>
          <p:cNvSpPr txBox="1"/>
          <p:nvPr/>
        </p:nvSpPr>
        <p:spPr>
          <a:xfrm>
            <a:off x="841247" y="2194560"/>
            <a:ext cx="384048" cy="164592"/>
          </a:xfrm>
          <a:prstGeom prst="rect">
            <a:avLst/>
          </a:prstGeom>
          <a:noFill/>
        </p:spPr>
        <p:txBody>
          <a:bodyPr wrap="square">
            <a:spAutoFit/>
          </a:bodyPr>
          <a:lstStyle/>
          <a:p>
            <a:pPr algn="ctr">
              <a:defRPr sz="600" b="0">
                <a:solidFill>
                  <a:srgbClr val="555570"/>
                </a:solidFill>
                <a:latin typeface="Calibri"/>
              </a:defRPr>
            </a:pPr>
            <a:r>
              <a:t>1.0Y</a:t>
            </a:r>
          </a:p>
        </p:txBody>
      </p:sp>
      <p:sp>
        <p:nvSpPr>
          <p:cNvPr id="12" name="TextBox 11"/>
          <p:cNvSpPr txBox="1"/>
          <p:nvPr/>
        </p:nvSpPr>
        <p:spPr>
          <a:xfrm>
            <a:off x="1225295" y="2011680"/>
            <a:ext cx="384048" cy="201168"/>
          </a:xfrm>
          <a:prstGeom prst="rect">
            <a:avLst/>
          </a:prstGeom>
          <a:noFill/>
        </p:spPr>
        <p:txBody>
          <a:bodyPr wrap="square">
            <a:spAutoFit/>
          </a:bodyPr>
          <a:lstStyle/>
          <a:p>
            <a:pPr algn="ctr">
              <a:defRPr sz="700" b="0">
                <a:solidFill>
                  <a:srgbClr val="5CB85C"/>
                </a:solidFill>
                <a:latin typeface="Calibri"/>
              </a:defRPr>
            </a:pPr>
            <a:r>
              <a:t>4.25</a:t>
            </a:r>
          </a:p>
        </p:txBody>
      </p:sp>
      <p:sp>
        <p:nvSpPr>
          <p:cNvPr id="13" name="TextBox 12"/>
          <p:cNvSpPr txBox="1"/>
          <p:nvPr/>
        </p:nvSpPr>
        <p:spPr>
          <a:xfrm>
            <a:off x="1225295" y="2194560"/>
            <a:ext cx="384048" cy="164592"/>
          </a:xfrm>
          <a:prstGeom prst="rect">
            <a:avLst/>
          </a:prstGeom>
          <a:noFill/>
        </p:spPr>
        <p:txBody>
          <a:bodyPr wrap="square">
            <a:spAutoFit/>
          </a:bodyPr>
          <a:lstStyle/>
          <a:p>
            <a:pPr algn="ctr">
              <a:defRPr sz="600" b="0">
                <a:solidFill>
                  <a:srgbClr val="555570"/>
                </a:solidFill>
                <a:latin typeface="Calibri"/>
              </a:defRPr>
            </a:pPr>
            <a:r>
              <a:t>1.5Y</a:t>
            </a:r>
          </a:p>
        </p:txBody>
      </p:sp>
      <p:sp>
        <p:nvSpPr>
          <p:cNvPr id="14" name="TextBox 13"/>
          <p:cNvSpPr txBox="1"/>
          <p:nvPr/>
        </p:nvSpPr>
        <p:spPr>
          <a:xfrm>
            <a:off x="1609344" y="2011680"/>
            <a:ext cx="384048" cy="201168"/>
          </a:xfrm>
          <a:prstGeom prst="rect">
            <a:avLst/>
          </a:prstGeom>
          <a:noFill/>
        </p:spPr>
        <p:txBody>
          <a:bodyPr wrap="square">
            <a:spAutoFit/>
          </a:bodyPr>
          <a:lstStyle/>
          <a:p>
            <a:pPr algn="ctr">
              <a:defRPr sz="700" b="0">
                <a:solidFill>
                  <a:srgbClr val="5CB85C"/>
                </a:solidFill>
                <a:latin typeface="Calibri"/>
              </a:defRPr>
            </a:pPr>
            <a:r>
              <a:t>4.25</a:t>
            </a:r>
          </a:p>
        </p:txBody>
      </p:sp>
      <p:sp>
        <p:nvSpPr>
          <p:cNvPr id="15" name="TextBox 14"/>
          <p:cNvSpPr txBox="1"/>
          <p:nvPr/>
        </p:nvSpPr>
        <p:spPr>
          <a:xfrm>
            <a:off x="1609344" y="2194560"/>
            <a:ext cx="384048" cy="164592"/>
          </a:xfrm>
          <a:prstGeom prst="rect">
            <a:avLst/>
          </a:prstGeom>
          <a:noFill/>
        </p:spPr>
        <p:txBody>
          <a:bodyPr wrap="square">
            <a:spAutoFit/>
          </a:bodyPr>
          <a:lstStyle/>
          <a:p>
            <a:pPr algn="ctr">
              <a:defRPr sz="600" b="0">
                <a:solidFill>
                  <a:srgbClr val="555570"/>
                </a:solidFill>
                <a:latin typeface="Calibri"/>
              </a:defRPr>
            </a:pPr>
            <a:r>
              <a:t>2.0Y</a:t>
            </a:r>
          </a:p>
        </p:txBody>
      </p:sp>
      <p:sp>
        <p:nvSpPr>
          <p:cNvPr id="16" name="TextBox 15"/>
          <p:cNvSpPr txBox="1"/>
          <p:nvPr/>
        </p:nvSpPr>
        <p:spPr>
          <a:xfrm>
            <a:off x="1993391" y="2011680"/>
            <a:ext cx="384048" cy="201168"/>
          </a:xfrm>
          <a:prstGeom prst="rect">
            <a:avLst/>
          </a:prstGeom>
          <a:noFill/>
        </p:spPr>
        <p:txBody>
          <a:bodyPr wrap="square">
            <a:spAutoFit/>
          </a:bodyPr>
          <a:lstStyle/>
          <a:p>
            <a:pPr algn="ctr">
              <a:defRPr sz="700" b="0">
                <a:solidFill>
                  <a:srgbClr val="5CB85C"/>
                </a:solidFill>
                <a:latin typeface="Calibri"/>
              </a:defRPr>
            </a:pPr>
            <a:r>
              <a:t>4.25</a:t>
            </a:r>
          </a:p>
        </p:txBody>
      </p:sp>
      <p:sp>
        <p:nvSpPr>
          <p:cNvPr id="17" name="TextBox 16"/>
          <p:cNvSpPr txBox="1"/>
          <p:nvPr/>
        </p:nvSpPr>
        <p:spPr>
          <a:xfrm>
            <a:off x="1993391" y="2194560"/>
            <a:ext cx="384048" cy="164592"/>
          </a:xfrm>
          <a:prstGeom prst="rect">
            <a:avLst/>
          </a:prstGeom>
          <a:noFill/>
        </p:spPr>
        <p:txBody>
          <a:bodyPr wrap="square">
            <a:spAutoFit/>
          </a:bodyPr>
          <a:lstStyle/>
          <a:p>
            <a:pPr algn="ctr">
              <a:defRPr sz="600" b="0">
                <a:solidFill>
                  <a:srgbClr val="555570"/>
                </a:solidFill>
                <a:latin typeface="Calibri"/>
              </a:defRPr>
            </a:pPr>
            <a:r>
              <a:t>2.5Y</a:t>
            </a:r>
          </a:p>
        </p:txBody>
      </p:sp>
      <p:sp>
        <p:nvSpPr>
          <p:cNvPr id="18" name="TextBox 17"/>
          <p:cNvSpPr txBox="1"/>
          <p:nvPr/>
        </p:nvSpPr>
        <p:spPr>
          <a:xfrm>
            <a:off x="2377440" y="2011680"/>
            <a:ext cx="384048" cy="201168"/>
          </a:xfrm>
          <a:prstGeom prst="rect">
            <a:avLst/>
          </a:prstGeom>
          <a:noFill/>
        </p:spPr>
        <p:txBody>
          <a:bodyPr wrap="square">
            <a:spAutoFit/>
          </a:bodyPr>
          <a:lstStyle/>
          <a:p>
            <a:pPr algn="ctr">
              <a:defRPr sz="700" b="0">
                <a:solidFill>
                  <a:srgbClr val="5CB85C"/>
                </a:solidFill>
                <a:latin typeface="Calibri"/>
              </a:defRPr>
            </a:pPr>
            <a:r>
              <a:t>4.25</a:t>
            </a:r>
          </a:p>
        </p:txBody>
      </p:sp>
      <p:sp>
        <p:nvSpPr>
          <p:cNvPr id="19" name="TextBox 18"/>
          <p:cNvSpPr txBox="1"/>
          <p:nvPr/>
        </p:nvSpPr>
        <p:spPr>
          <a:xfrm>
            <a:off x="2377440" y="2194560"/>
            <a:ext cx="384048" cy="164592"/>
          </a:xfrm>
          <a:prstGeom prst="rect">
            <a:avLst/>
          </a:prstGeom>
          <a:noFill/>
        </p:spPr>
        <p:txBody>
          <a:bodyPr wrap="square">
            <a:spAutoFit/>
          </a:bodyPr>
          <a:lstStyle/>
          <a:p>
            <a:pPr algn="ctr">
              <a:defRPr sz="600" b="0">
                <a:solidFill>
                  <a:srgbClr val="555570"/>
                </a:solidFill>
                <a:latin typeface="Calibri"/>
              </a:defRPr>
            </a:pPr>
            <a:r>
              <a:t>3.0Y</a:t>
            </a:r>
          </a:p>
        </p:txBody>
      </p:sp>
      <p:sp>
        <p:nvSpPr>
          <p:cNvPr id="20" name="TextBox 19"/>
          <p:cNvSpPr txBox="1"/>
          <p:nvPr/>
        </p:nvSpPr>
        <p:spPr>
          <a:xfrm>
            <a:off x="2761488" y="2011680"/>
            <a:ext cx="384048" cy="201168"/>
          </a:xfrm>
          <a:prstGeom prst="rect">
            <a:avLst/>
          </a:prstGeom>
          <a:noFill/>
        </p:spPr>
        <p:txBody>
          <a:bodyPr wrap="square">
            <a:spAutoFit/>
          </a:bodyPr>
          <a:lstStyle/>
          <a:p>
            <a:pPr algn="ctr">
              <a:defRPr sz="700" b="0">
                <a:solidFill>
                  <a:srgbClr val="5CB85C"/>
                </a:solidFill>
                <a:latin typeface="Calibri"/>
              </a:defRPr>
            </a:pPr>
            <a:r>
              <a:t>4.25</a:t>
            </a:r>
          </a:p>
        </p:txBody>
      </p:sp>
      <p:sp>
        <p:nvSpPr>
          <p:cNvPr id="21" name="TextBox 20"/>
          <p:cNvSpPr txBox="1"/>
          <p:nvPr/>
        </p:nvSpPr>
        <p:spPr>
          <a:xfrm>
            <a:off x="2761488" y="2194560"/>
            <a:ext cx="384048" cy="164592"/>
          </a:xfrm>
          <a:prstGeom prst="rect">
            <a:avLst/>
          </a:prstGeom>
          <a:noFill/>
        </p:spPr>
        <p:txBody>
          <a:bodyPr wrap="square">
            <a:spAutoFit/>
          </a:bodyPr>
          <a:lstStyle/>
          <a:p>
            <a:pPr algn="ctr">
              <a:defRPr sz="600" b="0">
                <a:solidFill>
                  <a:srgbClr val="555570"/>
                </a:solidFill>
                <a:latin typeface="Calibri"/>
              </a:defRPr>
            </a:pPr>
            <a:r>
              <a:t>3.5Y</a:t>
            </a:r>
          </a:p>
        </p:txBody>
      </p:sp>
      <p:sp>
        <p:nvSpPr>
          <p:cNvPr id="22" name="TextBox 21"/>
          <p:cNvSpPr txBox="1"/>
          <p:nvPr/>
        </p:nvSpPr>
        <p:spPr>
          <a:xfrm>
            <a:off x="3145536" y="2011680"/>
            <a:ext cx="384048" cy="201168"/>
          </a:xfrm>
          <a:prstGeom prst="rect">
            <a:avLst/>
          </a:prstGeom>
          <a:noFill/>
        </p:spPr>
        <p:txBody>
          <a:bodyPr wrap="square">
            <a:spAutoFit/>
          </a:bodyPr>
          <a:lstStyle/>
          <a:p>
            <a:pPr algn="ctr">
              <a:defRPr sz="700" b="0">
                <a:solidFill>
                  <a:srgbClr val="5CB85C"/>
                </a:solidFill>
                <a:latin typeface="Calibri"/>
              </a:defRPr>
            </a:pPr>
            <a:r>
              <a:t>4.25</a:t>
            </a:r>
          </a:p>
        </p:txBody>
      </p:sp>
      <p:sp>
        <p:nvSpPr>
          <p:cNvPr id="23" name="TextBox 22"/>
          <p:cNvSpPr txBox="1"/>
          <p:nvPr/>
        </p:nvSpPr>
        <p:spPr>
          <a:xfrm>
            <a:off x="3145536" y="2194560"/>
            <a:ext cx="384048" cy="164592"/>
          </a:xfrm>
          <a:prstGeom prst="rect">
            <a:avLst/>
          </a:prstGeom>
          <a:noFill/>
        </p:spPr>
        <p:txBody>
          <a:bodyPr wrap="square">
            <a:spAutoFit/>
          </a:bodyPr>
          <a:lstStyle/>
          <a:p>
            <a:pPr algn="ctr">
              <a:defRPr sz="600" b="0">
                <a:solidFill>
                  <a:srgbClr val="555570"/>
                </a:solidFill>
                <a:latin typeface="Calibri"/>
              </a:defRPr>
            </a:pPr>
            <a:r>
              <a:t>4.0Y</a:t>
            </a:r>
          </a:p>
        </p:txBody>
      </p:sp>
      <p:sp>
        <p:nvSpPr>
          <p:cNvPr id="24" name="TextBox 23"/>
          <p:cNvSpPr txBox="1"/>
          <p:nvPr/>
        </p:nvSpPr>
        <p:spPr>
          <a:xfrm>
            <a:off x="3529584" y="2011680"/>
            <a:ext cx="384048" cy="201168"/>
          </a:xfrm>
          <a:prstGeom prst="rect">
            <a:avLst/>
          </a:prstGeom>
          <a:noFill/>
        </p:spPr>
        <p:txBody>
          <a:bodyPr wrap="square">
            <a:spAutoFit/>
          </a:bodyPr>
          <a:lstStyle/>
          <a:p>
            <a:pPr algn="ctr">
              <a:defRPr sz="700" b="0">
                <a:solidFill>
                  <a:srgbClr val="5CB85C"/>
                </a:solidFill>
                <a:latin typeface="Calibri"/>
              </a:defRPr>
            </a:pPr>
            <a:r>
              <a:t>4.25</a:t>
            </a:r>
          </a:p>
        </p:txBody>
      </p:sp>
      <p:sp>
        <p:nvSpPr>
          <p:cNvPr id="25" name="TextBox 24"/>
          <p:cNvSpPr txBox="1"/>
          <p:nvPr/>
        </p:nvSpPr>
        <p:spPr>
          <a:xfrm>
            <a:off x="3529584" y="2194560"/>
            <a:ext cx="384048" cy="164592"/>
          </a:xfrm>
          <a:prstGeom prst="rect">
            <a:avLst/>
          </a:prstGeom>
          <a:noFill/>
        </p:spPr>
        <p:txBody>
          <a:bodyPr wrap="square">
            <a:spAutoFit/>
          </a:bodyPr>
          <a:lstStyle/>
          <a:p>
            <a:pPr algn="ctr">
              <a:defRPr sz="600" b="0">
                <a:solidFill>
                  <a:srgbClr val="555570"/>
                </a:solidFill>
                <a:latin typeface="Calibri"/>
              </a:defRPr>
            </a:pPr>
            <a:r>
              <a:t>4.5Y</a:t>
            </a:r>
          </a:p>
        </p:txBody>
      </p:sp>
      <p:sp>
        <p:nvSpPr>
          <p:cNvPr id="26" name="TextBox 25"/>
          <p:cNvSpPr txBox="1"/>
          <p:nvPr/>
        </p:nvSpPr>
        <p:spPr>
          <a:xfrm>
            <a:off x="3913631" y="2011680"/>
            <a:ext cx="384048" cy="201168"/>
          </a:xfrm>
          <a:prstGeom prst="rect">
            <a:avLst/>
          </a:prstGeom>
          <a:noFill/>
        </p:spPr>
        <p:txBody>
          <a:bodyPr wrap="square">
            <a:spAutoFit/>
          </a:bodyPr>
          <a:lstStyle/>
          <a:p>
            <a:pPr algn="ctr">
              <a:defRPr sz="700" b="0">
                <a:solidFill>
                  <a:srgbClr val="5CB85C"/>
                </a:solidFill>
                <a:latin typeface="Calibri"/>
              </a:defRPr>
            </a:pPr>
            <a:r>
              <a:t>4.25</a:t>
            </a:r>
          </a:p>
        </p:txBody>
      </p:sp>
      <p:sp>
        <p:nvSpPr>
          <p:cNvPr id="27" name="TextBox 26"/>
          <p:cNvSpPr txBox="1"/>
          <p:nvPr/>
        </p:nvSpPr>
        <p:spPr>
          <a:xfrm>
            <a:off x="3913631" y="2194560"/>
            <a:ext cx="384048" cy="164592"/>
          </a:xfrm>
          <a:prstGeom prst="rect">
            <a:avLst/>
          </a:prstGeom>
          <a:noFill/>
        </p:spPr>
        <p:txBody>
          <a:bodyPr wrap="square">
            <a:spAutoFit/>
          </a:bodyPr>
          <a:lstStyle/>
          <a:p>
            <a:pPr algn="ctr">
              <a:defRPr sz="600" b="0">
                <a:solidFill>
                  <a:srgbClr val="555570"/>
                </a:solidFill>
                <a:latin typeface="Calibri"/>
              </a:defRPr>
            </a:pPr>
            <a:r>
              <a:t>5.0Y</a:t>
            </a:r>
          </a:p>
        </p:txBody>
      </p:sp>
      <p:sp>
        <p:nvSpPr>
          <p:cNvPr id="28" name="TextBox 27"/>
          <p:cNvSpPr txBox="1"/>
          <p:nvPr/>
        </p:nvSpPr>
        <p:spPr>
          <a:xfrm>
            <a:off x="4114800" y="2011680"/>
            <a:ext cx="731520" cy="201168"/>
          </a:xfrm>
          <a:prstGeom prst="rect">
            <a:avLst/>
          </a:prstGeom>
          <a:noFill/>
        </p:spPr>
        <p:txBody>
          <a:bodyPr wrap="square">
            <a:spAutoFit/>
          </a:bodyPr>
          <a:lstStyle/>
          <a:p>
            <a:pPr algn="l">
              <a:defRPr sz="800" b="1">
                <a:solidFill>
                  <a:srgbClr val="5CB85C"/>
                </a:solidFill>
                <a:latin typeface="Calibri"/>
              </a:defRPr>
            </a:pPr>
            <a:r>
              <a:t>+ 100</a:t>
            </a:r>
          </a:p>
        </p:txBody>
      </p:sp>
      <p:sp>
        <p:nvSpPr>
          <p:cNvPr id="29" name="TextBox 28"/>
          <p:cNvSpPr txBox="1"/>
          <p:nvPr/>
        </p:nvSpPr>
        <p:spPr>
          <a:xfrm>
            <a:off x="457200" y="2560320"/>
            <a:ext cx="4114800" cy="274320"/>
          </a:xfrm>
          <a:prstGeom prst="rect">
            <a:avLst/>
          </a:prstGeom>
          <a:noFill/>
        </p:spPr>
        <p:txBody>
          <a:bodyPr wrap="square">
            <a:spAutoFit/>
          </a:bodyPr>
          <a:lstStyle/>
          <a:p>
            <a:pPr algn="l">
              <a:defRPr sz="1300" b="1">
                <a:solidFill>
                  <a:srgbClr val="E88D3F"/>
                </a:solidFill>
                <a:latin typeface="Calibri"/>
              </a:defRPr>
            </a:pPr>
            <a:r>
              <a:t>FULL PIK: zero coupons → inflated notional at maturity</a:t>
            </a:r>
          </a:p>
        </p:txBody>
      </p:sp>
      <p:sp>
        <p:nvSpPr>
          <p:cNvPr id="30" name="TextBox 29"/>
          <p:cNvSpPr txBox="1"/>
          <p:nvPr/>
        </p:nvSpPr>
        <p:spPr>
          <a:xfrm>
            <a:off x="457200" y="2926080"/>
            <a:ext cx="384048" cy="201168"/>
          </a:xfrm>
          <a:prstGeom prst="rect">
            <a:avLst/>
          </a:prstGeom>
          <a:noFill/>
        </p:spPr>
        <p:txBody>
          <a:bodyPr wrap="square">
            <a:spAutoFit/>
          </a:bodyPr>
          <a:lstStyle/>
          <a:p>
            <a:pPr algn="ctr">
              <a:defRPr sz="600" b="0">
                <a:solidFill>
                  <a:srgbClr val="E88D3F"/>
                </a:solidFill>
                <a:latin typeface="Calibri"/>
              </a:defRPr>
            </a:pPr>
            <a:r>
              <a:t>N=104.2</a:t>
            </a:r>
          </a:p>
        </p:txBody>
      </p:sp>
      <p:sp>
        <p:nvSpPr>
          <p:cNvPr id="31" name="TextBox 30"/>
          <p:cNvSpPr txBox="1"/>
          <p:nvPr/>
        </p:nvSpPr>
        <p:spPr>
          <a:xfrm>
            <a:off x="457200" y="3108960"/>
            <a:ext cx="384048" cy="164592"/>
          </a:xfrm>
          <a:prstGeom prst="rect">
            <a:avLst/>
          </a:prstGeom>
          <a:noFill/>
        </p:spPr>
        <p:txBody>
          <a:bodyPr wrap="square">
            <a:spAutoFit/>
          </a:bodyPr>
          <a:lstStyle/>
          <a:p>
            <a:pPr algn="ctr">
              <a:defRPr sz="600" b="0">
                <a:solidFill>
                  <a:srgbClr val="555570"/>
                </a:solidFill>
                <a:latin typeface="Calibri"/>
              </a:defRPr>
            </a:pPr>
            <a:r>
              <a:t>0.5Y</a:t>
            </a:r>
          </a:p>
        </p:txBody>
      </p:sp>
      <p:sp>
        <p:nvSpPr>
          <p:cNvPr id="32" name="TextBox 31"/>
          <p:cNvSpPr txBox="1"/>
          <p:nvPr/>
        </p:nvSpPr>
        <p:spPr>
          <a:xfrm>
            <a:off x="841247" y="2926080"/>
            <a:ext cx="384048" cy="201168"/>
          </a:xfrm>
          <a:prstGeom prst="rect">
            <a:avLst/>
          </a:prstGeom>
          <a:noFill/>
        </p:spPr>
        <p:txBody>
          <a:bodyPr wrap="square">
            <a:spAutoFit/>
          </a:bodyPr>
          <a:lstStyle/>
          <a:p>
            <a:pPr algn="ctr">
              <a:defRPr sz="600" b="0">
                <a:solidFill>
                  <a:srgbClr val="E88D3F"/>
                </a:solidFill>
                <a:latin typeface="Calibri"/>
              </a:defRPr>
            </a:pPr>
            <a:r>
              <a:t>N=108.7</a:t>
            </a:r>
          </a:p>
        </p:txBody>
      </p:sp>
      <p:sp>
        <p:nvSpPr>
          <p:cNvPr id="33" name="TextBox 32"/>
          <p:cNvSpPr txBox="1"/>
          <p:nvPr/>
        </p:nvSpPr>
        <p:spPr>
          <a:xfrm>
            <a:off x="841247" y="3108960"/>
            <a:ext cx="384048" cy="164592"/>
          </a:xfrm>
          <a:prstGeom prst="rect">
            <a:avLst/>
          </a:prstGeom>
          <a:noFill/>
        </p:spPr>
        <p:txBody>
          <a:bodyPr wrap="square">
            <a:spAutoFit/>
          </a:bodyPr>
          <a:lstStyle/>
          <a:p>
            <a:pPr algn="ctr">
              <a:defRPr sz="600" b="0">
                <a:solidFill>
                  <a:srgbClr val="555570"/>
                </a:solidFill>
                <a:latin typeface="Calibri"/>
              </a:defRPr>
            </a:pPr>
            <a:r>
              <a:t>1.0Y</a:t>
            </a:r>
          </a:p>
        </p:txBody>
      </p:sp>
      <p:sp>
        <p:nvSpPr>
          <p:cNvPr id="34" name="TextBox 33"/>
          <p:cNvSpPr txBox="1"/>
          <p:nvPr/>
        </p:nvSpPr>
        <p:spPr>
          <a:xfrm>
            <a:off x="1225295" y="2926080"/>
            <a:ext cx="384048" cy="201168"/>
          </a:xfrm>
          <a:prstGeom prst="rect">
            <a:avLst/>
          </a:prstGeom>
          <a:noFill/>
        </p:spPr>
        <p:txBody>
          <a:bodyPr wrap="square">
            <a:spAutoFit/>
          </a:bodyPr>
          <a:lstStyle/>
          <a:p>
            <a:pPr algn="ctr">
              <a:defRPr sz="600" b="0">
                <a:solidFill>
                  <a:srgbClr val="E88D3F"/>
                </a:solidFill>
                <a:latin typeface="Calibri"/>
              </a:defRPr>
            </a:pPr>
            <a:r>
              <a:t>N=113.3</a:t>
            </a:r>
          </a:p>
        </p:txBody>
      </p:sp>
      <p:sp>
        <p:nvSpPr>
          <p:cNvPr id="35" name="TextBox 34"/>
          <p:cNvSpPr txBox="1"/>
          <p:nvPr/>
        </p:nvSpPr>
        <p:spPr>
          <a:xfrm>
            <a:off x="1225295" y="3108960"/>
            <a:ext cx="384048" cy="164592"/>
          </a:xfrm>
          <a:prstGeom prst="rect">
            <a:avLst/>
          </a:prstGeom>
          <a:noFill/>
        </p:spPr>
        <p:txBody>
          <a:bodyPr wrap="square">
            <a:spAutoFit/>
          </a:bodyPr>
          <a:lstStyle/>
          <a:p>
            <a:pPr algn="ctr">
              <a:defRPr sz="600" b="0">
                <a:solidFill>
                  <a:srgbClr val="555570"/>
                </a:solidFill>
                <a:latin typeface="Calibri"/>
              </a:defRPr>
            </a:pPr>
            <a:r>
              <a:t>1.5Y</a:t>
            </a:r>
          </a:p>
        </p:txBody>
      </p:sp>
      <p:sp>
        <p:nvSpPr>
          <p:cNvPr id="36" name="TextBox 35"/>
          <p:cNvSpPr txBox="1"/>
          <p:nvPr/>
        </p:nvSpPr>
        <p:spPr>
          <a:xfrm>
            <a:off x="1609344" y="2926080"/>
            <a:ext cx="384048" cy="201168"/>
          </a:xfrm>
          <a:prstGeom prst="rect">
            <a:avLst/>
          </a:prstGeom>
          <a:noFill/>
        </p:spPr>
        <p:txBody>
          <a:bodyPr wrap="square">
            <a:spAutoFit/>
          </a:bodyPr>
          <a:lstStyle/>
          <a:p>
            <a:pPr algn="ctr">
              <a:defRPr sz="600" b="0">
                <a:solidFill>
                  <a:srgbClr val="E88D3F"/>
                </a:solidFill>
                <a:latin typeface="Calibri"/>
              </a:defRPr>
            </a:pPr>
            <a:r>
              <a:t>N=118.1</a:t>
            </a:r>
          </a:p>
        </p:txBody>
      </p:sp>
      <p:sp>
        <p:nvSpPr>
          <p:cNvPr id="37" name="TextBox 36"/>
          <p:cNvSpPr txBox="1"/>
          <p:nvPr/>
        </p:nvSpPr>
        <p:spPr>
          <a:xfrm>
            <a:off x="1609344" y="3108960"/>
            <a:ext cx="384048" cy="164592"/>
          </a:xfrm>
          <a:prstGeom prst="rect">
            <a:avLst/>
          </a:prstGeom>
          <a:noFill/>
        </p:spPr>
        <p:txBody>
          <a:bodyPr wrap="square">
            <a:spAutoFit/>
          </a:bodyPr>
          <a:lstStyle/>
          <a:p>
            <a:pPr algn="ctr">
              <a:defRPr sz="600" b="0">
                <a:solidFill>
                  <a:srgbClr val="555570"/>
                </a:solidFill>
                <a:latin typeface="Calibri"/>
              </a:defRPr>
            </a:pPr>
            <a:r>
              <a:t>2.0Y</a:t>
            </a:r>
          </a:p>
        </p:txBody>
      </p:sp>
      <p:sp>
        <p:nvSpPr>
          <p:cNvPr id="38" name="TextBox 37"/>
          <p:cNvSpPr txBox="1"/>
          <p:nvPr/>
        </p:nvSpPr>
        <p:spPr>
          <a:xfrm>
            <a:off x="1993391" y="2926080"/>
            <a:ext cx="384048" cy="201168"/>
          </a:xfrm>
          <a:prstGeom prst="rect">
            <a:avLst/>
          </a:prstGeom>
          <a:noFill/>
        </p:spPr>
        <p:txBody>
          <a:bodyPr wrap="square">
            <a:spAutoFit/>
          </a:bodyPr>
          <a:lstStyle/>
          <a:p>
            <a:pPr algn="ctr">
              <a:defRPr sz="600" b="0">
                <a:solidFill>
                  <a:srgbClr val="E88D3F"/>
                </a:solidFill>
                <a:latin typeface="Calibri"/>
              </a:defRPr>
            </a:pPr>
            <a:r>
              <a:t>N=123.1</a:t>
            </a:r>
          </a:p>
        </p:txBody>
      </p:sp>
      <p:sp>
        <p:nvSpPr>
          <p:cNvPr id="39" name="TextBox 38"/>
          <p:cNvSpPr txBox="1"/>
          <p:nvPr/>
        </p:nvSpPr>
        <p:spPr>
          <a:xfrm>
            <a:off x="1993391" y="3108960"/>
            <a:ext cx="384048" cy="164592"/>
          </a:xfrm>
          <a:prstGeom prst="rect">
            <a:avLst/>
          </a:prstGeom>
          <a:noFill/>
        </p:spPr>
        <p:txBody>
          <a:bodyPr wrap="square">
            <a:spAutoFit/>
          </a:bodyPr>
          <a:lstStyle/>
          <a:p>
            <a:pPr algn="ctr">
              <a:defRPr sz="600" b="0">
                <a:solidFill>
                  <a:srgbClr val="555570"/>
                </a:solidFill>
                <a:latin typeface="Calibri"/>
              </a:defRPr>
            </a:pPr>
            <a:r>
              <a:t>2.5Y</a:t>
            </a:r>
          </a:p>
        </p:txBody>
      </p:sp>
      <p:sp>
        <p:nvSpPr>
          <p:cNvPr id="40" name="TextBox 39"/>
          <p:cNvSpPr txBox="1"/>
          <p:nvPr/>
        </p:nvSpPr>
        <p:spPr>
          <a:xfrm>
            <a:off x="2377440" y="2926080"/>
            <a:ext cx="384048" cy="201168"/>
          </a:xfrm>
          <a:prstGeom prst="rect">
            <a:avLst/>
          </a:prstGeom>
          <a:noFill/>
        </p:spPr>
        <p:txBody>
          <a:bodyPr wrap="square">
            <a:spAutoFit/>
          </a:bodyPr>
          <a:lstStyle/>
          <a:p>
            <a:pPr algn="ctr">
              <a:defRPr sz="600" b="0">
                <a:solidFill>
                  <a:srgbClr val="E88D3F"/>
                </a:solidFill>
                <a:latin typeface="Calibri"/>
              </a:defRPr>
            </a:pPr>
            <a:r>
              <a:t>N=128.4</a:t>
            </a:r>
          </a:p>
        </p:txBody>
      </p:sp>
      <p:sp>
        <p:nvSpPr>
          <p:cNvPr id="41" name="TextBox 40"/>
          <p:cNvSpPr txBox="1"/>
          <p:nvPr/>
        </p:nvSpPr>
        <p:spPr>
          <a:xfrm>
            <a:off x="2377440" y="3108960"/>
            <a:ext cx="384048" cy="164592"/>
          </a:xfrm>
          <a:prstGeom prst="rect">
            <a:avLst/>
          </a:prstGeom>
          <a:noFill/>
        </p:spPr>
        <p:txBody>
          <a:bodyPr wrap="square">
            <a:spAutoFit/>
          </a:bodyPr>
          <a:lstStyle/>
          <a:p>
            <a:pPr algn="ctr">
              <a:defRPr sz="600" b="0">
                <a:solidFill>
                  <a:srgbClr val="555570"/>
                </a:solidFill>
                <a:latin typeface="Calibri"/>
              </a:defRPr>
            </a:pPr>
            <a:r>
              <a:t>3.0Y</a:t>
            </a:r>
          </a:p>
        </p:txBody>
      </p:sp>
      <p:sp>
        <p:nvSpPr>
          <p:cNvPr id="42" name="TextBox 41"/>
          <p:cNvSpPr txBox="1"/>
          <p:nvPr/>
        </p:nvSpPr>
        <p:spPr>
          <a:xfrm>
            <a:off x="2761488" y="2926080"/>
            <a:ext cx="384048" cy="201168"/>
          </a:xfrm>
          <a:prstGeom prst="rect">
            <a:avLst/>
          </a:prstGeom>
          <a:noFill/>
        </p:spPr>
        <p:txBody>
          <a:bodyPr wrap="square">
            <a:spAutoFit/>
          </a:bodyPr>
          <a:lstStyle/>
          <a:p>
            <a:pPr algn="ctr">
              <a:defRPr sz="600" b="0">
                <a:solidFill>
                  <a:srgbClr val="E88D3F"/>
                </a:solidFill>
                <a:latin typeface="Calibri"/>
              </a:defRPr>
            </a:pPr>
            <a:r>
              <a:t>N=133.8</a:t>
            </a:r>
          </a:p>
        </p:txBody>
      </p:sp>
      <p:sp>
        <p:nvSpPr>
          <p:cNvPr id="43" name="TextBox 42"/>
          <p:cNvSpPr txBox="1"/>
          <p:nvPr/>
        </p:nvSpPr>
        <p:spPr>
          <a:xfrm>
            <a:off x="2761488" y="3108960"/>
            <a:ext cx="384048" cy="164592"/>
          </a:xfrm>
          <a:prstGeom prst="rect">
            <a:avLst/>
          </a:prstGeom>
          <a:noFill/>
        </p:spPr>
        <p:txBody>
          <a:bodyPr wrap="square">
            <a:spAutoFit/>
          </a:bodyPr>
          <a:lstStyle/>
          <a:p>
            <a:pPr algn="ctr">
              <a:defRPr sz="600" b="0">
                <a:solidFill>
                  <a:srgbClr val="555570"/>
                </a:solidFill>
                <a:latin typeface="Calibri"/>
              </a:defRPr>
            </a:pPr>
            <a:r>
              <a:t>3.5Y</a:t>
            </a:r>
          </a:p>
        </p:txBody>
      </p:sp>
      <p:sp>
        <p:nvSpPr>
          <p:cNvPr id="44" name="TextBox 43"/>
          <p:cNvSpPr txBox="1"/>
          <p:nvPr/>
        </p:nvSpPr>
        <p:spPr>
          <a:xfrm>
            <a:off x="3145536" y="2926080"/>
            <a:ext cx="384048" cy="201168"/>
          </a:xfrm>
          <a:prstGeom prst="rect">
            <a:avLst/>
          </a:prstGeom>
          <a:noFill/>
        </p:spPr>
        <p:txBody>
          <a:bodyPr wrap="square">
            <a:spAutoFit/>
          </a:bodyPr>
          <a:lstStyle/>
          <a:p>
            <a:pPr algn="ctr">
              <a:defRPr sz="600" b="0">
                <a:solidFill>
                  <a:srgbClr val="E88D3F"/>
                </a:solidFill>
                <a:latin typeface="Calibri"/>
              </a:defRPr>
            </a:pPr>
            <a:r>
              <a:t>N=139.5</a:t>
            </a:r>
          </a:p>
        </p:txBody>
      </p:sp>
      <p:sp>
        <p:nvSpPr>
          <p:cNvPr id="45" name="TextBox 44"/>
          <p:cNvSpPr txBox="1"/>
          <p:nvPr/>
        </p:nvSpPr>
        <p:spPr>
          <a:xfrm>
            <a:off x="3145536" y="3108960"/>
            <a:ext cx="384048" cy="164592"/>
          </a:xfrm>
          <a:prstGeom prst="rect">
            <a:avLst/>
          </a:prstGeom>
          <a:noFill/>
        </p:spPr>
        <p:txBody>
          <a:bodyPr wrap="square">
            <a:spAutoFit/>
          </a:bodyPr>
          <a:lstStyle/>
          <a:p>
            <a:pPr algn="ctr">
              <a:defRPr sz="600" b="0">
                <a:solidFill>
                  <a:srgbClr val="555570"/>
                </a:solidFill>
                <a:latin typeface="Calibri"/>
              </a:defRPr>
            </a:pPr>
            <a:r>
              <a:t>4.0Y</a:t>
            </a:r>
          </a:p>
        </p:txBody>
      </p:sp>
      <p:sp>
        <p:nvSpPr>
          <p:cNvPr id="46" name="TextBox 45"/>
          <p:cNvSpPr txBox="1"/>
          <p:nvPr/>
        </p:nvSpPr>
        <p:spPr>
          <a:xfrm>
            <a:off x="3529584" y="2926080"/>
            <a:ext cx="384048" cy="201168"/>
          </a:xfrm>
          <a:prstGeom prst="rect">
            <a:avLst/>
          </a:prstGeom>
          <a:noFill/>
        </p:spPr>
        <p:txBody>
          <a:bodyPr wrap="square">
            <a:spAutoFit/>
          </a:bodyPr>
          <a:lstStyle/>
          <a:p>
            <a:pPr algn="ctr">
              <a:defRPr sz="600" b="0">
                <a:solidFill>
                  <a:srgbClr val="E88D3F"/>
                </a:solidFill>
                <a:latin typeface="Calibri"/>
              </a:defRPr>
            </a:pPr>
            <a:r>
              <a:t>N=145.4</a:t>
            </a:r>
          </a:p>
        </p:txBody>
      </p:sp>
      <p:sp>
        <p:nvSpPr>
          <p:cNvPr id="47" name="TextBox 46"/>
          <p:cNvSpPr txBox="1"/>
          <p:nvPr/>
        </p:nvSpPr>
        <p:spPr>
          <a:xfrm>
            <a:off x="3529584" y="3108960"/>
            <a:ext cx="384048" cy="164592"/>
          </a:xfrm>
          <a:prstGeom prst="rect">
            <a:avLst/>
          </a:prstGeom>
          <a:noFill/>
        </p:spPr>
        <p:txBody>
          <a:bodyPr wrap="square">
            <a:spAutoFit/>
          </a:bodyPr>
          <a:lstStyle/>
          <a:p>
            <a:pPr algn="ctr">
              <a:defRPr sz="600" b="0">
                <a:solidFill>
                  <a:srgbClr val="555570"/>
                </a:solidFill>
                <a:latin typeface="Calibri"/>
              </a:defRPr>
            </a:pPr>
            <a:r>
              <a:t>4.5Y</a:t>
            </a:r>
          </a:p>
        </p:txBody>
      </p:sp>
      <p:sp>
        <p:nvSpPr>
          <p:cNvPr id="48" name="TextBox 47"/>
          <p:cNvSpPr txBox="1"/>
          <p:nvPr/>
        </p:nvSpPr>
        <p:spPr>
          <a:xfrm>
            <a:off x="3913631" y="2926080"/>
            <a:ext cx="384048" cy="201168"/>
          </a:xfrm>
          <a:prstGeom prst="rect">
            <a:avLst/>
          </a:prstGeom>
          <a:noFill/>
        </p:spPr>
        <p:txBody>
          <a:bodyPr wrap="square">
            <a:spAutoFit/>
          </a:bodyPr>
          <a:lstStyle/>
          <a:p>
            <a:pPr algn="ctr">
              <a:defRPr sz="600" b="0">
                <a:solidFill>
                  <a:srgbClr val="E88D3F"/>
                </a:solidFill>
                <a:latin typeface="Calibri"/>
              </a:defRPr>
            </a:pPr>
            <a:r>
              <a:t>N=151.6</a:t>
            </a:r>
          </a:p>
        </p:txBody>
      </p:sp>
      <p:sp>
        <p:nvSpPr>
          <p:cNvPr id="49" name="TextBox 48"/>
          <p:cNvSpPr txBox="1"/>
          <p:nvPr/>
        </p:nvSpPr>
        <p:spPr>
          <a:xfrm>
            <a:off x="3913631" y="3108960"/>
            <a:ext cx="384048" cy="164592"/>
          </a:xfrm>
          <a:prstGeom prst="rect">
            <a:avLst/>
          </a:prstGeom>
          <a:noFill/>
        </p:spPr>
        <p:txBody>
          <a:bodyPr wrap="square">
            <a:spAutoFit/>
          </a:bodyPr>
          <a:lstStyle/>
          <a:p>
            <a:pPr algn="ctr">
              <a:defRPr sz="600" b="0">
                <a:solidFill>
                  <a:srgbClr val="555570"/>
                </a:solidFill>
                <a:latin typeface="Calibri"/>
              </a:defRPr>
            </a:pPr>
            <a:r>
              <a:t>5.0Y</a:t>
            </a:r>
          </a:p>
        </p:txBody>
      </p:sp>
      <p:sp>
        <p:nvSpPr>
          <p:cNvPr id="50" name="TextBox 49"/>
          <p:cNvSpPr txBox="1"/>
          <p:nvPr/>
        </p:nvSpPr>
        <p:spPr>
          <a:xfrm>
            <a:off x="4114800" y="2880360"/>
            <a:ext cx="1371600" cy="274320"/>
          </a:xfrm>
          <a:prstGeom prst="rect">
            <a:avLst/>
          </a:prstGeom>
          <a:noFill/>
        </p:spPr>
        <p:txBody>
          <a:bodyPr wrap="square">
            <a:spAutoFit/>
          </a:bodyPr>
          <a:lstStyle/>
          <a:p>
            <a:pPr algn="l">
              <a:defRPr sz="900" b="1">
                <a:solidFill>
                  <a:srgbClr val="E88D3F"/>
                </a:solidFill>
                <a:latin typeface="Calibri"/>
              </a:defRPr>
            </a:pPr>
            <a:r>
              <a:t>→ 151.62</a:t>
            </a:r>
          </a:p>
        </p:txBody>
      </p:sp>
      <p:sp>
        <p:nvSpPr>
          <p:cNvPr id="51" name="Rounded Rectangle 50"/>
          <p:cNvSpPr/>
          <p:nvPr/>
        </p:nvSpPr>
        <p:spPr>
          <a:xfrm>
            <a:off x="457200" y="3474720"/>
            <a:ext cx="4114800" cy="502920"/>
          </a:xfrm>
          <a:prstGeom prst="round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100" b="1">
                <a:solidFill>
                  <a:srgbClr val="FFFFFF"/>
                </a:solidFill>
                <a:latin typeface="Calibri"/>
              </a:defRPr>
            </a:pPr>
            <a:r>
              <a:t>PIK terminal notional = 151.62 (+51.6% above par). All risk concentrated at maturity.</a:t>
            </a:r>
          </a:p>
        </p:txBody>
      </p:sp>
      <p:sp>
        <p:nvSpPr>
          <p:cNvPr id="52" name="TextBox 51"/>
          <p:cNvSpPr txBox="1"/>
          <p:nvPr/>
        </p:nvSpPr>
        <p:spPr>
          <a:xfrm>
            <a:off x="5029200" y="1645920"/>
            <a:ext cx="3931920" cy="274320"/>
          </a:xfrm>
          <a:prstGeom prst="rect">
            <a:avLst/>
          </a:prstGeom>
          <a:noFill/>
        </p:spPr>
        <p:txBody>
          <a:bodyPr wrap="square">
            <a:spAutoFit/>
          </a:bodyPr>
          <a:lstStyle/>
          <a:p>
            <a:pPr algn="l">
              <a:defRPr sz="1400" b="1">
                <a:solidFill>
                  <a:srgbClr val="2C3E6B"/>
                </a:solidFill>
                <a:latin typeface="Calibri"/>
              </a:defRPr>
            </a:pPr>
            <a:r>
              <a:t>Why Timing Matters for Pricing</a:t>
            </a:r>
          </a:p>
        </p:txBody>
      </p:sp>
      <p:sp>
        <p:nvSpPr>
          <p:cNvPr id="53" name="TextBox 52"/>
          <p:cNvSpPr txBox="1"/>
          <p:nvPr/>
        </p:nvSpPr>
        <p:spPr>
          <a:xfrm>
            <a:off x="5029200" y="2011680"/>
            <a:ext cx="3931920" cy="2286000"/>
          </a:xfrm>
          <a:prstGeom prst="rect">
            <a:avLst/>
          </a:prstGeom>
          <a:noFill/>
        </p:spPr>
        <p:txBody>
          <a:bodyPr wrap="square">
            <a:spAutoFit/>
          </a:bodyPr>
          <a:lstStyle/>
          <a:p>
            <a:pPr>
              <a:spcAft>
                <a:spcPts val="800"/>
              </a:spcAft>
              <a:defRPr sz="1200">
                <a:solidFill>
                  <a:srgbClr val="2D2D3D"/>
                </a:solidFill>
                <a:latin typeface="Calibri"/>
              </a:defRPr>
            </a:pPr>
            <a:r>
              <a:t>Cash-pay: spreads risk across 10 coupon dates. Early coupons are almost certain to be paid</a:t>
            </a:r>
          </a:p>
          <a:p>
            <a:pPr>
              <a:spcAft>
                <a:spcPts val="800"/>
              </a:spcAft>
              <a:defRPr sz="1200">
                <a:solidFill>
                  <a:srgbClr val="2D2D3D"/>
                </a:solidFill>
                <a:latin typeface="Calibri"/>
              </a:defRPr>
            </a:pPr>
            <a:r>
              <a:t>PIK: concentrates ALL cash flow at maturity. The single payment is weighted by S(T), the 5-year survival probability</a:t>
            </a:r>
          </a:p>
          <a:p>
            <a:pPr>
              <a:spcAft>
                <a:spcPts val="800"/>
              </a:spcAft>
              <a:defRPr sz="1200">
                <a:solidFill>
                  <a:srgbClr val="2D2D3D"/>
                </a:solidFill>
                <a:latin typeface="Calibri"/>
              </a:defRPr>
            </a:pPr>
            <a:r>
              <a:t>For a credit with S(5Y) = 70%, cash-pay collects ~95% of early coupons but PIK gets nothing if the issuer defaults</a:t>
            </a:r>
          </a:p>
          <a:p>
            <a:pPr>
              <a:spcAft>
                <a:spcPts val="800"/>
              </a:spcAft>
              <a:defRPr sz="1200">
                <a:solidFill>
                  <a:srgbClr val="2D2D3D"/>
                </a:solidFill>
                <a:latin typeface="Calibri"/>
              </a:defRPr>
            </a:pPr>
            <a:r>
              <a:t>This timing asymmetry is the root cause of the PIK premium under hazard-rate pricing</a:t>
            </a:r>
          </a:p>
        </p:txBody>
      </p:sp>
      <p:sp>
        <p:nvSpPr>
          <p:cNvPr id="54" name="TextBox 53"/>
          <p:cNvSpPr txBox="1"/>
          <p:nvPr/>
        </p:nvSpPr>
        <p:spPr>
          <a:xfrm>
            <a:off x="5029200" y="4114800"/>
            <a:ext cx="3931920" cy="228600"/>
          </a:xfrm>
          <a:prstGeom prst="rect">
            <a:avLst/>
          </a:prstGeom>
          <a:noFill/>
        </p:spPr>
        <p:txBody>
          <a:bodyPr wrap="square">
            <a:spAutoFit/>
          </a:bodyPr>
          <a:lstStyle/>
          <a:p>
            <a:pPr algn="l">
              <a:defRPr sz="1200" b="1">
                <a:solidFill>
                  <a:srgbClr val="2C3E6B"/>
                </a:solidFill>
                <a:latin typeface="Calibri"/>
              </a:defRPr>
            </a:pPr>
            <a:r>
              <a:t>Survival Probabilities by Issuer</a:t>
            </a:r>
          </a:p>
        </p:txBody>
      </p:sp>
      <p:graphicFrame>
        <p:nvGraphicFramePr>
          <p:cNvPr id="55" name="Table 54"/>
          <p:cNvGraphicFramePr>
            <a:graphicFrameLocks noGrp="1"/>
          </p:cNvGraphicFramePr>
          <p:nvPr/>
        </p:nvGraphicFramePr>
        <p:xfrm>
          <a:off x="5029200" y="4434840"/>
          <a:ext cx="3566160" cy="1920239"/>
        </p:xfrm>
        <a:graphic>
          <a:graphicData uri="http://schemas.openxmlformats.org/drawingml/2006/table">
            <a:tbl>
              <a:tblPr firstRow="1" bandRow="1">
                <a:tableStyleId>{5C22544A-7EE6-4342-B048-85BDC9FD1C3A}</a:tableStyleId>
              </a:tblPr>
              <a:tblGrid>
                <a:gridCol w="640080"/>
                <a:gridCol w="457200"/>
                <a:gridCol w="548640"/>
                <a:gridCol w="640080"/>
                <a:gridCol w="640080"/>
                <a:gridCol w="640080"/>
              </a:tblGrid>
              <a:tr h="320039">
                <a:tc>
                  <a:txBody>
                    <a:bodyPr/>
                    <a:lstStyle/>
                    <a:p>
                      <a:pPr algn="ctr">
                        <a:defRPr sz="900" b="1">
                          <a:solidFill>
                            <a:srgbClr val="FFFFFF"/>
                          </a:solidFill>
                          <a:latin typeface="Calibri"/>
                        </a:defRPr>
                      </a:pPr>
                      <a:r>
                        <a:t>Issuer</a:t>
                      </a:r>
                    </a:p>
                  </a:txBody>
                  <a:tcPr>
                    <a:solidFill>
                      <a:srgbClr val="2C3E6B"/>
                    </a:solidFill>
                  </a:tcPr>
                </a:tc>
                <a:tc>
                  <a:txBody>
                    <a:bodyPr/>
                    <a:lstStyle/>
                    <a:p>
                      <a:pPr algn="ctr">
                        <a:defRPr sz="900" b="1">
                          <a:solidFill>
                            <a:srgbClr val="FFFFFF"/>
                          </a:solidFill>
                          <a:latin typeface="Calibri"/>
                        </a:defRPr>
                      </a:pPr>
                      <a:r>
                        <a:t>LTV</a:t>
                      </a:r>
                    </a:p>
                  </a:txBody>
                  <a:tcPr>
                    <a:solidFill>
                      <a:srgbClr val="2C3E6B"/>
                    </a:solidFill>
                  </a:tcPr>
                </a:tc>
                <a:tc>
                  <a:txBody>
                    <a:bodyPr/>
                    <a:lstStyle/>
                    <a:p>
                      <a:pPr algn="ctr">
                        <a:defRPr sz="900" b="1">
                          <a:solidFill>
                            <a:srgbClr val="FFFFFF"/>
                          </a:solidFill>
                          <a:latin typeface="Calibri"/>
                        </a:defRPr>
                      </a:pPr>
                      <a:r>
                        <a:t>λ (bp)</a:t>
                      </a:r>
                    </a:p>
                  </a:txBody>
                  <a:tcPr>
                    <a:solidFill>
                      <a:srgbClr val="2C3E6B"/>
                    </a:solidFill>
                  </a:tcPr>
                </a:tc>
                <a:tc>
                  <a:txBody>
                    <a:bodyPr/>
                    <a:lstStyle/>
                    <a:p>
                      <a:pPr algn="ctr">
                        <a:defRPr sz="900" b="1">
                          <a:solidFill>
                            <a:srgbClr val="FFFFFF"/>
                          </a:solidFill>
                          <a:latin typeface="Calibri"/>
                        </a:defRPr>
                      </a:pPr>
                      <a:r>
                        <a:t>S(1Y)</a:t>
                      </a:r>
                    </a:p>
                  </a:txBody>
                  <a:tcPr>
                    <a:solidFill>
                      <a:srgbClr val="2C3E6B"/>
                    </a:solidFill>
                  </a:tcPr>
                </a:tc>
                <a:tc>
                  <a:txBody>
                    <a:bodyPr/>
                    <a:lstStyle/>
                    <a:p>
                      <a:pPr algn="ctr">
                        <a:defRPr sz="900" b="1">
                          <a:solidFill>
                            <a:srgbClr val="FFFFFF"/>
                          </a:solidFill>
                          <a:latin typeface="Calibri"/>
                        </a:defRPr>
                      </a:pPr>
                      <a:r>
                        <a:t>S(3Y)</a:t>
                      </a:r>
                    </a:p>
                  </a:txBody>
                  <a:tcPr>
                    <a:solidFill>
                      <a:srgbClr val="2C3E6B"/>
                    </a:solidFill>
                  </a:tcPr>
                </a:tc>
                <a:tc>
                  <a:txBody>
                    <a:bodyPr/>
                    <a:lstStyle/>
                    <a:p>
                      <a:pPr algn="ctr">
                        <a:defRPr sz="900" b="1">
                          <a:solidFill>
                            <a:srgbClr val="FFFFFF"/>
                          </a:solidFill>
                          <a:latin typeface="Calibri"/>
                        </a:defRPr>
                      </a:pPr>
                      <a:r>
                        <a:t>S(5Y)</a:t>
                      </a:r>
                    </a:p>
                  </a:txBody>
                  <a:tcPr>
                    <a:solidFill>
                      <a:srgbClr val="2C3E6B"/>
                    </a:solidFill>
                  </a:tcPr>
                </a:tc>
              </a:tr>
              <a:tr h="320039">
                <a:tc>
                  <a:txBody>
                    <a:bodyPr/>
                    <a:lstStyle/>
                    <a:p>
                      <a:pPr algn="l">
                        <a:defRPr sz="900">
                          <a:solidFill>
                            <a:srgbClr val="2D2D3D"/>
                          </a:solidFill>
                          <a:latin typeface="Calibri"/>
                        </a:defRPr>
                      </a:pPr>
                      <a:r>
                        <a:t>BB+</a:t>
                      </a:r>
                    </a:p>
                  </a:txBody>
                  <a:tcPr>
                    <a:solidFill>
                      <a:srgbClr val="FFFFFF"/>
                    </a:solidFill>
                  </a:tcPr>
                </a:tc>
                <a:tc>
                  <a:txBody>
                    <a:bodyPr/>
                    <a:lstStyle/>
                    <a:p>
                      <a:pPr algn="r">
                        <a:defRPr sz="900">
                          <a:solidFill>
                            <a:srgbClr val="2D2D3D"/>
                          </a:solidFill>
                          <a:latin typeface="Calibri"/>
                        </a:defRPr>
                      </a:pPr>
                      <a:r>
                        <a:t>50%</a:t>
                      </a:r>
                    </a:p>
                  </a:txBody>
                  <a:tcPr>
                    <a:solidFill>
                      <a:srgbClr val="FFFFFF"/>
                    </a:solidFill>
                  </a:tcPr>
                </a:tc>
                <a:tc>
                  <a:txBody>
                    <a:bodyPr/>
                    <a:lstStyle/>
                    <a:p>
                      <a:pPr algn="r">
                        <a:defRPr sz="900">
                          <a:solidFill>
                            <a:srgbClr val="2D2D3D"/>
                          </a:solidFill>
                          <a:latin typeface="Calibri"/>
                        </a:defRPr>
                      </a:pPr>
                      <a:r>
                        <a:t>143</a:t>
                      </a:r>
                    </a:p>
                  </a:txBody>
                  <a:tcPr>
                    <a:solidFill>
                      <a:srgbClr val="FFFFFF"/>
                    </a:solidFill>
                  </a:tcPr>
                </a:tc>
                <a:tc>
                  <a:txBody>
                    <a:bodyPr/>
                    <a:lstStyle/>
                    <a:p>
                      <a:pPr algn="r">
                        <a:defRPr sz="900">
                          <a:solidFill>
                            <a:srgbClr val="2D2D3D"/>
                          </a:solidFill>
                          <a:latin typeface="Calibri"/>
                        </a:defRPr>
                      </a:pPr>
                      <a:r>
                        <a:t>98.6%</a:t>
                      </a:r>
                    </a:p>
                  </a:txBody>
                  <a:tcPr>
                    <a:solidFill>
                      <a:srgbClr val="FFFFFF"/>
                    </a:solidFill>
                  </a:tcPr>
                </a:tc>
                <a:tc>
                  <a:txBody>
                    <a:bodyPr/>
                    <a:lstStyle/>
                    <a:p>
                      <a:pPr algn="r">
                        <a:defRPr sz="900">
                          <a:solidFill>
                            <a:srgbClr val="2D2D3D"/>
                          </a:solidFill>
                          <a:latin typeface="Calibri"/>
                        </a:defRPr>
                      </a:pPr>
                      <a:r>
                        <a:t>95.8%</a:t>
                      </a:r>
                    </a:p>
                  </a:txBody>
                  <a:tcPr>
                    <a:solidFill>
                      <a:srgbClr val="FFFFFF"/>
                    </a:solidFill>
                  </a:tcPr>
                </a:tc>
                <a:tc>
                  <a:txBody>
                    <a:bodyPr/>
                    <a:lstStyle/>
                    <a:p>
                      <a:pPr algn="r">
                        <a:defRPr sz="900">
                          <a:solidFill>
                            <a:srgbClr val="2D2D3D"/>
                          </a:solidFill>
                          <a:latin typeface="Calibri"/>
                        </a:defRPr>
                      </a:pPr>
                      <a:r>
                        <a:t>93.1%</a:t>
                      </a:r>
                    </a:p>
                  </a:txBody>
                  <a:tcPr>
                    <a:solidFill>
                      <a:srgbClr val="FFFFFF"/>
                    </a:solidFill>
                  </a:tcPr>
                </a:tc>
              </a:tr>
              <a:tr h="320039">
                <a:tc>
                  <a:txBody>
                    <a:bodyPr/>
                    <a:lstStyle/>
                    <a:p>
                      <a:pPr algn="l">
                        <a:defRPr sz="900">
                          <a:solidFill>
                            <a:srgbClr val="2D2D3D"/>
                          </a:solidFill>
                          <a:latin typeface="Calibri"/>
                        </a:defRPr>
                      </a:pPr>
                      <a:r>
                        <a:t>BB−</a:t>
                      </a:r>
                    </a:p>
                  </a:txBody>
                  <a:tcPr>
                    <a:solidFill>
                      <a:srgbClr val="E8EBF5"/>
                    </a:solidFill>
                  </a:tcPr>
                </a:tc>
                <a:tc>
                  <a:txBody>
                    <a:bodyPr/>
                    <a:lstStyle/>
                    <a:p>
                      <a:pPr algn="r">
                        <a:defRPr sz="900">
                          <a:solidFill>
                            <a:srgbClr val="2D2D3D"/>
                          </a:solidFill>
                          <a:latin typeface="Calibri"/>
                        </a:defRPr>
                      </a:pPr>
                      <a:r>
                        <a:t>61%</a:t>
                      </a:r>
                    </a:p>
                  </a:txBody>
                  <a:tcPr>
                    <a:solidFill>
                      <a:srgbClr val="E8EBF5"/>
                    </a:solidFill>
                  </a:tcPr>
                </a:tc>
                <a:tc>
                  <a:txBody>
                    <a:bodyPr/>
                    <a:lstStyle/>
                    <a:p>
                      <a:pPr algn="r">
                        <a:defRPr sz="900">
                          <a:solidFill>
                            <a:srgbClr val="2D2D3D"/>
                          </a:solidFill>
                          <a:latin typeface="Calibri"/>
                        </a:defRPr>
                      </a:pPr>
                      <a:r>
                        <a:t>334</a:t>
                      </a:r>
                    </a:p>
                  </a:txBody>
                  <a:tcPr>
                    <a:solidFill>
                      <a:srgbClr val="E8EBF5"/>
                    </a:solidFill>
                  </a:tcPr>
                </a:tc>
                <a:tc>
                  <a:txBody>
                    <a:bodyPr/>
                    <a:lstStyle/>
                    <a:p>
                      <a:pPr algn="r">
                        <a:defRPr sz="900">
                          <a:solidFill>
                            <a:srgbClr val="2D2D3D"/>
                          </a:solidFill>
                          <a:latin typeface="Calibri"/>
                        </a:defRPr>
                      </a:pPr>
                      <a:r>
                        <a:t>96.7%</a:t>
                      </a:r>
                    </a:p>
                  </a:txBody>
                  <a:tcPr>
                    <a:solidFill>
                      <a:srgbClr val="E8EBF5"/>
                    </a:solidFill>
                  </a:tcPr>
                </a:tc>
                <a:tc>
                  <a:txBody>
                    <a:bodyPr/>
                    <a:lstStyle/>
                    <a:p>
                      <a:pPr algn="r">
                        <a:defRPr sz="900">
                          <a:solidFill>
                            <a:srgbClr val="2D2D3D"/>
                          </a:solidFill>
                          <a:latin typeface="Calibri"/>
                        </a:defRPr>
                      </a:pPr>
                      <a:r>
                        <a:t>90.5%</a:t>
                      </a:r>
                    </a:p>
                  </a:txBody>
                  <a:tcPr>
                    <a:solidFill>
                      <a:srgbClr val="E8EBF5"/>
                    </a:solidFill>
                  </a:tcPr>
                </a:tc>
                <a:tc>
                  <a:txBody>
                    <a:bodyPr/>
                    <a:lstStyle/>
                    <a:p>
                      <a:pPr algn="r">
                        <a:defRPr sz="900">
                          <a:solidFill>
                            <a:srgbClr val="2D2D3D"/>
                          </a:solidFill>
                          <a:latin typeface="Calibri"/>
                        </a:defRPr>
                      </a:pPr>
                      <a:r>
                        <a:t>84.6%</a:t>
                      </a:r>
                    </a:p>
                  </a:txBody>
                  <a:tcPr>
                    <a:solidFill>
                      <a:srgbClr val="E8EBF5"/>
                    </a:solidFill>
                  </a:tcPr>
                </a:tc>
              </a:tr>
              <a:tr h="320039">
                <a:tc>
                  <a:txBody>
                    <a:bodyPr/>
                    <a:lstStyle/>
                    <a:p>
                      <a:pPr algn="l">
                        <a:defRPr sz="900">
                          <a:solidFill>
                            <a:srgbClr val="2D2D3D"/>
                          </a:solidFill>
                          <a:latin typeface="Calibri"/>
                        </a:defRPr>
                      </a:pPr>
                      <a:r>
                        <a:t>B</a:t>
                      </a:r>
                    </a:p>
                  </a:txBody>
                  <a:tcPr>
                    <a:solidFill>
                      <a:srgbClr val="FFFFFF"/>
                    </a:solidFill>
                  </a:tcPr>
                </a:tc>
                <a:tc>
                  <a:txBody>
                    <a:bodyPr/>
                    <a:lstStyle/>
                    <a:p>
                      <a:pPr algn="r">
                        <a:defRPr sz="900">
                          <a:solidFill>
                            <a:srgbClr val="2D2D3D"/>
                          </a:solidFill>
                          <a:latin typeface="Calibri"/>
                        </a:defRPr>
                      </a:pPr>
                      <a:r>
                        <a:t>71%</a:t>
                      </a:r>
                    </a:p>
                  </a:txBody>
                  <a:tcPr>
                    <a:solidFill>
                      <a:srgbClr val="FFFFFF"/>
                    </a:solidFill>
                  </a:tcPr>
                </a:tc>
                <a:tc>
                  <a:txBody>
                    <a:bodyPr/>
                    <a:lstStyle/>
                    <a:p>
                      <a:pPr algn="r">
                        <a:defRPr sz="900">
                          <a:solidFill>
                            <a:srgbClr val="2D2D3D"/>
                          </a:solidFill>
                          <a:latin typeface="Calibri"/>
                        </a:defRPr>
                      </a:pPr>
                      <a:r>
                        <a:t>591</a:t>
                      </a:r>
                    </a:p>
                  </a:txBody>
                  <a:tcPr>
                    <a:solidFill>
                      <a:srgbClr val="FFFFFF"/>
                    </a:solidFill>
                  </a:tcPr>
                </a:tc>
                <a:tc>
                  <a:txBody>
                    <a:bodyPr/>
                    <a:lstStyle/>
                    <a:p>
                      <a:pPr algn="r">
                        <a:defRPr sz="900">
                          <a:solidFill>
                            <a:srgbClr val="2D2D3D"/>
                          </a:solidFill>
                          <a:latin typeface="Calibri"/>
                        </a:defRPr>
                      </a:pPr>
                      <a:r>
                        <a:t>94.3%</a:t>
                      </a:r>
                    </a:p>
                  </a:txBody>
                  <a:tcPr>
                    <a:solidFill>
                      <a:srgbClr val="FFFFFF"/>
                    </a:solidFill>
                  </a:tcPr>
                </a:tc>
                <a:tc>
                  <a:txBody>
                    <a:bodyPr/>
                    <a:lstStyle/>
                    <a:p>
                      <a:pPr algn="r">
                        <a:defRPr sz="900">
                          <a:solidFill>
                            <a:srgbClr val="2D2D3D"/>
                          </a:solidFill>
                          <a:latin typeface="Calibri"/>
                        </a:defRPr>
                      </a:pPr>
                      <a:r>
                        <a:t>83.8%</a:t>
                      </a:r>
                    </a:p>
                  </a:txBody>
                  <a:tcPr>
                    <a:solidFill>
                      <a:srgbClr val="FFFFFF"/>
                    </a:solidFill>
                  </a:tcPr>
                </a:tc>
                <a:tc>
                  <a:txBody>
                    <a:bodyPr/>
                    <a:lstStyle/>
                    <a:p>
                      <a:pPr algn="r">
                        <a:defRPr sz="900">
                          <a:solidFill>
                            <a:srgbClr val="2D2D3D"/>
                          </a:solidFill>
                          <a:latin typeface="Calibri"/>
                        </a:defRPr>
                      </a:pPr>
                      <a:r>
                        <a:t>74.4%</a:t>
                      </a:r>
                    </a:p>
                  </a:txBody>
                  <a:tcPr>
                    <a:solidFill>
                      <a:srgbClr val="FFFFFF"/>
                    </a:solidFill>
                  </a:tcPr>
                </a:tc>
              </a:tr>
              <a:tr h="320039">
                <a:tc>
                  <a:txBody>
                    <a:bodyPr/>
                    <a:lstStyle/>
                    <a:p>
                      <a:pPr algn="l">
                        <a:defRPr sz="900">
                          <a:solidFill>
                            <a:srgbClr val="2D2D3D"/>
                          </a:solidFill>
                          <a:latin typeface="Calibri"/>
                        </a:defRPr>
                      </a:pPr>
                      <a:r>
                        <a:t>B−</a:t>
                      </a:r>
                    </a:p>
                  </a:txBody>
                  <a:tcPr>
                    <a:solidFill>
                      <a:srgbClr val="E8EBF5"/>
                    </a:solidFill>
                  </a:tcPr>
                </a:tc>
                <a:tc>
                  <a:txBody>
                    <a:bodyPr/>
                    <a:lstStyle/>
                    <a:p>
                      <a:pPr algn="r">
                        <a:defRPr sz="900">
                          <a:solidFill>
                            <a:srgbClr val="2D2D3D"/>
                          </a:solidFill>
                          <a:latin typeface="Calibri"/>
                        </a:defRPr>
                      </a:pPr>
                      <a:r>
                        <a:t>80%</a:t>
                      </a:r>
                    </a:p>
                  </a:txBody>
                  <a:tcPr>
                    <a:solidFill>
                      <a:srgbClr val="E8EBF5"/>
                    </a:solidFill>
                  </a:tcPr>
                </a:tc>
                <a:tc>
                  <a:txBody>
                    <a:bodyPr/>
                    <a:lstStyle/>
                    <a:p>
                      <a:pPr algn="r">
                        <a:defRPr sz="900">
                          <a:solidFill>
                            <a:srgbClr val="2D2D3D"/>
                          </a:solidFill>
                          <a:latin typeface="Calibri"/>
                        </a:defRPr>
                      </a:pPr>
                      <a:r>
                        <a:t>911</a:t>
                      </a:r>
                    </a:p>
                  </a:txBody>
                  <a:tcPr>
                    <a:solidFill>
                      <a:srgbClr val="E8EBF5"/>
                    </a:solidFill>
                  </a:tcPr>
                </a:tc>
                <a:tc>
                  <a:txBody>
                    <a:bodyPr/>
                    <a:lstStyle/>
                    <a:p>
                      <a:pPr algn="r">
                        <a:defRPr sz="900">
                          <a:solidFill>
                            <a:srgbClr val="2D2D3D"/>
                          </a:solidFill>
                          <a:latin typeface="Calibri"/>
                        </a:defRPr>
                      </a:pPr>
                      <a:r>
                        <a:t>91.3%</a:t>
                      </a:r>
                    </a:p>
                  </a:txBody>
                  <a:tcPr>
                    <a:solidFill>
                      <a:srgbClr val="E8EBF5"/>
                    </a:solidFill>
                  </a:tcPr>
                </a:tc>
                <a:tc>
                  <a:txBody>
                    <a:bodyPr/>
                    <a:lstStyle/>
                    <a:p>
                      <a:pPr algn="r">
                        <a:defRPr sz="900">
                          <a:solidFill>
                            <a:srgbClr val="2D2D3D"/>
                          </a:solidFill>
                          <a:latin typeface="Calibri"/>
                        </a:defRPr>
                      </a:pPr>
                      <a:r>
                        <a:t>76.1%</a:t>
                      </a:r>
                    </a:p>
                  </a:txBody>
                  <a:tcPr>
                    <a:solidFill>
                      <a:srgbClr val="E8EBF5"/>
                    </a:solidFill>
                  </a:tcPr>
                </a:tc>
                <a:tc>
                  <a:txBody>
                    <a:bodyPr/>
                    <a:lstStyle/>
                    <a:p>
                      <a:pPr algn="r">
                        <a:defRPr sz="900">
                          <a:solidFill>
                            <a:srgbClr val="2D2D3D"/>
                          </a:solidFill>
                          <a:latin typeface="Calibri"/>
                        </a:defRPr>
                      </a:pPr>
                      <a:r>
                        <a:t>63.4%</a:t>
                      </a:r>
                    </a:p>
                  </a:txBody>
                  <a:tcPr>
                    <a:solidFill>
                      <a:srgbClr val="E8EBF5"/>
                    </a:solidFill>
                  </a:tcPr>
                </a:tc>
              </a:tr>
              <a:tr h="320044">
                <a:tc>
                  <a:txBody>
                    <a:bodyPr/>
                    <a:lstStyle/>
                    <a:p>
                      <a:pPr algn="l">
                        <a:defRPr sz="900">
                          <a:solidFill>
                            <a:srgbClr val="2D2D3D"/>
                          </a:solidFill>
                          <a:latin typeface="Calibri"/>
                        </a:defRPr>
                      </a:pPr>
                      <a:r>
                        <a:t>CCC</a:t>
                      </a:r>
                    </a:p>
                  </a:txBody>
                  <a:tcPr>
                    <a:solidFill>
                      <a:srgbClr val="FFFFFF"/>
                    </a:solidFill>
                  </a:tcPr>
                </a:tc>
                <a:tc>
                  <a:txBody>
                    <a:bodyPr/>
                    <a:lstStyle/>
                    <a:p>
                      <a:pPr algn="r">
                        <a:defRPr sz="900">
                          <a:solidFill>
                            <a:srgbClr val="2D2D3D"/>
                          </a:solidFill>
                          <a:latin typeface="Calibri"/>
                        </a:defRPr>
                      </a:pPr>
                      <a:r>
                        <a:t>87%</a:t>
                      </a:r>
                    </a:p>
                  </a:txBody>
                  <a:tcPr>
                    <a:solidFill>
                      <a:srgbClr val="FFFFFF"/>
                    </a:solidFill>
                  </a:tcPr>
                </a:tc>
                <a:tc>
                  <a:txBody>
                    <a:bodyPr/>
                    <a:lstStyle/>
                    <a:p>
                      <a:pPr algn="r">
                        <a:defRPr sz="900">
                          <a:solidFill>
                            <a:srgbClr val="2D2D3D"/>
                          </a:solidFill>
                          <a:latin typeface="Calibri"/>
                        </a:defRPr>
                      </a:pPr>
                      <a:r>
                        <a:t>1468</a:t>
                      </a:r>
                    </a:p>
                  </a:txBody>
                  <a:tcPr>
                    <a:solidFill>
                      <a:srgbClr val="FFFFFF"/>
                    </a:solidFill>
                  </a:tcPr>
                </a:tc>
                <a:tc>
                  <a:txBody>
                    <a:bodyPr/>
                    <a:lstStyle/>
                    <a:p>
                      <a:pPr algn="r">
                        <a:defRPr sz="900">
                          <a:solidFill>
                            <a:srgbClr val="2D2D3D"/>
                          </a:solidFill>
                          <a:latin typeface="Calibri"/>
                        </a:defRPr>
                      </a:pPr>
                      <a:r>
                        <a:t>86.3%</a:t>
                      </a:r>
                    </a:p>
                  </a:txBody>
                  <a:tcPr>
                    <a:solidFill>
                      <a:srgbClr val="FFFFFF"/>
                    </a:solidFill>
                  </a:tcPr>
                </a:tc>
                <a:tc>
                  <a:txBody>
                    <a:bodyPr/>
                    <a:lstStyle/>
                    <a:p>
                      <a:pPr algn="r">
                        <a:defRPr sz="900">
                          <a:solidFill>
                            <a:srgbClr val="2D2D3D"/>
                          </a:solidFill>
                          <a:latin typeface="Calibri"/>
                        </a:defRPr>
                      </a:pPr>
                      <a:r>
                        <a:t>64.4%</a:t>
                      </a:r>
                    </a:p>
                  </a:txBody>
                  <a:tcPr>
                    <a:solidFill>
                      <a:srgbClr val="FFFFFF"/>
                    </a:solidFill>
                  </a:tcPr>
                </a:tc>
                <a:tc>
                  <a:txBody>
                    <a:bodyPr/>
                    <a:lstStyle/>
                    <a:p>
                      <a:pPr algn="r">
                        <a:defRPr sz="900">
                          <a:solidFill>
                            <a:srgbClr val="2D2D3D"/>
                          </a:solidFill>
                          <a:latin typeface="Calibri"/>
                        </a:defRPr>
                      </a:pPr>
                      <a:r>
                        <a:t>48.0%</a:t>
                      </a:r>
                    </a:p>
                  </a:txBody>
                  <a:tcPr>
                    <a:solidFill>
                      <a:srgbClr val="FFFFFF"/>
                    </a:solidFill>
                  </a:tcPr>
                </a:tc>
              </a:tr>
            </a:tbl>
          </a:graphicData>
        </a:graphic>
      </p:graphicFrame>
      <p:sp>
        <p:nvSpPr>
          <p:cNvPr id="56" name="TextBox 55"/>
          <p:cNvSpPr txBox="1"/>
          <p:nvPr/>
        </p:nvSpPr>
        <p:spPr>
          <a:xfrm>
            <a:off x="5029200" y="6126480"/>
            <a:ext cx="3657600" cy="228600"/>
          </a:xfrm>
          <a:prstGeom prst="rect">
            <a:avLst/>
          </a:prstGeom>
          <a:noFill/>
        </p:spPr>
        <p:txBody>
          <a:bodyPr wrap="square">
            <a:spAutoFit/>
          </a:bodyPr>
          <a:lstStyle/>
          <a:p>
            <a:pPr algn="l">
              <a:defRPr sz="900" b="0">
                <a:solidFill>
                  <a:srgbClr val="555570"/>
                </a:solidFill>
                <a:latin typeface="Calibri"/>
              </a:defRPr>
            </a:pPr>
            <a:r>
              <a:t>S(t) = exp(−λ × t) under flat hazard 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Hazard Rate Model: How λ Prices the Bond</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Reduced-form pricing under flat hazard rates</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4/16</a:t>
            </a:r>
          </a:p>
        </p:txBody>
      </p:sp>
      <p:sp>
        <p:nvSpPr>
          <p:cNvPr id="6" name="TextBox 5"/>
          <p:cNvSpPr txBox="1"/>
          <p:nvPr/>
        </p:nvSpPr>
        <p:spPr>
          <a:xfrm>
            <a:off x="457200" y="1005840"/>
            <a:ext cx="8229600" cy="320040"/>
          </a:xfrm>
          <a:prstGeom prst="rect">
            <a:avLst/>
          </a:prstGeom>
          <a:noFill/>
        </p:spPr>
        <p:txBody>
          <a:bodyPr wrap="square">
            <a:spAutoFit/>
          </a:bodyPr>
          <a:lstStyle/>
          <a:p>
            <a:pPr algn="l">
              <a:defRPr sz="1600" b="1">
                <a:solidFill>
                  <a:srgbClr val="2C3E6B"/>
                </a:solidFill>
                <a:latin typeface="Calibri"/>
              </a:defRPr>
            </a:pPr>
            <a:r>
              <a:t>PV = Σ cpn × D(t) × S(t)  +  N × D(T) × S(T)  +  R × N × Σ D(t) × [S(t−1) − S(t)]</a:t>
            </a:r>
          </a:p>
        </p:txBody>
      </p:sp>
      <p:sp>
        <p:nvSpPr>
          <p:cNvPr id="7" name="TextBox 6"/>
          <p:cNvSpPr txBox="1"/>
          <p:nvPr/>
        </p:nvSpPr>
        <p:spPr>
          <a:xfrm>
            <a:off x="457200" y="1325880"/>
            <a:ext cx="8229600" cy="228600"/>
          </a:xfrm>
          <a:prstGeom prst="rect">
            <a:avLst/>
          </a:prstGeom>
          <a:noFill/>
        </p:spPr>
        <p:txBody>
          <a:bodyPr wrap="square">
            <a:spAutoFit/>
          </a:bodyPr>
          <a:lstStyle/>
          <a:p>
            <a:pPr algn="l">
              <a:defRPr sz="1100" b="0">
                <a:solidFill>
                  <a:srgbClr val="555570"/>
                </a:solidFill>
                <a:latin typeface="Calibri"/>
              </a:defRPr>
            </a:pPr>
            <a:r>
              <a:t>D(t) = exp(−r×t)  |  S(t) = exp(−λ×t)  |  λ calibrated from market Z-spread via bisection</a:t>
            </a:r>
          </a:p>
        </p:txBody>
      </p:sp>
      <p:sp>
        <p:nvSpPr>
          <p:cNvPr id="8" name="Rounded Rectangle 7"/>
          <p:cNvSpPr/>
          <p:nvPr/>
        </p:nvSpPr>
        <p:spPr>
          <a:xfrm>
            <a:off x="457200" y="1828800"/>
            <a:ext cx="4114800" cy="640080"/>
          </a:xfrm>
          <a:prstGeom prst="round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tIns="50800"/>
          <a:lstStyle/>
          <a:p>
            <a:pPr algn="ctr">
              <a:defRPr sz="1200" b="1">
                <a:solidFill>
                  <a:srgbClr val="FFFFFF"/>
                </a:solidFill>
                <a:latin typeface="Calibri"/>
              </a:defRPr>
            </a:pPr>
            <a:r>
              <a:t>Coupon PV: Σ cpn × D(t) × S(t)</a:t>
            </a:r>
          </a:p>
        </p:txBody>
      </p:sp>
      <p:sp>
        <p:nvSpPr>
          <p:cNvPr id="9" name="TextBox 8"/>
          <p:cNvSpPr txBox="1"/>
          <p:nvPr/>
        </p:nvSpPr>
        <p:spPr>
          <a:xfrm>
            <a:off x="4754880" y="1879600"/>
            <a:ext cx="4114800" cy="548640"/>
          </a:xfrm>
          <a:prstGeom prst="rect">
            <a:avLst/>
          </a:prstGeom>
          <a:noFill/>
        </p:spPr>
        <p:txBody>
          <a:bodyPr wrap="square">
            <a:spAutoFit/>
          </a:bodyPr>
          <a:lstStyle/>
          <a:p>
            <a:pPr algn="l">
              <a:defRPr sz="1100" b="0">
                <a:solidFill>
                  <a:srgbClr val="2D2D3D"/>
                </a:solidFill>
                <a:latin typeface="Calibri"/>
              </a:defRPr>
            </a:pPr>
            <a:r>
              <a:t>Each coupon discounted for time value AND survival. Cash-pay: 10 small payments. PIK: zero (coupons accrete).</a:t>
            </a:r>
          </a:p>
        </p:txBody>
      </p:sp>
      <p:sp>
        <p:nvSpPr>
          <p:cNvPr id="10" name="Rounded Rectangle 9"/>
          <p:cNvSpPr/>
          <p:nvPr/>
        </p:nvSpPr>
        <p:spPr>
          <a:xfrm>
            <a:off x="457200" y="2606040"/>
            <a:ext cx="4114800" cy="640080"/>
          </a:xfrm>
          <a:prstGeom prst="round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tIns="50800"/>
          <a:lstStyle/>
          <a:p>
            <a:pPr algn="ctr">
              <a:defRPr sz="1200" b="1">
                <a:solidFill>
                  <a:srgbClr val="FFFFFF"/>
                </a:solidFill>
                <a:latin typeface="Calibri"/>
              </a:defRPr>
            </a:pPr>
            <a:r>
              <a:t>Redemption PV: N × D(T) × S(T)</a:t>
            </a:r>
          </a:p>
        </p:txBody>
      </p:sp>
      <p:sp>
        <p:nvSpPr>
          <p:cNvPr id="11" name="TextBox 10"/>
          <p:cNvSpPr txBox="1"/>
          <p:nvPr/>
        </p:nvSpPr>
        <p:spPr>
          <a:xfrm>
            <a:off x="4754880" y="2656840"/>
            <a:ext cx="4114800" cy="548640"/>
          </a:xfrm>
          <a:prstGeom prst="rect">
            <a:avLst/>
          </a:prstGeom>
          <a:noFill/>
        </p:spPr>
        <p:txBody>
          <a:bodyPr wrap="square">
            <a:spAutoFit/>
          </a:bodyPr>
          <a:lstStyle/>
          <a:p>
            <a:pPr algn="l">
              <a:defRPr sz="1100" b="0">
                <a:solidFill>
                  <a:srgbClr val="2D2D3D"/>
                </a:solidFill>
                <a:latin typeface="Calibri"/>
              </a:defRPr>
            </a:pPr>
            <a:r>
              <a:t>Terminal notional discounted by full survival. Cash-pay: N = 100. PIK: N = 151.26 (accreted).</a:t>
            </a:r>
          </a:p>
        </p:txBody>
      </p:sp>
      <p:sp>
        <p:nvSpPr>
          <p:cNvPr id="12" name="Rounded Rectangle 11"/>
          <p:cNvSpPr/>
          <p:nvPr/>
        </p:nvSpPr>
        <p:spPr>
          <a:xfrm>
            <a:off x="457200" y="3383280"/>
            <a:ext cx="4114800" cy="640080"/>
          </a:xfrm>
          <a:prstGeom prst="round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tIns="50800"/>
          <a:lstStyle/>
          <a:p>
            <a:pPr algn="ctr">
              <a:defRPr sz="1200" b="1">
                <a:solidFill>
                  <a:srgbClr val="FFFFFF"/>
                </a:solidFill>
                <a:latin typeface="Calibri"/>
              </a:defRPr>
            </a:pPr>
            <a:r>
              <a:t>Recovery PV: R × N × Σ D(t) × ΔS</a:t>
            </a:r>
          </a:p>
        </p:txBody>
      </p:sp>
      <p:sp>
        <p:nvSpPr>
          <p:cNvPr id="13" name="TextBox 12"/>
          <p:cNvSpPr txBox="1"/>
          <p:nvPr/>
        </p:nvSpPr>
        <p:spPr>
          <a:xfrm>
            <a:off x="4754880" y="3434080"/>
            <a:ext cx="4114800" cy="548640"/>
          </a:xfrm>
          <a:prstGeom prst="rect">
            <a:avLst/>
          </a:prstGeom>
          <a:noFill/>
        </p:spPr>
        <p:txBody>
          <a:bodyPr wrap="square">
            <a:spAutoFit/>
          </a:bodyPr>
          <a:lstStyle/>
          <a:p>
            <a:pPr algn="l">
              <a:defRPr sz="1100" b="0">
                <a:solidFill>
                  <a:srgbClr val="2D2D3D"/>
                </a:solidFill>
                <a:latin typeface="Calibri"/>
              </a:defRPr>
            </a:pPr>
            <a:r>
              <a:t>Expected recovery on default. Proportional to incremental default probability each period.</a:t>
            </a:r>
          </a:p>
        </p:txBody>
      </p:sp>
      <p:sp>
        <p:nvSpPr>
          <p:cNvPr id="14" name="TextBox 13"/>
          <p:cNvSpPr txBox="1"/>
          <p:nvPr/>
        </p:nvSpPr>
        <p:spPr>
          <a:xfrm>
            <a:off x="457200" y="4206240"/>
            <a:ext cx="8229600" cy="228600"/>
          </a:xfrm>
          <a:prstGeom prst="rect">
            <a:avLst/>
          </a:prstGeom>
          <a:noFill/>
        </p:spPr>
        <p:txBody>
          <a:bodyPr wrap="square">
            <a:spAutoFit/>
          </a:bodyPr>
          <a:lstStyle/>
          <a:p>
            <a:pPr algn="l">
              <a:defRPr sz="1300" b="1">
                <a:solidFill>
                  <a:srgbClr val="2C3E6B"/>
                </a:solidFill>
                <a:latin typeface="Calibri"/>
              </a:defRPr>
            </a:pPr>
            <a:r>
              <a:t>HR Prices: Cash vs PIK at Each Issuer’s Market Hazard Rate</a:t>
            </a:r>
          </a:p>
        </p:txBody>
      </p:sp>
      <p:graphicFrame>
        <p:nvGraphicFramePr>
          <p:cNvPr id="15" name="Table 14"/>
          <p:cNvGraphicFramePr>
            <a:graphicFrameLocks noGrp="1"/>
          </p:cNvGraphicFramePr>
          <p:nvPr/>
        </p:nvGraphicFramePr>
        <p:xfrm>
          <a:off x="274320" y="4526280"/>
          <a:ext cx="6675120" cy="1920239"/>
        </p:xfrm>
        <a:graphic>
          <a:graphicData uri="http://schemas.openxmlformats.org/drawingml/2006/table">
            <a:tbl>
              <a:tblPr firstRow="1" bandRow="1">
                <a:tableStyleId>{5C22544A-7EE6-4342-B048-85BDC9FD1C3A}</a:tableStyleId>
              </a:tblPr>
              <a:tblGrid>
                <a:gridCol w="822960"/>
                <a:gridCol w="457200"/>
                <a:gridCol w="640080"/>
                <a:gridCol w="822960"/>
                <a:gridCol w="822960"/>
                <a:gridCol w="731520"/>
                <a:gridCol w="822960"/>
                <a:gridCol w="822960"/>
                <a:gridCol w="731520"/>
              </a:tblGrid>
              <a:tr h="320039">
                <a:tc>
                  <a:txBody>
                    <a:bodyPr/>
                    <a:lstStyle/>
                    <a:p>
                      <a:pPr algn="ctr">
                        <a:defRPr sz="900" b="1">
                          <a:solidFill>
                            <a:srgbClr val="FFFFFF"/>
                          </a:solidFill>
                          <a:latin typeface="Calibri"/>
                        </a:defRPr>
                      </a:pPr>
                      <a:r>
                        <a:t>Issuer</a:t>
                      </a:r>
                    </a:p>
                  </a:txBody>
                  <a:tcPr>
                    <a:solidFill>
                      <a:srgbClr val="2C3E6B"/>
                    </a:solidFill>
                  </a:tcPr>
                </a:tc>
                <a:tc>
                  <a:txBody>
                    <a:bodyPr/>
                    <a:lstStyle/>
                    <a:p>
                      <a:pPr algn="ctr">
                        <a:defRPr sz="900" b="1">
                          <a:solidFill>
                            <a:srgbClr val="FFFFFF"/>
                          </a:solidFill>
                          <a:latin typeface="Calibri"/>
                        </a:defRPr>
                      </a:pPr>
                      <a:r>
                        <a:t>LTV</a:t>
                      </a:r>
                    </a:p>
                  </a:txBody>
                  <a:tcPr>
                    <a:solidFill>
                      <a:srgbClr val="2C3E6B"/>
                    </a:solidFill>
                  </a:tcPr>
                </a:tc>
                <a:tc>
                  <a:txBody>
                    <a:bodyPr/>
                    <a:lstStyle/>
                    <a:p>
                      <a:pPr algn="ctr">
                        <a:defRPr sz="900" b="1">
                          <a:solidFill>
                            <a:srgbClr val="FFFFFF"/>
                          </a:solidFill>
                          <a:latin typeface="Calibri"/>
                        </a:defRPr>
                      </a:pPr>
                      <a:r>
                        <a:t>λ (bp)</a:t>
                      </a:r>
                    </a:p>
                  </a:txBody>
                  <a:tcPr>
                    <a:solidFill>
                      <a:srgbClr val="2C3E6B"/>
                    </a:solidFill>
                  </a:tcPr>
                </a:tc>
                <a:tc>
                  <a:txBody>
                    <a:bodyPr/>
                    <a:lstStyle/>
                    <a:p>
                      <a:pPr algn="ctr">
                        <a:defRPr sz="900" b="1">
                          <a:solidFill>
                            <a:srgbClr val="FFFFFF"/>
                          </a:solidFill>
                          <a:latin typeface="Calibri"/>
                        </a:defRPr>
                      </a:pPr>
                      <a:r>
                        <a:t>Cash PV</a:t>
                      </a:r>
                    </a:p>
                  </a:txBody>
                  <a:tcPr>
                    <a:solidFill>
                      <a:srgbClr val="2C3E6B"/>
                    </a:solidFill>
                  </a:tcPr>
                </a:tc>
                <a:tc>
                  <a:txBody>
                    <a:bodyPr/>
                    <a:lstStyle/>
                    <a:p>
                      <a:pPr algn="ctr">
                        <a:defRPr sz="900" b="1">
                          <a:solidFill>
                            <a:srgbClr val="FFFFFF"/>
                          </a:solidFill>
                          <a:latin typeface="Calibri"/>
                        </a:defRPr>
                      </a:pPr>
                      <a:r>
                        <a:t>PIK PV</a:t>
                      </a:r>
                    </a:p>
                  </a:txBody>
                  <a:tcPr>
                    <a:solidFill>
                      <a:srgbClr val="2C3E6B"/>
                    </a:solidFill>
                  </a:tcPr>
                </a:tc>
                <a:tc>
                  <a:txBody>
                    <a:bodyPr/>
                    <a:lstStyle/>
                    <a:p>
                      <a:pPr algn="ctr">
                        <a:defRPr sz="900" b="1">
                          <a:solidFill>
                            <a:srgbClr val="FFFFFF"/>
                          </a:solidFill>
                          <a:latin typeface="Calibri"/>
                        </a:defRPr>
                      </a:pPr>
                      <a:r>
                        <a:t>ΔPrice</a:t>
                      </a:r>
                    </a:p>
                  </a:txBody>
                  <a:tcPr>
                    <a:solidFill>
                      <a:srgbClr val="2C3E6B"/>
                    </a:solidFill>
                  </a:tcPr>
                </a:tc>
                <a:tc>
                  <a:txBody>
                    <a:bodyPr/>
                    <a:lstStyle/>
                    <a:p>
                      <a:pPr algn="ctr">
                        <a:defRPr sz="900" b="1">
                          <a:solidFill>
                            <a:srgbClr val="FFFFFF"/>
                          </a:solidFill>
                          <a:latin typeface="Calibri"/>
                        </a:defRPr>
                      </a:pPr>
                      <a:r>
                        <a:t>Cash Z</a:t>
                      </a:r>
                    </a:p>
                  </a:txBody>
                  <a:tcPr>
                    <a:solidFill>
                      <a:srgbClr val="2C3E6B"/>
                    </a:solidFill>
                  </a:tcPr>
                </a:tc>
                <a:tc>
                  <a:txBody>
                    <a:bodyPr/>
                    <a:lstStyle/>
                    <a:p>
                      <a:pPr algn="ctr">
                        <a:defRPr sz="900" b="1">
                          <a:solidFill>
                            <a:srgbClr val="FFFFFF"/>
                          </a:solidFill>
                          <a:latin typeface="Calibri"/>
                        </a:defRPr>
                      </a:pPr>
                      <a:r>
                        <a:t>PIK Z</a:t>
                      </a:r>
                    </a:p>
                  </a:txBody>
                  <a:tcPr>
                    <a:solidFill>
                      <a:srgbClr val="2C3E6B"/>
                    </a:solidFill>
                  </a:tcPr>
                </a:tc>
                <a:tc>
                  <a:txBody>
                    <a:bodyPr/>
                    <a:lstStyle/>
                    <a:p>
                      <a:pPr algn="ctr">
                        <a:defRPr sz="900" b="1">
                          <a:solidFill>
                            <a:srgbClr val="FFFFFF"/>
                          </a:solidFill>
                          <a:latin typeface="Calibri"/>
                        </a:defRPr>
                      </a:pPr>
                      <a:r>
                        <a:t>ΔZ (bp)</a:t>
                      </a:r>
                    </a:p>
                  </a:txBody>
                  <a:tcPr>
                    <a:solidFill>
                      <a:srgbClr val="2C3E6B"/>
                    </a:solidFill>
                  </a:tcPr>
                </a:tc>
              </a:tr>
              <a:tr h="320039">
                <a:tc>
                  <a:txBody>
                    <a:bodyPr/>
                    <a:lstStyle/>
                    <a:p>
                      <a:pPr algn="l">
                        <a:defRPr sz="900">
                          <a:solidFill>
                            <a:srgbClr val="2D2D3D"/>
                          </a:solidFill>
                          <a:latin typeface="Calibri"/>
                        </a:defRPr>
                      </a:pPr>
                      <a:r>
                        <a:t>BB+</a:t>
                      </a:r>
                    </a:p>
                  </a:txBody>
                  <a:tcPr>
                    <a:solidFill>
                      <a:srgbClr val="FFFFFF"/>
                    </a:solidFill>
                  </a:tcPr>
                </a:tc>
                <a:tc>
                  <a:txBody>
                    <a:bodyPr/>
                    <a:lstStyle/>
                    <a:p>
                      <a:pPr algn="r">
                        <a:defRPr sz="900">
                          <a:solidFill>
                            <a:srgbClr val="2D2D3D"/>
                          </a:solidFill>
                          <a:latin typeface="Calibri"/>
                        </a:defRPr>
                      </a:pPr>
                      <a:r>
                        <a:t>50%</a:t>
                      </a:r>
                    </a:p>
                  </a:txBody>
                  <a:tcPr>
                    <a:solidFill>
                      <a:srgbClr val="FFFFFF"/>
                    </a:solidFill>
                  </a:tcPr>
                </a:tc>
                <a:tc>
                  <a:txBody>
                    <a:bodyPr/>
                    <a:lstStyle/>
                    <a:p>
                      <a:pPr algn="r">
                        <a:defRPr sz="900">
                          <a:solidFill>
                            <a:srgbClr val="2D2D3D"/>
                          </a:solidFill>
                          <a:latin typeface="Calibri"/>
                        </a:defRPr>
                      </a:pPr>
                      <a:r>
                        <a:t>143</a:t>
                      </a:r>
                    </a:p>
                  </a:txBody>
                  <a:tcPr>
                    <a:solidFill>
                      <a:srgbClr val="FFFFFF"/>
                    </a:solidFill>
                  </a:tcPr>
                </a:tc>
                <a:tc>
                  <a:txBody>
                    <a:bodyPr/>
                    <a:lstStyle/>
                    <a:p>
                      <a:pPr algn="r">
                        <a:defRPr sz="900">
                          <a:solidFill>
                            <a:srgbClr val="2D2D3D"/>
                          </a:solidFill>
                          <a:latin typeface="Calibri"/>
                        </a:defRPr>
                      </a:pPr>
                      <a:r>
                        <a:t>113.35</a:t>
                      </a:r>
                    </a:p>
                  </a:txBody>
                  <a:tcPr>
                    <a:solidFill>
                      <a:srgbClr val="FFFFFF"/>
                    </a:solidFill>
                  </a:tcPr>
                </a:tc>
                <a:tc>
                  <a:txBody>
                    <a:bodyPr/>
                    <a:lstStyle/>
                    <a:p>
                      <a:pPr algn="r">
                        <a:defRPr sz="900">
                          <a:solidFill>
                            <a:srgbClr val="2D2D3D"/>
                          </a:solidFill>
                          <a:latin typeface="Calibri"/>
                        </a:defRPr>
                      </a:pPr>
                      <a:r>
                        <a:t>111.46</a:t>
                      </a:r>
                    </a:p>
                  </a:txBody>
                  <a:tcPr>
                    <a:solidFill>
                      <a:srgbClr val="FFFFFF"/>
                    </a:solidFill>
                  </a:tcPr>
                </a:tc>
                <a:tc>
                  <a:txBody>
                    <a:bodyPr/>
                    <a:lstStyle/>
                    <a:p>
                      <a:pPr algn="r">
                        <a:defRPr sz="900">
                          <a:solidFill>
                            <a:srgbClr val="2D2D3D"/>
                          </a:solidFill>
                          <a:latin typeface="Calibri"/>
                        </a:defRPr>
                      </a:pPr>
                      <a:r>
                        <a:t>−1.89</a:t>
                      </a:r>
                    </a:p>
                  </a:txBody>
                  <a:tcPr>
                    <a:solidFill>
                      <a:srgbClr val="FFFFFF"/>
                    </a:solidFill>
                  </a:tcPr>
                </a:tc>
                <a:tc>
                  <a:txBody>
                    <a:bodyPr/>
                    <a:lstStyle/>
                    <a:p>
                      <a:pPr algn="r">
                        <a:defRPr sz="900">
                          <a:solidFill>
                            <a:srgbClr val="2D2D3D"/>
                          </a:solidFill>
                          <a:latin typeface="Calibri"/>
                        </a:defRPr>
                      </a:pPr>
                      <a:r>
                        <a:t>84</a:t>
                      </a:r>
                    </a:p>
                  </a:txBody>
                  <a:tcPr>
                    <a:solidFill>
                      <a:srgbClr val="FFFFFF"/>
                    </a:solidFill>
                  </a:tcPr>
                </a:tc>
                <a:tc>
                  <a:txBody>
                    <a:bodyPr/>
                    <a:lstStyle/>
                    <a:p>
                      <a:pPr algn="r">
                        <a:defRPr sz="900">
                          <a:solidFill>
                            <a:srgbClr val="2D2D3D"/>
                          </a:solidFill>
                          <a:latin typeface="Calibri"/>
                        </a:defRPr>
                      </a:pPr>
                      <a:r>
                        <a:t>124</a:t>
                      </a:r>
                    </a:p>
                  </a:txBody>
                  <a:tcPr>
                    <a:solidFill>
                      <a:srgbClr val="FFFFFF"/>
                    </a:solidFill>
                  </a:tcPr>
                </a:tc>
                <a:tc>
                  <a:txBody>
                    <a:bodyPr/>
                    <a:lstStyle/>
                    <a:p>
                      <a:pPr algn="r">
                        <a:defRPr sz="900">
                          <a:solidFill>
                            <a:srgbClr val="2D2D3D"/>
                          </a:solidFill>
                          <a:latin typeface="Calibri"/>
                        </a:defRPr>
                      </a:pPr>
                      <a:r>
                        <a:t>+40</a:t>
                      </a:r>
                    </a:p>
                  </a:txBody>
                  <a:tcPr>
                    <a:solidFill>
                      <a:srgbClr val="FFFFFF"/>
                    </a:solidFill>
                  </a:tcPr>
                </a:tc>
              </a:tr>
              <a:tr h="320039">
                <a:tc>
                  <a:txBody>
                    <a:bodyPr/>
                    <a:lstStyle/>
                    <a:p>
                      <a:pPr algn="l">
                        <a:defRPr sz="900">
                          <a:solidFill>
                            <a:srgbClr val="2D2D3D"/>
                          </a:solidFill>
                          <a:latin typeface="Calibri"/>
                        </a:defRPr>
                      </a:pPr>
                      <a:r>
                        <a:t>BB−</a:t>
                      </a:r>
                    </a:p>
                  </a:txBody>
                  <a:tcPr>
                    <a:solidFill>
                      <a:srgbClr val="E8EBF5"/>
                    </a:solidFill>
                  </a:tcPr>
                </a:tc>
                <a:tc>
                  <a:txBody>
                    <a:bodyPr/>
                    <a:lstStyle/>
                    <a:p>
                      <a:pPr algn="r">
                        <a:defRPr sz="900">
                          <a:solidFill>
                            <a:srgbClr val="2D2D3D"/>
                          </a:solidFill>
                          <a:latin typeface="Calibri"/>
                        </a:defRPr>
                      </a:pPr>
                      <a:r>
                        <a:t>61%</a:t>
                      </a:r>
                    </a:p>
                  </a:txBody>
                  <a:tcPr>
                    <a:solidFill>
                      <a:srgbClr val="E8EBF5"/>
                    </a:solidFill>
                  </a:tcPr>
                </a:tc>
                <a:tc>
                  <a:txBody>
                    <a:bodyPr/>
                    <a:lstStyle/>
                    <a:p>
                      <a:pPr algn="r">
                        <a:defRPr sz="900">
                          <a:solidFill>
                            <a:srgbClr val="2D2D3D"/>
                          </a:solidFill>
                          <a:latin typeface="Calibri"/>
                        </a:defRPr>
                      </a:pPr>
                      <a:r>
                        <a:t>334</a:t>
                      </a:r>
                    </a:p>
                  </a:txBody>
                  <a:tcPr>
                    <a:solidFill>
                      <a:srgbClr val="E8EBF5"/>
                    </a:solidFill>
                  </a:tcPr>
                </a:tc>
                <a:tc>
                  <a:txBody>
                    <a:bodyPr/>
                    <a:lstStyle/>
                    <a:p>
                      <a:pPr algn="r">
                        <a:defRPr sz="900">
                          <a:solidFill>
                            <a:srgbClr val="2D2D3D"/>
                          </a:solidFill>
                          <a:latin typeface="Calibri"/>
                        </a:defRPr>
                      </a:pPr>
                      <a:r>
                        <a:t>107.56</a:t>
                      </a:r>
                    </a:p>
                  </a:txBody>
                  <a:tcPr>
                    <a:solidFill>
                      <a:srgbClr val="E8EBF5"/>
                    </a:solidFill>
                  </a:tcPr>
                </a:tc>
                <a:tc>
                  <a:txBody>
                    <a:bodyPr/>
                    <a:lstStyle/>
                    <a:p>
                      <a:pPr algn="r">
                        <a:defRPr sz="900">
                          <a:solidFill>
                            <a:srgbClr val="2D2D3D"/>
                          </a:solidFill>
                          <a:latin typeface="Calibri"/>
                        </a:defRPr>
                      </a:pPr>
                      <a:r>
                        <a:t>104.88</a:t>
                      </a:r>
                    </a:p>
                  </a:txBody>
                  <a:tcPr>
                    <a:solidFill>
                      <a:srgbClr val="E8EBF5"/>
                    </a:solidFill>
                  </a:tcPr>
                </a:tc>
                <a:tc>
                  <a:txBody>
                    <a:bodyPr/>
                    <a:lstStyle/>
                    <a:p>
                      <a:pPr algn="r">
                        <a:defRPr sz="900">
                          <a:solidFill>
                            <a:srgbClr val="2D2D3D"/>
                          </a:solidFill>
                          <a:latin typeface="Calibri"/>
                        </a:defRPr>
                      </a:pPr>
                      <a:r>
                        <a:t>−2.68</a:t>
                      </a:r>
                    </a:p>
                  </a:txBody>
                  <a:tcPr>
                    <a:solidFill>
                      <a:srgbClr val="E8EBF5"/>
                    </a:solidFill>
                  </a:tcPr>
                </a:tc>
                <a:tc>
                  <a:txBody>
                    <a:bodyPr/>
                    <a:lstStyle/>
                    <a:p>
                      <a:pPr algn="r">
                        <a:defRPr sz="900">
                          <a:solidFill>
                            <a:srgbClr val="2D2D3D"/>
                          </a:solidFill>
                          <a:latin typeface="Calibri"/>
                        </a:defRPr>
                      </a:pPr>
                      <a:r>
                        <a:t>209</a:t>
                      </a:r>
                    </a:p>
                  </a:txBody>
                  <a:tcPr>
                    <a:solidFill>
                      <a:srgbClr val="E8EBF5"/>
                    </a:solidFill>
                  </a:tcPr>
                </a:tc>
                <a:tc>
                  <a:txBody>
                    <a:bodyPr/>
                    <a:lstStyle/>
                    <a:p>
                      <a:pPr algn="r">
                        <a:defRPr sz="900">
                          <a:solidFill>
                            <a:srgbClr val="2D2D3D"/>
                          </a:solidFill>
                          <a:latin typeface="Calibri"/>
                        </a:defRPr>
                      </a:pPr>
                      <a:r>
                        <a:t>269</a:t>
                      </a:r>
                    </a:p>
                  </a:txBody>
                  <a:tcPr>
                    <a:solidFill>
                      <a:srgbClr val="E8EBF5"/>
                    </a:solidFill>
                  </a:tcPr>
                </a:tc>
                <a:tc>
                  <a:txBody>
                    <a:bodyPr/>
                    <a:lstStyle/>
                    <a:p>
                      <a:pPr algn="r">
                        <a:defRPr sz="900">
                          <a:solidFill>
                            <a:srgbClr val="2D2D3D"/>
                          </a:solidFill>
                          <a:latin typeface="Calibri"/>
                        </a:defRPr>
                      </a:pPr>
                      <a:r>
                        <a:t>+60</a:t>
                      </a:r>
                    </a:p>
                  </a:txBody>
                  <a:tcPr>
                    <a:solidFill>
                      <a:srgbClr val="E8EBF5"/>
                    </a:solidFill>
                  </a:tcPr>
                </a:tc>
              </a:tr>
              <a:tr h="320039">
                <a:tc>
                  <a:txBody>
                    <a:bodyPr/>
                    <a:lstStyle/>
                    <a:p>
                      <a:pPr algn="l">
                        <a:defRPr sz="900">
                          <a:solidFill>
                            <a:srgbClr val="2D2D3D"/>
                          </a:solidFill>
                          <a:latin typeface="Calibri"/>
                        </a:defRPr>
                      </a:pPr>
                      <a:r>
                        <a:t>B</a:t>
                      </a:r>
                    </a:p>
                  </a:txBody>
                  <a:tcPr>
                    <a:solidFill>
                      <a:srgbClr val="FFFFFF"/>
                    </a:solidFill>
                  </a:tcPr>
                </a:tc>
                <a:tc>
                  <a:txBody>
                    <a:bodyPr/>
                    <a:lstStyle/>
                    <a:p>
                      <a:pPr algn="r">
                        <a:defRPr sz="900">
                          <a:solidFill>
                            <a:srgbClr val="2D2D3D"/>
                          </a:solidFill>
                          <a:latin typeface="Calibri"/>
                        </a:defRPr>
                      </a:pPr>
                      <a:r>
                        <a:t>71%</a:t>
                      </a:r>
                    </a:p>
                  </a:txBody>
                  <a:tcPr>
                    <a:solidFill>
                      <a:srgbClr val="FFFFFF"/>
                    </a:solidFill>
                  </a:tcPr>
                </a:tc>
                <a:tc>
                  <a:txBody>
                    <a:bodyPr/>
                    <a:lstStyle/>
                    <a:p>
                      <a:pPr algn="r">
                        <a:defRPr sz="900">
                          <a:solidFill>
                            <a:srgbClr val="2D2D3D"/>
                          </a:solidFill>
                          <a:latin typeface="Calibri"/>
                        </a:defRPr>
                      </a:pPr>
                      <a:r>
                        <a:t>591</a:t>
                      </a:r>
                    </a:p>
                  </a:txBody>
                  <a:tcPr>
                    <a:solidFill>
                      <a:srgbClr val="FFFFFF"/>
                    </a:solidFill>
                  </a:tcPr>
                </a:tc>
                <a:tc>
                  <a:txBody>
                    <a:bodyPr/>
                    <a:lstStyle/>
                    <a:p>
                      <a:pPr algn="r">
                        <a:defRPr sz="900">
                          <a:solidFill>
                            <a:srgbClr val="2D2D3D"/>
                          </a:solidFill>
                          <a:latin typeface="Calibri"/>
                        </a:defRPr>
                      </a:pPr>
                      <a:r>
                        <a:t>99.76</a:t>
                      </a:r>
                    </a:p>
                  </a:txBody>
                  <a:tcPr>
                    <a:solidFill>
                      <a:srgbClr val="FFFFFF"/>
                    </a:solidFill>
                  </a:tcPr>
                </a:tc>
                <a:tc>
                  <a:txBody>
                    <a:bodyPr/>
                    <a:lstStyle/>
                    <a:p>
                      <a:pPr algn="r">
                        <a:defRPr sz="900">
                          <a:solidFill>
                            <a:srgbClr val="2D2D3D"/>
                          </a:solidFill>
                          <a:latin typeface="Calibri"/>
                        </a:defRPr>
                      </a:pPr>
                      <a:r>
                        <a:t>96.05</a:t>
                      </a:r>
                    </a:p>
                  </a:txBody>
                  <a:tcPr>
                    <a:solidFill>
                      <a:srgbClr val="FFFFFF"/>
                    </a:solidFill>
                  </a:tcPr>
                </a:tc>
                <a:tc>
                  <a:txBody>
                    <a:bodyPr/>
                    <a:lstStyle/>
                    <a:p>
                      <a:pPr algn="r">
                        <a:defRPr sz="900">
                          <a:solidFill>
                            <a:srgbClr val="2D2D3D"/>
                          </a:solidFill>
                          <a:latin typeface="Calibri"/>
                        </a:defRPr>
                      </a:pPr>
                      <a:r>
                        <a:t>−3.71</a:t>
                      </a:r>
                    </a:p>
                  </a:txBody>
                  <a:tcPr>
                    <a:solidFill>
                      <a:srgbClr val="FFFFFF"/>
                    </a:solidFill>
                  </a:tcPr>
                </a:tc>
                <a:tc>
                  <a:txBody>
                    <a:bodyPr/>
                    <a:lstStyle/>
                    <a:p>
                      <a:pPr algn="r">
                        <a:defRPr sz="900">
                          <a:solidFill>
                            <a:srgbClr val="2D2D3D"/>
                          </a:solidFill>
                          <a:latin typeface="Calibri"/>
                        </a:defRPr>
                      </a:pPr>
                      <a:r>
                        <a:t>388</a:t>
                      </a:r>
                    </a:p>
                  </a:txBody>
                  <a:tcPr>
                    <a:solidFill>
                      <a:srgbClr val="FFFFFF"/>
                    </a:solidFill>
                  </a:tcPr>
                </a:tc>
                <a:tc>
                  <a:txBody>
                    <a:bodyPr/>
                    <a:lstStyle/>
                    <a:p>
                      <a:pPr algn="r">
                        <a:defRPr sz="900">
                          <a:solidFill>
                            <a:srgbClr val="2D2D3D"/>
                          </a:solidFill>
                          <a:latin typeface="Calibri"/>
                        </a:defRPr>
                      </a:pPr>
                      <a:r>
                        <a:t>479</a:t>
                      </a:r>
                    </a:p>
                  </a:txBody>
                  <a:tcPr>
                    <a:solidFill>
                      <a:srgbClr val="FFFFFF"/>
                    </a:solidFill>
                  </a:tcPr>
                </a:tc>
                <a:tc>
                  <a:txBody>
                    <a:bodyPr/>
                    <a:lstStyle/>
                    <a:p>
                      <a:pPr algn="r">
                        <a:defRPr sz="900">
                          <a:solidFill>
                            <a:srgbClr val="2D2D3D"/>
                          </a:solidFill>
                          <a:latin typeface="Calibri"/>
                        </a:defRPr>
                      </a:pPr>
                      <a:r>
                        <a:t>+91</a:t>
                      </a:r>
                    </a:p>
                  </a:txBody>
                  <a:tcPr>
                    <a:solidFill>
                      <a:srgbClr val="FFFFFF"/>
                    </a:solidFill>
                  </a:tcPr>
                </a:tc>
              </a:tr>
              <a:tr h="320039">
                <a:tc>
                  <a:txBody>
                    <a:bodyPr/>
                    <a:lstStyle/>
                    <a:p>
                      <a:pPr algn="l">
                        <a:defRPr sz="900">
                          <a:solidFill>
                            <a:srgbClr val="2D2D3D"/>
                          </a:solidFill>
                          <a:latin typeface="Calibri"/>
                        </a:defRPr>
                      </a:pPr>
                      <a:r>
                        <a:t>B−</a:t>
                      </a:r>
                    </a:p>
                  </a:txBody>
                  <a:tcPr>
                    <a:solidFill>
                      <a:srgbClr val="E8EBF5"/>
                    </a:solidFill>
                  </a:tcPr>
                </a:tc>
                <a:tc>
                  <a:txBody>
                    <a:bodyPr/>
                    <a:lstStyle/>
                    <a:p>
                      <a:pPr algn="r">
                        <a:defRPr sz="900">
                          <a:solidFill>
                            <a:srgbClr val="2D2D3D"/>
                          </a:solidFill>
                          <a:latin typeface="Calibri"/>
                        </a:defRPr>
                      </a:pPr>
                      <a:r>
                        <a:t>80%</a:t>
                      </a:r>
                    </a:p>
                  </a:txBody>
                  <a:tcPr>
                    <a:solidFill>
                      <a:srgbClr val="E8EBF5"/>
                    </a:solidFill>
                  </a:tcPr>
                </a:tc>
                <a:tc>
                  <a:txBody>
                    <a:bodyPr/>
                    <a:lstStyle/>
                    <a:p>
                      <a:pPr algn="r">
                        <a:defRPr sz="900">
                          <a:solidFill>
                            <a:srgbClr val="2D2D3D"/>
                          </a:solidFill>
                          <a:latin typeface="Calibri"/>
                        </a:defRPr>
                      </a:pPr>
                      <a:r>
                        <a:t>911</a:t>
                      </a:r>
                    </a:p>
                  </a:txBody>
                  <a:tcPr>
                    <a:solidFill>
                      <a:srgbClr val="E8EBF5"/>
                    </a:solidFill>
                  </a:tcPr>
                </a:tc>
                <a:tc>
                  <a:txBody>
                    <a:bodyPr/>
                    <a:lstStyle/>
                    <a:p>
                      <a:pPr algn="r">
                        <a:defRPr sz="900">
                          <a:solidFill>
                            <a:srgbClr val="2D2D3D"/>
                          </a:solidFill>
                          <a:latin typeface="Calibri"/>
                        </a:defRPr>
                      </a:pPr>
                      <a:r>
                        <a:t>90.33</a:t>
                      </a:r>
                    </a:p>
                  </a:txBody>
                  <a:tcPr>
                    <a:solidFill>
                      <a:srgbClr val="E8EBF5"/>
                    </a:solidFill>
                  </a:tcPr>
                </a:tc>
                <a:tc>
                  <a:txBody>
                    <a:bodyPr/>
                    <a:lstStyle/>
                    <a:p>
                      <a:pPr algn="r">
                        <a:defRPr sz="900">
                          <a:solidFill>
                            <a:srgbClr val="2D2D3D"/>
                          </a:solidFill>
                          <a:latin typeface="Calibri"/>
                        </a:defRPr>
                      </a:pPr>
                      <a:r>
                        <a:t>85.40</a:t>
                      </a:r>
                    </a:p>
                  </a:txBody>
                  <a:tcPr>
                    <a:solidFill>
                      <a:srgbClr val="E8EBF5"/>
                    </a:solidFill>
                  </a:tcPr>
                </a:tc>
                <a:tc>
                  <a:txBody>
                    <a:bodyPr/>
                    <a:lstStyle/>
                    <a:p>
                      <a:pPr algn="r">
                        <a:defRPr sz="900">
                          <a:solidFill>
                            <a:srgbClr val="2D2D3D"/>
                          </a:solidFill>
                          <a:latin typeface="Calibri"/>
                        </a:defRPr>
                      </a:pPr>
                      <a:r>
                        <a:t>−4.93</a:t>
                      </a:r>
                    </a:p>
                  </a:txBody>
                  <a:tcPr>
                    <a:solidFill>
                      <a:srgbClr val="E8EBF5"/>
                    </a:solidFill>
                  </a:tcPr>
                </a:tc>
                <a:tc>
                  <a:txBody>
                    <a:bodyPr/>
                    <a:lstStyle/>
                    <a:p>
                      <a:pPr algn="r">
                        <a:defRPr sz="900">
                          <a:solidFill>
                            <a:srgbClr val="2D2D3D"/>
                          </a:solidFill>
                          <a:latin typeface="Calibri"/>
                        </a:defRPr>
                      </a:pPr>
                      <a:r>
                        <a:t>627</a:t>
                      </a:r>
                    </a:p>
                  </a:txBody>
                  <a:tcPr>
                    <a:solidFill>
                      <a:srgbClr val="E8EBF5"/>
                    </a:solidFill>
                  </a:tcPr>
                </a:tc>
                <a:tc>
                  <a:txBody>
                    <a:bodyPr/>
                    <a:lstStyle/>
                    <a:p>
                      <a:pPr algn="r">
                        <a:defRPr sz="900">
                          <a:solidFill>
                            <a:srgbClr val="2D2D3D"/>
                          </a:solidFill>
                          <a:latin typeface="Calibri"/>
                        </a:defRPr>
                      </a:pPr>
                      <a:r>
                        <a:t>764</a:t>
                      </a:r>
                    </a:p>
                  </a:txBody>
                  <a:tcPr>
                    <a:solidFill>
                      <a:srgbClr val="E8EBF5"/>
                    </a:solidFill>
                  </a:tcPr>
                </a:tc>
                <a:tc>
                  <a:txBody>
                    <a:bodyPr/>
                    <a:lstStyle/>
                    <a:p>
                      <a:pPr algn="r">
                        <a:defRPr sz="900">
                          <a:solidFill>
                            <a:srgbClr val="2D2D3D"/>
                          </a:solidFill>
                          <a:latin typeface="Calibri"/>
                        </a:defRPr>
                      </a:pPr>
                      <a:r>
                        <a:t>+137</a:t>
                      </a:r>
                    </a:p>
                  </a:txBody>
                  <a:tcPr>
                    <a:solidFill>
                      <a:srgbClr val="E8EBF5"/>
                    </a:solidFill>
                  </a:tcPr>
                </a:tc>
              </a:tr>
              <a:tr h="320044">
                <a:tc>
                  <a:txBody>
                    <a:bodyPr/>
                    <a:lstStyle/>
                    <a:p>
                      <a:pPr algn="l">
                        <a:defRPr sz="900">
                          <a:solidFill>
                            <a:srgbClr val="2D2D3D"/>
                          </a:solidFill>
                          <a:latin typeface="Calibri"/>
                        </a:defRPr>
                      </a:pPr>
                      <a:r>
                        <a:t>CCC</a:t>
                      </a:r>
                    </a:p>
                  </a:txBody>
                  <a:tcPr>
                    <a:solidFill>
                      <a:srgbClr val="FFFFFF"/>
                    </a:solidFill>
                  </a:tcPr>
                </a:tc>
                <a:tc>
                  <a:txBody>
                    <a:bodyPr/>
                    <a:lstStyle/>
                    <a:p>
                      <a:pPr algn="r">
                        <a:defRPr sz="900">
                          <a:solidFill>
                            <a:srgbClr val="2D2D3D"/>
                          </a:solidFill>
                          <a:latin typeface="Calibri"/>
                        </a:defRPr>
                      </a:pPr>
                      <a:r>
                        <a:t>87%</a:t>
                      </a:r>
                    </a:p>
                  </a:txBody>
                  <a:tcPr>
                    <a:solidFill>
                      <a:srgbClr val="FFFFFF"/>
                    </a:solidFill>
                  </a:tcPr>
                </a:tc>
                <a:tc>
                  <a:txBody>
                    <a:bodyPr/>
                    <a:lstStyle/>
                    <a:p>
                      <a:pPr algn="r">
                        <a:defRPr sz="900">
                          <a:solidFill>
                            <a:srgbClr val="2D2D3D"/>
                          </a:solidFill>
                          <a:latin typeface="Calibri"/>
                        </a:defRPr>
                      </a:pPr>
                      <a:r>
                        <a:t>1468</a:t>
                      </a:r>
                    </a:p>
                  </a:txBody>
                  <a:tcPr>
                    <a:solidFill>
                      <a:srgbClr val="FFFFFF"/>
                    </a:solidFill>
                  </a:tcPr>
                </a:tc>
                <a:tc>
                  <a:txBody>
                    <a:bodyPr/>
                    <a:lstStyle/>
                    <a:p>
                      <a:pPr algn="r">
                        <a:defRPr sz="900">
                          <a:solidFill>
                            <a:srgbClr val="2D2D3D"/>
                          </a:solidFill>
                          <a:latin typeface="Calibri"/>
                        </a:defRPr>
                      </a:pPr>
                      <a:r>
                        <a:t>76.13</a:t>
                      </a:r>
                    </a:p>
                  </a:txBody>
                  <a:tcPr>
                    <a:solidFill>
                      <a:srgbClr val="FFFFFF"/>
                    </a:solidFill>
                  </a:tcPr>
                </a:tc>
                <a:tc>
                  <a:txBody>
                    <a:bodyPr/>
                    <a:lstStyle/>
                    <a:p>
                      <a:pPr algn="r">
                        <a:defRPr sz="900">
                          <a:solidFill>
                            <a:srgbClr val="2D2D3D"/>
                          </a:solidFill>
                          <a:latin typeface="Calibri"/>
                        </a:defRPr>
                      </a:pPr>
                      <a:r>
                        <a:t>69.59</a:t>
                      </a:r>
                    </a:p>
                  </a:txBody>
                  <a:tcPr>
                    <a:solidFill>
                      <a:srgbClr val="FFFFFF"/>
                    </a:solidFill>
                  </a:tcPr>
                </a:tc>
                <a:tc>
                  <a:txBody>
                    <a:bodyPr/>
                    <a:lstStyle/>
                    <a:p>
                      <a:pPr algn="r">
                        <a:defRPr sz="900">
                          <a:solidFill>
                            <a:srgbClr val="2D2D3D"/>
                          </a:solidFill>
                          <a:latin typeface="Calibri"/>
                        </a:defRPr>
                      </a:pPr>
                      <a:r>
                        <a:t>−6.54</a:t>
                      </a:r>
                    </a:p>
                  </a:txBody>
                  <a:tcPr>
                    <a:solidFill>
                      <a:srgbClr val="FFFFFF"/>
                    </a:solidFill>
                  </a:tcPr>
                </a:tc>
                <a:tc>
                  <a:txBody>
                    <a:bodyPr/>
                    <a:lstStyle/>
                    <a:p>
                      <a:pPr algn="r">
                        <a:defRPr sz="900">
                          <a:solidFill>
                            <a:srgbClr val="2D2D3D"/>
                          </a:solidFill>
                          <a:latin typeface="Calibri"/>
                        </a:defRPr>
                      </a:pPr>
                      <a:r>
                        <a:t>1047</a:t>
                      </a:r>
                    </a:p>
                  </a:txBody>
                  <a:tcPr>
                    <a:solidFill>
                      <a:srgbClr val="FFFFFF"/>
                    </a:solidFill>
                  </a:tcPr>
                </a:tc>
                <a:tc>
                  <a:txBody>
                    <a:bodyPr/>
                    <a:lstStyle/>
                    <a:p>
                      <a:pPr algn="r">
                        <a:defRPr sz="900">
                          <a:solidFill>
                            <a:srgbClr val="2D2D3D"/>
                          </a:solidFill>
                          <a:latin typeface="Calibri"/>
                        </a:defRPr>
                      </a:pPr>
                      <a:r>
                        <a:t>1271</a:t>
                      </a:r>
                    </a:p>
                  </a:txBody>
                  <a:tcPr>
                    <a:solidFill>
                      <a:srgbClr val="FFFFFF"/>
                    </a:solidFill>
                  </a:tcPr>
                </a:tc>
                <a:tc>
                  <a:txBody>
                    <a:bodyPr/>
                    <a:lstStyle/>
                    <a:p>
                      <a:pPr algn="r">
                        <a:defRPr sz="900">
                          <a:solidFill>
                            <a:srgbClr val="2D2D3D"/>
                          </a:solidFill>
                          <a:latin typeface="Calibri"/>
                        </a:defRPr>
                      </a:pPr>
                      <a:r>
                        <a:t>+224</a:t>
                      </a:r>
                    </a:p>
                  </a:txBody>
                  <a:tcPr>
                    <a:solidFill>
                      <a:srgbClr val="FFFFFF"/>
                    </a:solidFill>
                  </a:tcPr>
                </a:tc>
              </a:tr>
            </a:tbl>
          </a:graphicData>
        </a:graphic>
      </p:graphicFrame>
      <p:sp>
        <p:nvSpPr>
          <p:cNvPr id="16" name="Rounded Rectangle 15"/>
          <p:cNvSpPr/>
          <p:nvPr/>
        </p:nvSpPr>
        <p:spPr>
          <a:xfrm>
            <a:off x="914400" y="5943600"/>
            <a:ext cx="7315200" cy="548640"/>
          </a:xfrm>
          <a:prstGeom prst="roundRect">
            <a:avLst/>
          </a:prstGeom>
          <a:solidFill>
            <a:srgbClr val="2C3E6B"/>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100" b="1">
                <a:solidFill>
                  <a:srgbClr val="FFFFFF"/>
                </a:solidFill>
                <a:latin typeface="Calibri"/>
              </a:defRPr>
            </a:pPr>
            <a:r>
              <a:t>Under HR: PIK always trades wider because the inflated terminal notional is discounted by S(T), the lowest survival probability in the term structure. The penalty grows with λ.</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HR Model: Parameter Sensitivity</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How maturity, coupon rate, and recovery affect ΔZ</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5/16</a:t>
            </a:r>
          </a:p>
        </p:txBody>
      </p:sp>
      <p:sp>
        <p:nvSpPr>
          <p:cNvPr id="6" name="TextBox 5"/>
          <p:cNvSpPr txBox="1"/>
          <p:nvPr/>
        </p:nvSpPr>
        <p:spPr>
          <a:xfrm>
            <a:off x="274320" y="1005840"/>
            <a:ext cx="2743200" cy="228600"/>
          </a:xfrm>
          <a:prstGeom prst="rect">
            <a:avLst/>
          </a:prstGeom>
          <a:noFill/>
        </p:spPr>
        <p:txBody>
          <a:bodyPr wrap="square">
            <a:spAutoFit/>
          </a:bodyPr>
          <a:lstStyle/>
          <a:p>
            <a:pPr algn="l">
              <a:defRPr sz="1200" b="1">
                <a:solidFill>
                  <a:srgbClr val="2C3E6B"/>
                </a:solidFill>
                <a:latin typeface="Calibri"/>
              </a:defRPr>
            </a:pPr>
            <a:r>
              <a:t>Maturity Sensitivity (B−, λ=630bp)</a:t>
            </a:r>
          </a:p>
        </p:txBody>
      </p:sp>
      <p:graphicFrame>
        <p:nvGraphicFramePr>
          <p:cNvPr id="7" name="Table 6"/>
          <p:cNvGraphicFramePr>
            <a:graphicFrameLocks noGrp="1"/>
          </p:cNvGraphicFramePr>
          <p:nvPr/>
        </p:nvGraphicFramePr>
        <p:xfrm>
          <a:off x="274320" y="1325880"/>
          <a:ext cx="2651760" cy="1280160"/>
        </p:xfrm>
        <a:graphic>
          <a:graphicData uri="http://schemas.openxmlformats.org/drawingml/2006/table">
            <a:tbl>
              <a:tblPr firstRow="1" bandRow="1">
                <a:tableStyleId>{5C22544A-7EE6-4342-B048-85BDC9FD1C3A}</a:tableStyleId>
              </a:tblPr>
              <a:tblGrid>
                <a:gridCol w="548640"/>
                <a:gridCol w="731520"/>
                <a:gridCol w="731520"/>
                <a:gridCol w="640080"/>
              </a:tblGrid>
              <a:tr h="320040">
                <a:tc>
                  <a:txBody>
                    <a:bodyPr/>
                    <a:lstStyle/>
                    <a:p>
                      <a:pPr algn="ctr">
                        <a:defRPr sz="1000" b="1">
                          <a:solidFill>
                            <a:srgbClr val="FFFFFF"/>
                          </a:solidFill>
                          <a:latin typeface="Calibri"/>
                        </a:defRPr>
                      </a:pPr>
                      <a:r>
                        <a:t>Maturity</a:t>
                      </a:r>
                    </a:p>
                  </a:txBody>
                  <a:tcPr>
                    <a:solidFill>
                      <a:srgbClr val="2C3E6B"/>
                    </a:solidFill>
                  </a:tcPr>
                </a:tc>
                <a:tc>
                  <a:txBody>
                    <a:bodyPr/>
                    <a:lstStyle/>
                    <a:p>
                      <a:pPr algn="ctr">
                        <a:defRPr sz="1000" b="1">
                          <a:solidFill>
                            <a:srgbClr val="FFFFFF"/>
                          </a:solidFill>
                          <a:latin typeface="Calibri"/>
                        </a:defRPr>
                      </a:pPr>
                      <a:r>
                        <a:t>Cash Z</a:t>
                      </a:r>
                    </a:p>
                  </a:txBody>
                  <a:tcPr>
                    <a:solidFill>
                      <a:srgbClr val="2C3E6B"/>
                    </a:solidFill>
                  </a:tcPr>
                </a:tc>
                <a:tc>
                  <a:txBody>
                    <a:bodyPr/>
                    <a:lstStyle/>
                    <a:p>
                      <a:pPr algn="ctr">
                        <a:defRPr sz="1000" b="1">
                          <a:solidFill>
                            <a:srgbClr val="FFFFFF"/>
                          </a:solidFill>
                          <a:latin typeface="Calibri"/>
                        </a:defRPr>
                      </a:pPr>
                      <a:r>
                        <a:t>PIK Z</a:t>
                      </a:r>
                    </a:p>
                  </a:txBody>
                  <a:tcPr>
                    <a:solidFill>
                      <a:srgbClr val="2C3E6B"/>
                    </a:solidFill>
                  </a:tcPr>
                </a:tc>
                <a:tc>
                  <a:txBody>
                    <a:bodyPr/>
                    <a:lstStyle/>
                    <a:p>
                      <a:pPr algn="ctr">
                        <a:defRPr sz="1000" b="1">
                          <a:solidFill>
                            <a:srgbClr val="FFFFFF"/>
                          </a:solidFill>
                          <a:latin typeface="Calibri"/>
                        </a:defRPr>
                      </a:pPr>
                      <a:r>
                        <a:t>ΔZ</a:t>
                      </a:r>
                    </a:p>
                  </a:txBody>
                  <a:tcPr>
                    <a:solidFill>
                      <a:srgbClr val="2C3E6B"/>
                    </a:solidFill>
                  </a:tcPr>
                </a:tc>
              </a:tr>
              <a:tr h="320040">
                <a:tc>
                  <a:txBody>
                    <a:bodyPr/>
                    <a:lstStyle/>
                    <a:p>
                      <a:pPr algn="l">
                        <a:defRPr sz="1000">
                          <a:solidFill>
                            <a:srgbClr val="2D2D3D"/>
                          </a:solidFill>
                          <a:latin typeface="Calibri"/>
                        </a:defRPr>
                      </a:pPr>
                      <a:r>
                        <a:t>3Y</a:t>
                      </a:r>
                    </a:p>
                  </a:txBody>
                  <a:tcPr>
                    <a:solidFill>
                      <a:srgbClr val="FFFFFF"/>
                    </a:solidFill>
                  </a:tcPr>
                </a:tc>
                <a:tc>
                  <a:txBody>
                    <a:bodyPr/>
                    <a:lstStyle/>
                    <a:p>
                      <a:pPr algn="r">
                        <a:defRPr sz="1000">
                          <a:solidFill>
                            <a:srgbClr val="2D2D3D"/>
                          </a:solidFill>
                          <a:latin typeface="Calibri"/>
                        </a:defRPr>
                      </a:pPr>
                      <a:r>
                        <a:t>636bp</a:t>
                      </a:r>
                    </a:p>
                  </a:txBody>
                  <a:tcPr>
                    <a:solidFill>
                      <a:srgbClr val="FFFFFF"/>
                    </a:solidFill>
                  </a:tcPr>
                </a:tc>
                <a:tc>
                  <a:txBody>
                    <a:bodyPr/>
                    <a:lstStyle/>
                    <a:p>
                      <a:pPr algn="r">
                        <a:defRPr sz="1000">
                          <a:solidFill>
                            <a:srgbClr val="2D2D3D"/>
                          </a:solidFill>
                          <a:latin typeface="Calibri"/>
                        </a:defRPr>
                      </a:pPr>
                      <a:r>
                        <a:t>691bp</a:t>
                      </a:r>
                    </a:p>
                  </a:txBody>
                  <a:tcPr>
                    <a:solidFill>
                      <a:srgbClr val="FFFFFF"/>
                    </a:solidFill>
                  </a:tcPr>
                </a:tc>
                <a:tc>
                  <a:txBody>
                    <a:bodyPr/>
                    <a:lstStyle/>
                    <a:p>
                      <a:pPr algn="r">
                        <a:defRPr sz="1000">
                          <a:solidFill>
                            <a:srgbClr val="2D2D3D"/>
                          </a:solidFill>
                          <a:latin typeface="Calibri"/>
                        </a:defRPr>
                      </a:pPr>
                      <a:r>
                        <a:t>+55bp</a:t>
                      </a:r>
                    </a:p>
                  </a:txBody>
                  <a:tcPr>
                    <a:solidFill>
                      <a:srgbClr val="FFFFFF"/>
                    </a:solidFill>
                  </a:tcPr>
                </a:tc>
              </a:tr>
              <a:tr h="320040">
                <a:tc>
                  <a:txBody>
                    <a:bodyPr/>
                    <a:lstStyle/>
                    <a:p>
                      <a:pPr algn="l">
                        <a:defRPr sz="1000">
                          <a:solidFill>
                            <a:srgbClr val="2D2D3D"/>
                          </a:solidFill>
                          <a:latin typeface="Calibri"/>
                        </a:defRPr>
                      </a:pPr>
                      <a:r>
                        <a:t>5Y</a:t>
                      </a:r>
                    </a:p>
                  </a:txBody>
                  <a:tcPr>
                    <a:solidFill>
                      <a:srgbClr val="E8EBF5"/>
                    </a:solidFill>
                  </a:tcPr>
                </a:tc>
                <a:tc>
                  <a:txBody>
                    <a:bodyPr/>
                    <a:lstStyle/>
                    <a:p>
                      <a:pPr algn="r">
                        <a:defRPr sz="1000">
                          <a:solidFill>
                            <a:srgbClr val="2D2D3D"/>
                          </a:solidFill>
                          <a:latin typeface="Calibri"/>
                        </a:defRPr>
                      </a:pPr>
                      <a:r>
                        <a:t>630bp</a:t>
                      </a:r>
                    </a:p>
                  </a:txBody>
                  <a:tcPr>
                    <a:solidFill>
                      <a:srgbClr val="E8EBF5"/>
                    </a:solidFill>
                  </a:tcPr>
                </a:tc>
                <a:tc>
                  <a:txBody>
                    <a:bodyPr/>
                    <a:lstStyle/>
                    <a:p>
                      <a:pPr algn="r">
                        <a:defRPr sz="1000">
                          <a:solidFill>
                            <a:srgbClr val="2D2D3D"/>
                          </a:solidFill>
                          <a:latin typeface="Calibri"/>
                        </a:defRPr>
                      </a:pPr>
                      <a:r>
                        <a:t>730bp</a:t>
                      </a:r>
                    </a:p>
                  </a:txBody>
                  <a:tcPr>
                    <a:solidFill>
                      <a:srgbClr val="E8EBF5"/>
                    </a:solidFill>
                  </a:tcPr>
                </a:tc>
                <a:tc>
                  <a:txBody>
                    <a:bodyPr/>
                    <a:lstStyle/>
                    <a:p>
                      <a:pPr algn="r">
                        <a:defRPr sz="1000">
                          <a:solidFill>
                            <a:srgbClr val="2D2D3D"/>
                          </a:solidFill>
                          <a:latin typeface="Calibri"/>
                        </a:defRPr>
                      </a:pPr>
                      <a:r>
                        <a:t>+100bp</a:t>
                      </a:r>
                    </a:p>
                  </a:txBody>
                  <a:tcPr>
                    <a:solidFill>
                      <a:srgbClr val="E8EBF5"/>
                    </a:solidFill>
                  </a:tcPr>
                </a:tc>
              </a:tr>
              <a:tr h="320040">
                <a:tc>
                  <a:txBody>
                    <a:bodyPr/>
                    <a:lstStyle/>
                    <a:p>
                      <a:pPr algn="l">
                        <a:defRPr sz="1000">
                          <a:solidFill>
                            <a:srgbClr val="2D2D3D"/>
                          </a:solidFill>
                          <a:latin typeface="Calibri"/>
                        </a:defRPr>
                      </a:pPr>
                      <a:r>
                        <a:t>7Y</a:t>
                      </a:r>
                    </a:p>
                  </a:txBody>
                  <a:tcPr>
                    <a:solidFill>
                      <a:srgbClr val="FFFFFF"/>
                    </a:solidFill>
                  </a:tcPr>
                </a:tc>
                <a:tc>
                  <a:txBody>
                    <a:bodyPr/>
                    <a:lstStyle/>
                    <a:p>
                      <a:pPr algn="r">
                        <a:defRPr sz="1000">
                          <a:solidFill>
                            <a:srgbClr val="2D2D3D"/>
                          </a:solidFill>
                          <a:latin typeface="Calibri"/>
                        </a:defRPr>
                      </a:pPr>
                      <a:r>
                        <a:t>624bp</a:t>
                      </a:r>
                    </a:p>
                  </a:txBody>
                  <a:tcPr>
                    <a:solidFill>
                      <a:srgbClr val="FFFFFF"/>
                    </a:solidFill>
                  </a:tcPr>
                </a:tc>
                <a:tc>
                  <a:txBody>
                    <a:bodyPr/>
                    <a:lstStyle/>
                    <a:p>
                      <a:pPr algn="r">
                        <a:defRPr sz="1000">
                          <a:solidFill>
                            <a:srgbClr val="2D2D3D"/>
                          </a:solidFill>
                          <a:latin typeface="Calibri"/>
                        </a:defRPr>
                      </a:pPr>
                      <a:r>
                        <a:t>772bp</a:t>
                      </a:r>
                    </a:p>
                  </a:txBody>
                  <a:tcPr>
                    <a:solidFill>
                      <a:srgbClr val="FFFFFF"/>
                    </a:solidFill>
                  </a:tcPr>
                </a:tc>
                <a:tc>
                  <a:txBody>
                    <a:bodyPr/>
                    <a:lstStyle/>
                    <a:p>
                      <a:pPr algn="r">
                        <a:defRPr sz="1000">
                          <a:solidFill>
                            <a:srgbClr val="2D2D3D"/>
                          </a:solidFill>
                          <a:latin typeface="Calibri"/>
                        </a:defRPr>
                      </a:pPr>
                      <a:r>
                        <a:t>+148bp</a:t>
                      </a:r>
                    </a:p>
                  </a:txBody>
                  <a:tcPr>
                    <a:solidFill>
                      <a:srgbClr val="FFFFFF"/>
                    </a:solidFill>
                  </a:tcPr>
                </a:tc>
              </a:tr>
            </a:tbl>
          </a:graphicData>
        </a:graphic>
      </p:graphicFrame>
      <p:sp>
        <p:nvSpPr>
          <p:cNvPr id="8" name="TextBox 7"/>
          <p:cNvSpPr txBox="1"/>
          <p:nvPr/>
        </p:nvSpPr>
        <p:spPr>
          <a:xfrm>
            <a:off x="3200400" y="1005840"/>
            <a:ext cx="2743200" cy="228600"/>
          </a:xfrm>
          <a:prstGeom prst="rect">
            <a:avLst/>
          </a:prstGeom>
          <a:noFill/>
        </p:spPr>
        <p:txBody>
          <a:bodyPr wrap="square">
            <a:spAutoFit/>
          </a:bodyPr>
          <a:lstStyle/>
          <a:p>
            <a:pPr algn="l">
              <a:defRPr sz="1200" b="1">
                <a:solidFill>
                  <a:srgbClr val="2C3E6B"/>
                </a:solidFill>
                <a:latin typeface="Calibri"/>
              </a:defRPr>
            </a:pPr>
            <a:r>
              <a:t>Coupon Sensitivity (B−, 5Y)</a:t>
            </a:r>
          </a:p>
        </p:txBody>
      </p:sp>
      <p:graphicFrame>
        <p:nvGraphicFramePr>
          <p:cNvPr id="9" name="Table 8"/>
          <p:cNvGraphicFramePr>
            <a:graphicFrameLocks noGrp="1"/>
          </p:cNvGraphicFramePr>
          <p:nvPr/>
        </p:nvGraphicFramePr>
        <p:xfrm>
          <a:off x="3200400" y="1325880"/>
          <a:ext cx="2651760" cy="1280160"/>
        </p:xfrm>
        <a:graphic>
          <a:graphicData uri="http://schemas.openxmlformats.org/drawingml/2006/table">
            <a:tbl>
              <a:tblPr firstRow="1" bandRow="1">
                <a:tableStyleId>{5C22544A-7EE6-4342-B048-85BDC9FD1C3A}</a:tableStyleId>
              </a:tblPr>
              <a:tblGrid>
                <a:gridCol w="548640"/>
                <a:gridCol w="731520"/>
                <a:gridCol w="731520"/>
                <a:gridCol w="640080"/>
              </a:tblGrid>
              <a:tr h="320040">
                <a:tc>
                  <a:txBody>
                    <a:bodyPr/>
                    <a:lstStyle/>
                    <a:p>
                      <a:pPr algn="ctr">
                        <a:defRPr sz="1000" b="1">
                          <a:solidFill>
                            <a:srgbClr val="FFFFFF"/>
                          </a:solidFill>
                          <a:latin typeface="Calibri"/>
                        </a:defRPr>
                      </a:pPr>
                      <a:r>
                        <a:t>Coupon</a:t>
                      </a:r>
                    </a:p>
                  </a:txBody>
                  <a:tcPr>
                    <a:solidFill>
                      <a:srgbClr val="2C3E6B"/>
                    </a:solidFill>
                  </a:tcPr>
                </a:tc>
                <a:tc>
                  <a:txBody>
                    <a:bodyPr/>
                    <a:lstStyle/>
                    <a:p>
                      <a:pPr algn="ctr">
                        <a:defRPr sz="1000" b="1">
                          <a:solidFill>
                            <a:srgbClr val="FFFFFF"/>
                          </a:solidFill>
                          <a:latin typeface="Calibri"/>
                        </a:defRPr>
                      </a:pPr>
                      <a:r>
                        <a:t>Cash Z</a:t>
                      </a:r>
                    </a:p>
                  </a:txBody>
                  <a:tcPr>
                    <a:solidFill>
                      <a:srgbClr val="2C3E6B"/>
                    </a:solidFill>
                  </a:tcPr>
                </a:tc>
                <a:tc>
                  <a:txBody>
                    <a:bodyPr/>
                    <a:lstStyle/>
                    <a:p>
                      <a:pPr algn="ctr">
                        <a:defRPr sz="1000" b="1">
                          <a:solidFill>
                            <a:srgbClr val="FFFFFF"/>
                          </a:solidFill>
                          <a:latin typeface="Calibri"/>
                        </a:defRPr>
                      </a:pPr>
                      <a:r>
                        <a:t>PIK Z</a:t>
                      </a:r>
                    </a:p>
                  </a:txBody>
                  <a:tcPr>
                    <a:solidFill>
                      <a:srgbClr val="2C3E6B"/>
                    </a:solidFill>
                  </a:tcPr>
                </a:tc>
                <a:tc>
                  <a:txBody>
                    <a:bodyPr/>
                    <a:lstStyle/>
                    <a:p>
                      <a:pPr algn="ctr">
                        <a:defRPr sz="1000" b="1">
                          <a:solidFill>
                            <a:srgbClr val="FFFFFF"/>
                          </a:solidFill>
                          <a:latin typeface="Calibri"/>
                        </a:defRPr>
                      </a:pPr>
                      <a:r>
                        <a:t>ΔZ</a:t>
                      </a:r>
                    </a:p>
                  </a:txBody>
                  <a:tcPr>
                    <a:solidFill>
                      <a:srgbClr val="2C3E6B"/>
                    </a:solidFill>
                  </a:tcPr>
                </a:tc>
              </a:tr>
              <a:tr h="320040">
                <a:tc>
                  <a:txBody>
                    <a:bodyPr/>
                    <a:lstStyle/>
                    <a:p>
                      <a:pPr algn="l">
                        <a:defRPr sz="1000">
                          <a:solidFill>
                            <a:srgbClr val="2D2D3D"/>
                          </a:solidFill>
                          <a:latin typeface="Calibri"/>
                        </a:defRPr>
                      </a:pPr>
                      <a:r>
                        <a:t>6.0%</a:t>
                      </a:r>
                    </a:p>
                  </a:txBody>
                  <a:tcPr>
                    <a:solidFill>
                      <a:srgbClr val="FFFFFF"/>
                    </a:solidFill>
                  </a:tcPr>
                </a:tc>
                <a:tc>
                  <a:txBody>
                    <a:bodyPr/>
                    <a:lstStyle/>
                    <a:p>
                      <a:pPr algn="r">
                        <a:defRPr sz="1000">
                          <a:solidFill>
                            <a:srgbClr val="2D2D3D"/>
                          </a:solidFill>
                          <a:latin typeface="Calibri"/>
                        </a:defRPr>
                      </a:pPr>
                      <a:r>
                        <a:t>879bp</a:t>
                      </a:r>
                    </a:p>
                  </a:txBody>
                  <a:tcPr>
                    <a:solidFill>
                      <a:srgbClr val="FFFFFF"/>
                    </a:solidFill>
                  </a:tcPr>
                </a:tc>
                <a:tc>
                  <a:txBody>
                    <a:bodyPr/>
                    <a:lstStyle/>
                    <a:p>
                      <a:pPr algn="r">
                        <a:defRPr sz="1000">
                          <a:solidFill>
                            <a:srgbClr val="2D2D3D"/>
                          </a:solidFill>
                          <a:latin typeface="Calibri"/>
                        </a:defRPr>
                      </a:pPr>
                      <a:r>
                        <a:t>991bp</a:t>
                      </a:r>
                    </a:p>
                  </a:txBody>
                  <a:tcPr>
                    <a:solidFill>
                      <a:srgbClr val="FFFFFF"/>
                    </a:solidFill>
                  </a:tcPr>
                </a:tc>
                <a:tc>
                  <a:txBody>
                    <a:bodyPr/>
                    <a:lstStyle/>
                    <a:p>
                      <a:pPr algn="r">
                        <a:defRPr sz="1000">
                          <a:solidFill>
                            <a:srgbClr val="2D2D3D"/>
                          </a:solidFill>
                          <a:latin typeface="Calibri"/>
                        </a:defRPr>
                      </a:pPr>
                      <a:r>
                        <a:t>+112bp</a:t>
                      </a:r>
                    </a:p>
                  </a:txBody>
                  <a:tcPr>
                    <a:solidFill>
                      <a:srgbClr val="FFFFFF"/>
                    </a:solidFill>
                  </a:tcPr>
                </a:tc>
              </a:tr>
              <a:tr h="320040">
                <a:tc>
                  <a:txBody>
                    <a:bodyPr/>
                    <a:lstStyle/>
                    <a:p>
                      <a:pPr algn="l">
                        <a:defRPr sz="1000">
                          <a:solidFill>
                            <a:srgbClr val="2D2D3D"/>
                          </a:solidFill>
                          <a:latin typeface="Calibri"/>
                        </a:defRPr>
                      </a:pPr>
                      <a:r>
                        <a:t>8.5%</a:t>
                      </a:r>
                    </a:p>
                  </a:txBody>
                  <a:tcPr>
                    <a:solidFill>
                      <a:srgbClr val="E8EBF5"/>
                    </a:solidFill>
                  </a:tcPr>
                </a:tc>
                <a:tc>
                  <a:txBody>
                    <a:bodyPr/>
                    <a:lstStyle/>
                    <a:p>
                      <a:pPr algn="r">
                        <a:defRPr sz="1000">
                          <a:solidFill>
                            <a:srgbClr val="2D2D3D"/>
                          </a:solidFill>
                          <a:latin typeface="Calibri"/>
                        </a:defRPr>
                      </a:pPr>
                      <a:r>
                        <a:t>630bp</a:t>
                      </a:r>
                    </a:p>
                  </a:txBody>
                  <a:tcPr>
                    <a:solidFill>
                      <a:srgbClr val="E8EBF5"/>
                    </a:solidFill>
                  </a:tcPr>
                </a:tc>
                <a:tc>
                  <a:txBody>
                    <a:bodyPr/>
                    <a:lstStyle/>
                    <a:p>
                      <a:pPr algn="r">
                        <a:defRPr sz="1000">
                          <a:solidFill>
                            <a:srgbClr val="2D2D3D"/>
                          </a:solidFill>
                          <a:latin typeface="Calibri"/>
                        </a:defRPr>
                      </a:pPr>
                      <a:r>
                        <a:t>730bp</a:t>
                      </a:r>
                    </a:p>
                  </a:txBody>
                  <a:tcPr>
                    <a:solidFill>
                      <a:srgbClr val="E8EBF5"/>
                    </a:solidFill>
                  </a:tcPr>
                </a:tc>
                <a:tc>
                  <a:txBody>
                    <a:bodyPr/>
                    <a:lstStyle/>
                    <a:p>
                      <a:pPr algn="r">
                        <a:defRPr sz="1000">
                          <a:solidFill>
                            <a:srgbClr val="2D2D3D"/>
                          </a:solidFill>
                          <a:latin typeface="Calibri"/>
                        </a:defRPr>
                      </a:pPr>
                      <a:r>
                        <a:t>+100bp</a:t>
                      </a:r>
                    </a:p>
                  </a:txBody>
                  <a:tcPr>
                    <a:solidFill>
                      <a:srgbClr val="E8EBF5"/>
                    </a:solidFill>
                  </a:tcPr>
                </a:tc>
              </a:tr>
              <a:tr h="320040">
                <a:tc>
                  <a:txBody>
                    <a:bodyPr/>
                    <a:lstStyle/>
                    <a:p>
                      <a:pPr algn="l">
                        <a:defRPr sz="1000">
                          <a:solidFill>
                            <a:srgbClr val="2D2D3D"/>
                          </a:solidFill>
                          <a:latin typeface="Calibri"/>
                        </a:defRPr>
                      </a:pPr>
                      <a:r>
                        <a:t>11.0%</a:t>
                      </a:r>
                    </a:p>
                  </a:txBody>
                  <a:tcPr>
                    <a:solidFill>
                      <a:srgbClr val="FFFFFF"/>
                    </a:solidFill>
                  </a:tcPr>
                </a:tc>
                <a:tc>
                  <a:txBody>
                    <a:bodyPr/>
                    <a:lstStyle/>
                    <a:p>
                      <a:pPr algn="r">
                        <a:defRPr sz="1000">
                          <a:solidFill>
                            <a:srgbClr val="2D2D3D"/>
                          </a:solidFill>
                          <a:latin typeface="Calibri"/>
                        </a:defRPr>
                      </a:pPr>
                      <a:r>
                        <a:t>407bp</a:t>
                      </a:r>
                    </a:p>
                  </a:txBody>
                  <a:tcPr>
                    <a:solidFill>
                      <a:srgbClr val="FFFFFF"/>
                    </a:solidFill>
                  </a:tcPr>
                </a:tc>
                <a:tc>
                  <a:txBody>
                    <a:bodyPr/>
                    <a:lstStyle/>
                    <a:p>
                      <a:pPr algn="r">
                        <a:defRPr sz="1000">
                          <a:solidFill>
                            <a:srgbClr val="2D2D3D"/>
                          </a:solidFill>
                          <a:latin typeface="Calibri"/>
                        </a:defRPr>
                      </a:pPr>
                      <a:r>
                        <a:t>473bp</a:t>
                      </a:r>
                    </a:p>
                  </a:txBody>
                  <a:tcPr>
                    <a:solidFill>
                      <a:srgbClr val="FFFFFF"/>
                    </a:solidFill>
                  </a:tcPr>
                </a:tc>
                <a:tc>
                  <a:txBody>
                    <a:bodyPr/>
                    <a:lstStyle/>
                    <a:p>
                      <a:pPr algn="r">
                        <a:defRPr sz="1000">
                          <a:solidFill>
                            <a:srgbClr val="2D2D3D"/>
                          </a:solidFill>
                          <a:latin typeface="Calibri"/>
                        </a:defRPr>
                      </a:pPr>
                      <a:r>
                        <a:t>+66bp</a:t>
                      </a:r>
                    </a:p>
                  </a:txBody>
                  <a:tcPr>
                    <a:solidFill>
                      <a:srgbClr val="FFFFFF"/>
                    </a:solidFill>
                  </a:tcPr>
                </a:tc>
              </a:tr>
            </a:tbl>
          </a:graphicData>
        </a:graphic>
      </p:graphicFrame>
      <p:sp>
        <p:nvSpPr>
          <p:cNvPr id="10" name="TextBox 9"/>
          <p:cNvSpPr txBox="1"/>
          <p:nvPr/>
        </p:nvSpPr>
        <p:spPr>
          <a:xfrm>
            <a:off x="6126480" y="1005840"/>
            <a:ext cx="2743200" cy="228600"/>
          </a:xfrm>
          <a:prstGeom prst="rect">
            <a:avLst/>
          </a:prstGeom>
          <a:noFill/>
        </p:spPr>
        <p:txBody>
          <a:bodyPr wrap="square">
            <a:spAutoFit/>
          </a:bodyPr>
          <a:lstStyle/>
          <a:p>
            <a:pPr algn="l">
              <a:defRPr sz="1200" b="1">
                <a:solidFill>
                  <a:srgbClr val="2C3E6B"/>
                </a:solidFill>
                <a:latin typeface="Calibri"/>
              </a:defRPr>
            </a:pPr>
            <a:r>
              <a:t>Recovery Sensitivity (B−, 5Y)</a:t>
            </a:r>
          </a:p>
        </p:txBody>
      </p:sp>
      <p:graphicFrame>
        <p:nvGraphicFramePr>
          <p:cNvPr id="11" name="Table 10"/>
          <p:cNvGraphicFramePr>
            <a:graphicFrameLocks noGrp="1"/>
          </p:cNvGraphicFramePr>
          <p:nvPr/>
        </p:nvGraphicFramePr>
        <p:xfrm>
          <a:off x="6126480" y="1325880"/>
          <a:ext cx="2743200" cy="1280160"/>
        </p:xfrm>
        <a:graphic>
          <a:graphicData uri="http://schemas.openxmlformats.org/drawingml/2006/table">
            <a:tbl>
              <a:tblPr firstRow="1" bandRow="1">
                <a:tableStyleId>{5C22544A-7EE6-4342-B048-85BDC9FD1C3A}</a:tableStyleId>
              </a:tblPr>
              <a:tblGrid>
                <a:gridCol w="640080"/>
                <a:gridCol w="731520"/>
                <a:gridCol w="731520"/>
                <a:gridCol w="640080"/>
              </a:tblGrid>
              <a:tr h="320040">
                <a:tc>
                  <a:txBody>
                    <a:bodyPr/>
                    <a:lstStyle/>
                    <a:p>
                      <a:pPr algn="ctr">
                        <a:defRPr sz="1000" b="1">
                          <a:solidFill>
                            <a:srgbClr val="FFFFFF"/>
                          </a:solidFill>
                          <a:latin typeface="Calibri"/>
                        </a:defRPr>
                      </a:pPr>
                      <a:r>
                        <a:t>Recovery</a:t>
                      </a:r>
                    </a:p>
                  </a:txBody>
                  <a:tcPr>
                    <a:solidFill>
                      <a:srgbClr val="2C3E6B"/>
                    </a:solidFill>
                  </a:tcPr>
                </a:tc>
                <a:tc>
                  <a:txBody>
                    <a:bodyPr/>
                    <a:lstStyle/>
                    <a:p>
                      <a:pPr algn="ctr">
                        <a:defRPr sz="1000" b="1">
                          <a:solidFill>
                            <a:srgbClr val="FFFFFF"/>
                          </a:solidFill>
                          <a:latin typeface="Calibri"/>
                        </a:defRPr>
                      </a:pPr>
                      <a:r>
                        <a:t>Cash Z</a:t>
                      </a:r>
                    </a:p>
                  </a:txBody>
                  <a:tcPr>
                    <a:solidFill>
                      <a:srgbClr val="2C3E6B"/>
                    </a:solidFill>
                  </a:tcPr>
                </a:tc>
                <a:tc>
                  <a:txBody>
                    <a:bodyPr/>
                    <a:lstStyle/>
                    <a:p>
                      <a:pPr algn="ctr">
                        <a:defRPr sz="1000" b="1">
                          <a:solidFill>
                            <a:srgbClr val="FFFFFF"/>
                          </a:solidFill>
                          <a:latin typeface="Calibri"/>
                        </a:defRPr>
                      </a:pPr>
                      <a:r>
                        <a:t>PIK Z</a:t>
                      </a:r>
                    </a:p>
                  </a:txBody>
                  <a:tcPr>
                    <a:solidFill>
                      <a:srgbClr val="2C3E6B"/>
                    </a:solidFill>
                  </a:tcPr>
                </a:tc>
                <a:tc>
                  <a:txBody>
                    <a:bodyPr/>
                    <a:lstStyle/>
                    <a:p>
                      <a:pPr algn="ctr">
                        <a:defRPr sz="1000" b="1">
                          <a:solidFill>
                            <a:srgbClr val="FFFFFF"/>
                          </a:solidFill>
                          <a:latin typeface="Calibri"/>
                        </a:defRPr>
                      </a:pPr>
                      <a:r>
                        <a:t>ΔZ</a:t>
                      </a:r>
                    </a:p>
                  </a:txBody>
                  <a:tcPr>
                    <a:solidFill>
                      <a:srgbClr val="2C3E6B"/>
                    </a:solidFill>
                  </a:tcPr>
                </a:tc>
              </a:tr>
              <a:tr h="320040">
                <a:tc>
                  <a:txBody>
                    <a:bodyPr/>
                    <a:lstStyle/>
                    <a:p>
                      <a:pPr algn="l">
                        <a:defRPr sz="1000">
                          <a:solidFill>
                            <a:srgbClr val="2D2D3D"/>
                          </a:solidFill>
                          <a:latin typeface="Calibri"/>
                        </a:defRPr>
                      </a:pPr>
                      <a:r>
                        <a:t>25%</a:t>
                      </a:r>
                    </a:p>
                  </a:txBody>
                  <a:tcPr>
                    <a:solidFill>
                      <a:srgbClr val="FFFFFF"/>
                    </a:solidFill>
                  </a:tcPr>
                </a:tc>
                <a:tc>
                  <a:txBody>
                    <a:bodyPr/>
                    <a:lstStyle/>
                    <a:p>
                      <a:pPr algn="r">
                        <a:defRPr sz="1000">
                          <a:solidFill>
                            <a:srgbClr val="2D2D3D"/>
                          </a:solidFill>
                          <a:latin typeface="Calibri"/>
                        </a:defRPr>
                      </a:pPr>
                      <a:r>
                        <a:t>630bp</a:t>
                      </a:r>
                    </a:p>
                  </a:txBody>
                  <a:tcPr>
                    <a:solidFill>
                      <a:srgbClr val="FFFFFF"/>
                    </a:solidFill>
                  </a:tcPr>
                </a:tc>
                <a:tc>
                  <a:txBody>
                    <a:bodyPr/>
                    <a:lstStyle/>
                    <a:p>
                      <a:pPr algn="r">
                        <a:defRPr sz="1000">
                          <a:solidFill>
                            <a:srgbClr val="2D2D3D"/>
                          </a:solidFill>
                          <a:latin typeface="Calibri"/>
                        </a:defRPr>
                      </a:pPr>
                      <a:r>
                        <a:t>720bp</a:t>
                      </a:r>
                    </a:p>
                  </a:txBody>
                  <a:tcPr>
                    <a:solidFill>
                      <a:srgbClr val="FFFFFF"/>
                    </a:solidFill>
                  </a:tcPr>
                </a:tc>
                <a:tc>
                  <a:txBody>
                    <a:bodyPr/>
                    <a:lstStyle/>
                    <a:p>
                      <a:pPr algn="r">
                        <a:defRPr sz="1000">
                          <a:solidFill>
                            <a:srgbClr val="2D2D3D"/>
                          </a:solidFill>
                          <a:latin typeface="Calibri"/>
                        </a:defRPr>
                      </a:pPr>
                      <a:r>
                        <a:t>+90bp</a:t>
                      </a:r>
                    </a:p>
                  </a:txBody>
                  <a:tcPr>
                    <a:solidFill>
                      <a:srgbClr val="FFFFFF"/>
                    </a:solidFill>
                  </a:tcPr>
                </a:tc>
              </a:tr>
              <a:tr h="320040">
                <a:tc>
                  <a:txBody>
                    <a:bodyPr/>
                    <a:lstStyle/>
                    <a:p>
                      <a:pPr algn="l">
                        <a:defRPr sz="1000">
                          <a:solidFill>
                            <a:srgbClr val="2D2D3D"/>
                          </a:solidFill>
                          <a:latin typeface="Calibri"/>
                        </a:defRPr>
                      </a:pPr>
                      <a:r>
                        <a:t>35%</a:t>
                      </a:r>
                    </a:p>
                  </a:txBody>
                  <a:tcPr>
                    <a:solidFill>
                      <a:srgbClr val="E8EBF5"/>
                    </a:solidFill>
                  </a:tcPr>
                </a:tc>
                <a:tc>
                  <a:txBody>
                    <a:bodyPr/>
                    <a:lstStyle/>
                    <a:p>
                      <a:pPr algn="r">
                        <a:defRPr sz="1000">
                          <a:solidFill>
                            <a:srgbClr val="2D2D3D"/>
                          </a:solidFill>
                          <a:latin typeface="Calibri"/>
                        </a:defRPr>
                      </a:pPr>
                      <a:r>
                        <a:t>630bp</a:t>
                      </a:r>
                    </a:p>
                  </a:txBody>
                  <a:tcPr>
                    <a:solidFill>
                      <a:srgbClr val="E8EBF5"/>
                    </a:solidFill>
                  </a:tcPr>
                </a:tc>
                <a:tc>
                  <a:txBody>
                    <a:bodyPr/>
                    <a:lstStyle/>
                    <a:p>
                      <a:pPr algn="r">
                        <a:defRPr sz="1000">
                          <a:solidFill>
                            <a:srgbClr val="2D2D3D"/>
                          </a:solidFill>
                          <a:latin typeface="Calibri"/>
                        </a:defRPr>
                      </a:pPr>
                      <a:r>
                        <a:t>742bp</a:t>
                      </a:r>
                    </a:p>
                  </a:txBody>
                  <a:tcPr>
                    <a:solidFill>
                      <a:srgbClr val="E8EBF5"/>
                    </a:solidFill>
                  </a:tcPr>
                </a:tc>
                <a:tc>
                  <a:txBody>
                    <a:bodyPr/>
                    <a:lstStyle/>
                    <a:p>
                      <a:pPr algn="r">
                        <a:defRPr sz="1000">
                          <a:solidFill>
                            <a:srgbClr val="2D2D3D"/>
                          </a:solidFill>
                          <a:latin typeface="Calibri"/>
                        </a:defRPr>
                      </a:pPr>
                      <a:r>
                        <a:t>+112bp</a:t>
                      </a:r>
                    </a:p>
                  </a:txBody>
                  <a:tcPr>
                    <a:solidFill>
                      <a:srgbClr val="E8EBF5"/>
                    </a:solidFill>
                  </a:tcPr>
                </a:tc>
              </a:tr>
              <a:tr h="320040">
                <a:tc>
                  <a:txBody>
                    <a:bodyPr/>
                    <a:lstStyle/>
                    <a:p>
                      <a:pPr algn="l">
                        <a:defRPr sz="1000">
                          <a:solidFill>
                            <a:srgbClr val="2D2D3D"/>
                          </a:solidFill>
                          <a:latin typeface="Calibri"/>
                        </a:defRPr>
                      </a:pPr>
                      <a:r>
                        <a:t>45%</a:t>
                      </a:r>
                    </a:p>
                  </a:txBody>
                  <a:tcPr>
                    <a:solidFill>
                      <a:srgbClr val="FFFFFF"/>
                    </a:solidFill>
                  </a:tcPr>
                </a:tc>
                <a:tc>
                  <a:txBody>
                    <a:bodyPr/>
                    <a:lstStyle/>
                    <a:p>
                      <a:pPr algn="r">
                        <a:defRPr sz="1000">
                          <a:solidFill>
                            <a:srgbClr val="2D2D3D"/>
                          </a:solidFill>
                          <a:latin typeface="Calibri"/>
                        </a:defRPr>
                      </a:pPr>
                      <a:r>
                        <a:t>630bp</a:t>
                      </a:r>
                    </a:p>
                  </a:txBody>
                  <a:tcPr>
                    <a:solidFill>
                      <a:srgbClr val="FFFFFF"/>
                    </a:solidFill>
                  </a:tcPr>
                </a:tc>
                <a:tc>
                  <a:txBody>
                    <a:bodyPr/>
                    <a:lstStyle/>
                    <a:p>
                      <a:pPr algn="r">
                        <a:defRPr sz="1000">
                          <a:solidFill>
                            <a:srgbClr val="2D2D3D"/>
                          </a:solidFill>
                          <a:latin typeface="Calibri"/>
                        </a:defRPr>
                      </a:pPr>
                      <a:r>
                        <a:t>769bp</a:t>
                      </a:r>
                    </a:p>
                  </a:txBody>
                  <a:tcPr>
                    <a:solidFill>
                      <a:srgbClr val="FFFFFF"/>
                    </a:solidFill>
                  </a:tcPr>
                </a:tc>
                <a:tc>
                  <a:txBody>
                    <a:bodyPr/>
                    <a:lstStyle/>
                    <a:p>
                      <a:pPr algn="r">
                        <a:defRPr sz="1000">
                          <a:solidFill>
                            <a:srgbClr val="2D2D3D"/>
                          </a:solidFill>
                          <a:latin typeface="Calibri"/>
                        </a:defRPr>
                      </a:pPr>
                      <a:r>
                        <a:t>+139bp</a:t>
                      </a:r>
                    </a:p>
                  </a:txBody>
                  <a:tcPr>
                    <a:solidFill>
                      <a:srgbClr val="FFFFFF"/>
                    </a:solidFill>
                  </a:tcPr>
                </a:tc>
              </a:tr>
            </a:tbl>
          </a:graphicData>
        </a:graphic>
      </p:graphicFrame>
      <p:sp>
        <p:nvSpPr>
          <p:cNvPr id="12" name="TextBox 11"/>
          <p:cNvSpPr txBox="1"/>
          <p:nvPr/>
        </p:nvSpPr>
        <p:spPr>
          <a:xfrm>
            <a:off x="457200" y="3291840"/>
            <a:ext cx="8229600" cy="1371600"/>
          </a:xfrm>
          <a:prstGeom prst="rect">
            <a:avLst/>
          </a:prstGeom>
          <a:noFill/>
        </p:spPr>
        <p:txBody>
          <a:bodyPr wrap="square">
            <a:spAutoFit/>
          </a:bodyPr>
          <a:lstStyle/>
          <a:p>
            <a:pPr>
              <a:spcAft>
                <a:spcPts val="800"/>
              </a:spcAft>
              <a:defRPr sz="1300">
                <a:solidFill>
                  <a:srgbClr val="2D2D3D"/>
                </a:solidFill>
                <a:latin typeface="Calibri"/>
              </a:defRPr>
            </a:pPr>
            <a:r>
              <a:t>Longer maturity → more compounding periods → higher terminal notional → larger PIK penalty. The 7Y PIK ΔZ is roughly double the 3Y</a:t>
            </a:r>
          </a:p>
          <a:p>
            <a:pPr>
              <a:spcAft>
                <a:spcPts val="800"/>
              </a:spcAft>
              <a:defRPr sz="1300">
                <a:solidFill>
                  <a:srgbClr val="2D2D3D"/>
                </a:solidFill>
                <a:latin typeface="Calibri"/>
              </a:defRPr>
            </a:pPr>
            <a:r>
              <a:t>Higher coupon → more accrual per period → faster notional growth. An 11% PIK bond has ~30% more notional at maturity than 6%</a:t>
            </a:r>
          </a:p>
          <a:p>
            <a:pPr>
              <a:spcAft>
                <a:spcPts val="800"/>
              </a:spcAft>
              <a:defRPr sz="1300">
                <a:solidFill>
                  <a:srgbClr val="2D2D3D"/>
                </a:solidFill>
                <a:latin typeface="Calibri"/>
              </a:defRPr>
            </a:pPr>
            <a:r>
              <a:t>Higher recovery → hazard rate must rise to match spread → amplifies survival discount → larger ΔZ. Recovery is often underappreciated as a PIK sensitivity</a:t>
            </a:r>
          </a:p>
        </p:txBody>
      </p:sp>
      <p:sp>
        <p:nvSpPr>
          <p:cNvPr id="13" name="TextBox 12"/>
          <p:cNvSpPr txBox="1"/>
          <p:nvPr/>
        </p:nvSpPr>
        <p:spPr>
          <a:xfrm>
            <a:off x="457200" y="4754880"/>
            <a:ext cx="8229600" cy="228600"/>
          </a:xfrm>
          <a:prstGeom prst="rect">
            <a:avLst/>
          </a:prstGeom>
          <a:noFill/>
        </p:spPr>
        <p:txBody>
          <a:bodyPr wrap="square">
            <a:spAutoFit/>
          </a:bodyPr>
          <a:lstStyle/>
          <a:p>
            <a:pPr algn="l">
              <a:defRPr sz="1200" b="1">
                <a:solidFill>
                  <a:srgbClr val="2C3E6B"/>
                </a:solidFill>
                <a:latin typeface="Calibri"/>
              </a:defRPr>
            </a:pPr>
            <a:r>
              <a:t>ΔZ Across All Issuers (5Y, 8.5% coupon, issuer recovery)</a:t>
            </a:r>
          </a:p>
        </p:txBody>
      </p:sp>
      <p:graphicFrame>
        <p:nvGraphicFramePr>
          <p:cNvPr id="14" name="Table 13"/>
          <p:cNvGraphicFramePr>
            <a:graphicFrameLocks noGrp="1"/>
          </p:cNvGraphicFramePr>
          <p:nvPr/>
        </p:nvGraphicFramePr>
        <p:xfrm>
          <a:off x="457200" y="5029200"/>
          <a:ext cx="4663440" cy="1920239"/>
        </p:xfrm>
        <a:graphic>
          <a:graphicData uri="http://schemas.openxmlformats.org/drawingml/2006/table">
            <a:tbl>
              <a:tblPr firstRow="1" bandRow="1">
                <a:tableStyleId>{5C22544A-7EE6-4342-B048-85BDC9FD1C3A}</a:tableStyleId>
              </a:tblPr>
              <a:tblGrid>
                <a:gridCol w="1371600"/>
                <a:gridCol w="457200"/>
                <a:gridCol w="640080"/>
                <a:gridCol w="731520"/>
                <a:gridCol w="731520"/>
                <a:gridCol w="731520"/>
              </a:tblGrid>
              <a:tr h="320039">
                <a:tc>
                  <a:txBody>
                    <a:bodyPr/>
                    <a:lstStyle/>
                    <a:p>
                      <a:pPr algn="ctr">
                        <a:defRPr sz="1000" b="1">
                          <a:solidFill>
                            <a:srgbClr val="FFFFFF"/>
                          </a:solidFill>
                          <a:latin typeface="Calibri"/>
                        </a:defRPr>
                      </a:pPr>
                      <a:r>
                        <a:t>Issuer</a:t>
                      </a:r>
                    </a:p>
                  </a:txBody>
                  <a:tcPr>
                    <a:solidFill>
                      <a:srgbClr val="2C3E6B"/>
                    </a:solidFill>
                  </a:tcPr>
                </a:tc>
                <a:tc>
                  <a:txBody>
                    <a:bodyPr/>
                    <a:lstStyle/>
                    <a:p>
                      <a:pPr algn="ctr">
                        <a:defRPr sz="1000" b="1">
                          <a:solidFill>
                            <a:srgbClr val="FFFFFF"/>
                          </a:solidFill>
                          <a:latin typeface="Calibri"/>
                        </a:defRPr>
                      </a:pPr>
                      <a:r>
                        <a:t>LTV</a:t>
                      </a:r>
                    </a:p>
                  </a:txBody>
                  <a:tcPr>
                    <a:solidFill>
                      <a:srgbClr val="2C3E6B"/>
                    </a:solidFill>
                  </a:tcPr>
                </a:tc>
                <a:tc>
                  <a:txBody>
                    <a:bodyPr/>
                    <a:lstStyle/>
                    <a:p>
                      <a:pPr algn="ctr">
                        <a:defRPr sz="1000" b="1">
                          <a:solidFill>
                            <a:srgbClr val="FFFFFF"/>
                          </a:solidFill>
                          <a:latin typeface="Calibri"/>
                        </a:defRPr>
                      </a:pPr>
                      <a:r>
                        <a:t>λ (bp)</a:t>
                      </a:r>
                    </a:p>
                  </a:txBody>
                  <a:tcPr>
                    <a:solidFill>
                      <a:srgbClr val="2C3E6B"/>
                    </a:solidFill>
                  </a:tcPr>
                </a:tc>
                <a:tc>
                  <a:txBody>
                    <a:bodyPr/>
                    <a:lstStyle/>
                    <a:p>
                      <a:pPr algn="ctr">
                        <a:defRPr sz="1000" b="1">
                          <a:solidFill>
                            <a:srgbClr val="FFFFFF"/>
                          </a:solidFill>
                          <a:latin typeface="Calibri"/>
                        </a:defRPr>
                      </a:pPr>
                      <a:r>
                        <a:t>Cash Z</a:t>
                      </a:r>
                    </a:p>
                  </a:txBody>
                  <a:tcPr>
                    <a:solidFill>
                      <a:srgbClr val="2C3E6B"/>
                    </a:solidFill>
                  </a:tcPr>
                </a:tc>
                <a:tc>
                  <a:txBody>
                    <a:bodyPr/>
                    <a:lstStyle/>
                    <a:p>
                      <a:pPr algn="ctr">
                        <a:defRPr sz="1000" b="1">
                          <a:solidFill>
                            <a:srgbClr val="FFFFFF"/>
                          </a:solidFill>
                          <a:latin typeface="Calibri"/>
                        </a:defRPr>
                      </a:pPr>
                      <a:r>
                        <a:t>PIK Z</a:t>
                      </a:r>
                    </a:p>
                  </a:txBody>
                  <a:tcPr>
                    <a:solidFill>
                      <a:srgbClr val="2C3E6B"/>
                    </a:solidFill>
                  </a:tcPr>
                </a:tc>
                <a:tc>
                  <a:txBody>
                    <a:bodyPr/>
                    <a:lstStyle/>
                    <a:p>
                      <a:pPr algn="ctr">
                        <a:defRPr sz="1000" b="1">
                          <a:solidFill>
                            <a:srgbClr val="FFFFFF"/>
                          </a:solidFill>
                          <a:latin typeface="Calibri"/>
                        </a:defRPr>
                      </a:pPr>
                      <a:r>
                        <a:t>ΔZ (bp)</a:t>
                      </a:r>
                    </a:p>
                  </a:txBody>
                  <a:tcPr>
                    <a:solidFill>
                      <a:srgbClr val="2C3E6B"/>
                    </a:solidFill>
                  </a:tcPr>
                </a:tc>
              </a:tr>
              <a:tr h="320039">
                <a:tc>
                  <a:txBody>
                    <a:bodyPr/>
                    <a:lstStyle/>
                    <a:p>
                      <a:pPr algn="l">
                        <a:defRPr sz="1000">
                          <a:solidFill>
                            <a:srgbClr val="2D2D3D"/>
                          </a:solidFill>
                          <a:latin typeface="Calibri"/>
                        </a:defRPr>
                      </a:pPr>
                      <a:r>
                        <a:t>BB+ (Solid HY)</a:t>
                      </a:r>
                    </a:p>
                  </a:txBody>
                  <a:tcPr>
                    <a:solidFill>
                      <a:srgbClr val="FFFFFF"/>
                    </a:solidFill>
                  </a:tcPr>
                </a:tc>
                <a:tc>
                  <a:txBody>
                    <a:bodyPr/>
                    <a:lstStyle/>
                    <a:p>
                      <a:pPr algn="r">
                        <a:defRPr sz="1000">
                          <a:solidFill>
                            <a:srgbClr val="2D2D3D"/>
                          </a:solidFill>
                          <a:latin typeface="Calibri"/>
                        </a:defRPr>
                      </a:pPr>
                      <a:r>
                        <a:t>50%</a:t>
                      </a:r>
                    </a:p>
                  </a:txBody>
                  <a:tcPr>
                    <a:solidFill>
                      <a:srgbClr val="FFFFFF"/>
                    </a:solidFill>
                  </a:tcPr>
                </a:tc>
                <a:tc>
                  <a:txBody>
                    <a:bodyPr/>
                    <a:lstStyle/>
                    <a:p>
                      <a:pPr algn="r">
                        <a:defRPr sz="1000">
                          <a:solidFill>
                            <a:srgbClr val="2D2D3D"/>
                          </a:solidFill>
                          <a:latin typeface="Calibri"/>
                        </a:defRPr>
                      </a:pPr>
                      <a:r>
                        <a:t>143</a:t>
                      </a:r>
                    </a:p>
                  </a:txBody>
                  <a:tcPr>
                    <a:solidFill>
                      <a:srgbClr val="FFFFFF"/>
                    </a:solidFill>
                  </a:tcPr>
                </a:tc>
                <a:tc>
                  <a:txBody>
                    <a:bodyPr/>
                    <a:lstStyle/>
                    <a:p>
                      <a:pPr algn="r">
                        <a:defRPr sz="1000">
                          <a:solidFill>
                            <a:srgbClr val="2D2D3D"/>
                          </a:solidFill>
                          <a:latin typeface="Calibri"/>
                        </a:defRPr>
                      </a:pPr>
                      <a:r>
                        <a:t>84</a:t>
                      </a:r>
                    </a:p>
                  </a:txBody>
                  <a:tcPr>
                    <a:solidFill>
                      <a:srgbClr val="FFFFFF"/>
                    </a:solidFill>
                  </a:tcPr>
                </a:tc>
                <a:tc>
                  <a:txBody>
                    <a:bodyPr/>
                    <a:lstStyle/>
                    <a:p>
                      <a:pPr algn="r">
                        <a:defRPr sz="1000">
                          <a:solidFill>
                            <a:srgbClr val="2D2D3D"/>
                          </a:solidFill>
                          <a:latin typeface="Calibri"/>
                        </a:defRPr>
                      </a:pPr>
                      <a:r>
                        <a:t>124</a:t>
                      </a:r>
                    </a:p>
                  </a:txBody>
                  <a:tcPr>
                    <a:solidFill>
                      <a:srgbClr val="FFFFFF"/>
                    </a:solidFill>
                  </a:tcPr>
                </a:tc>
                <a:tc>
                  <a:txBody>
                    <a:bodyPr/>
                    <a:lstStyle/>
                    <a:p>
                      <a:pPr algn="r">
                        <a:defRPr sz="1000">
                          <a:solidFill>
                            <a:srgbClr val="2D2D3D"/>
                          </a:solidFill>
                          <a:latin typeface="Calibri"/>
                        </a:defRPr>
                      </a:pPr>
                      <a:r>
                        <a:t>+40</a:t>
                      </a:r>
                    </a:p>
                  </a:txBody>
                  <a:tcPr>
                    <a:solidFill>
                      <a:srgbClr val="FFFFFF"/>
                    </a:solidFill>
                  </a:tcPr>
                </a:tc>
              </a:tr>
              <a:tr h="320039">
                <a:tc>
                  <a:txBody>
                    <a:bodyPr/>
                    <a:lstStyle/>
                    <a:p>
                      <a:pPr algn="l">
                        <a:defRPr sz="1000">
                          <a:solidFill>
                            <a:srgbClr val="2D2D3D"/>
                          </a:solidFill>
                          <a:latin typeface="Calibri"/>
                        </a:defRPr>
                      </a:pPr>
                      <a:r>
                        <a:t>BB− (Mid HY)</a:t>
                      </a:r>
                    </a:p>
                  </a:txBody>
                  <a:tcPr>
                    <a:solidFill>
                      <a:srgbClr val="E8EBF5"/>
                    </a:solidFill>
                  </a:tcPr>
                </a:tc>
                <a:tc>
                  <a:txBody>
                    <a:bodyPr/>
                    <a:lstStyle/>
                    <a:p>
                      <a:pPr algn="r">
                        <a:defRPr sz="1000">
                          <a:solidFill>
                            <a:srgbClr val="2D2D3D"/>
                          </a:solidFill>
                          <a:latin typeface="Calibri"/>
                        </a:defRPr>
                      </a:pPr>
                      <a:r>
                        <a:t>61%</a:t>
                      </a:r>
                    </a:p>
                  </a:txBody>
                  <a:tcPr>
                    <a:solidFill>
                      <a:srgbClr val="E8EBF5"/>
                    </a:solidFill>
                  </a:tcPr>
                </a:tc>
                <a:tc>
                  <a:txBody>
                    <a:bodyPr/>
                    <a:lstStyle/>
                    <a:p>
                      <a:pPr algn="r">
                        <a:defRPr sz="1000">
                          <a:solidFill>
                            <a:srgbClr val="2D2D3D"/>
                          </a:solidFill>
                          <a:latin typeface="Calibri"/>
                        </a:defRPr>
                      </a:pPr>
                      <a:r>
                        <a:t>334</a:t>
                      </a:r>
                    </a:p>
                  </a:txBody>
                  <a:tcPr>
                    <a:solidFill>
                      <a:srgbClr val="E8EBF5"/>
                    </a:solidFill>
                  </a:tcPr>
                </a:tc>
                <a:tc>
                  <a:txBody>
                    <a:bodyPr/>
                    <a:lstStyle/>
                    <a:p>
                      <a:pPr algn="r">
                        <a:defRPr sz="1000">
                          <a:solidFill>
                            <a:srgbClr val="2D2D3D"/>
                          </a:solidFill>
                          <a:latin typeface="Calibri"/>
                        </a:defRPr>
                      </a:pPr>
                      <a:r>
                        <a:t>209</a:t>
                      </a:r>
                    </a:p>
                  </a:txBody>
                  <a:tcPr>
                    <a:solidFill>
                      <a:srgbClr val="E8EBF5"/>
                    </a:solidFill>
                  </a:tcPr>
                </a:tc>
                <a:tc>
                  <a:txBody>
                    <a:bodyPr/>
                    <a:lstStyle/>
                    <a:p>
                      <a:pPr algn="r">
                        <a:defRPr sz="1000">
                          <a:solidFill>
                            <a:srgbClr val="2D2D3D"/>
                          </a:solidFill>
                          <a:latin typeface="Calibri"/>
                        </a:defRPr>
                      </a:pPr>
                      <a:r>
                        <a:t>269</a:t>
                      </a:r>
                    </a:p>
                  </a:txBody>
                  <a:tcPr>
                    <a:solidFill>
                      <a:srgbClr val="E8EBF5"/>
                    </a:solidFill>
                  </a:tcPr>
                </a:tc>
                <a:tc>
                  <a:txBody>
                    <a:bodyPr/>
                    <a:lstStyle/>
                    <a:p>
                      <a:pPr algn="r">
                        <a:defRPr sz="1000">
                          <a:solidFill>
                            <a:srgbClr val="2D2D3D"/>
                          </a:solidFill>
                          <a:latin typeface="Calibri"/>
                        </a:defRPr>
                      </a:pPr>
                      <a:r>
                        <a:t>+60</a:t>
                      </a:r>
                    </a:p>
                  </a:txBody>
                  <a:tcPr>
                    <a:solidFill>
                      <a:srgbClr val="E8EBF5"/>
                    </a:solidFill>
                  </a:tcPr>
                </a:tc>
              </a:tr>
              <a:tr h="320039">
                <a:tc>
                  <a:txBody>
                    <a:bodyPr/>
                    <a:lstStyle/>
                    <a:p>
                      <a:pPr algn="l">
                        <a:defRPr sz="1000">
                          <a:solidFill>
                            <a:srgbClr val="2D2D3D"/>
                          </a:solidFill>
                          <a:latin typeface="Calibri"/>
                        </a:defRPr>
                      </a:pPr>
                      <a:r>
                        <a:t>B (Weak HY)</a:t>
                      </a:r>
                    </a:p>
                  </a:txBody>
                  <a:tcPr>
                    <a:solidFill>
                      <a:srgbClr val="FFFFFF"/>
                    </a:solidFill>
                  </a:tcPr>
                </a:tc>
                <a:tc>
                  <a:txBody>
                    <a:bodyPr/>
                    <a:lstStyle/>
                    <a:p>
                      <a:pPr algn="r">
                        <a:defRPr sz="1000">
                          <a:solidFill>
                            <a:srgbClr val="2D2D3D"/>
                          </a:solidFill>
                          <a:latin typeface="Calibri"/>
                        </a:defRPr>
                      </a:pPr>
                      <a:r>
                        <a:t>71%</a:t>
                      </a:r>
                    </a:p>
                  </a:txBody>
                  <a:tcPr>
                    <a:solidFill>
                      <a:srgbClr val="FFFFFF"/>
                    </a:solidFill>
                  </a:tcPr>
                </a:tc>
                <a:tc>
                  <a:txBody>
                    <a:bodyPr/>
                    <a:lstStyle/>
                    <a:p>
                      <a:pPr algn="r">
                        <a:defRPr sz="1000">
                          <a:solidFill>
                            <a:srgbClr val="2D2D3D"/>
                          </a:solidFill>
                          <a:latin typeface="Calibri"/>
                        </a:defRPr>
                      </a:pPr>
                      <a:r>
                        <a:t>591</a:t>
                      </a:r>
                    </a:p>
                  </a:txBody>
                  <a:tcPr>
                    <a:solidFill>
                      <a:srgbClr val="FFFFFF"/>
                    </a:solidFill>
                  </a:tcPr>
                </a:tc>
                <a:tc>
                  <a:txBody>
                    <a:bodyPr/>
                    <a:lstStyle/>
                    <a:p>
                      <a:pPr algn="r">
                        <a:defRPr sz="1000">
                          <a:solidFill>
                            <a:srgbClr val="2D2D3D"/>
                          </a:solidFill>
                          <a:latin typeface="Calibri"/>
                        </a:defRPr>
                      </a:pPr>
                      <a:r>
                        <a:t>388</a:t>
                      </a:r>
                    </a:p>
                  </a:txBody>
                  <a:tcPr>
                    <a:solidFill>
                      <a:srgbClr val="FFFFFF"/>
                    </a:solidFill>
                  </a:tcPr>
                </a:tc>
                <a:tc>
                  <a:txBody>
                    <a:bodyPr/>
                    <a:lstStyle/>
                    <a:p>
                      <a:pPr algn="r">
                        <a:defRPr sz="1000">
                          <a:solidFill>
                            <a:srgbClr val="2D2D3D"/>
                          </a:solidFill>
                          <a:latin typeface="Calibri"/>
                        </a:defRPr>
                      </a:pPr>
                      <a:r>
                        <a:t>479</a:t>
                      </a:r>
                    </a:p>
                  </a:txBody>
                  <a:tcPr>
                    <a:solidFill>
                      <a:srgbClr val="FFFFFF"/>
                    </a:solidFill>
                  </a:tcPr>
                </a:tc>
                <a:tc>
                  <a:txBody>
                    <a:bodyPr/>
                    <a:lstStyle/>
                    <a:p>
                      <a:pPr algn="r">
                        <a:defRPr sz="1000">
                          <a:solidFill>
                            <a:srgbClr val="2D2D3D"/>
                          </a:solidFill>
                          <a:latin typeface="Calibri"/>
                        </a:defRPr>
                      </a:pPr>
                      <a:r>
                        <a:t>+91</a:t>
                      </a:r>
                    </a:p>
                  </a:txBody>
                  <a:tcPr>
                    <a:solidFill>
                      <a:srgbClr val="FFFFFF"/>
                    </a:solidFill>
                  </a:tcPr>
                </a:tc>
              </a:tr>
              <a:tr h="320039">
                <a:tc>
                  <a:txBody>
                    <a:bodyPr/>
                    <a:lstStyle/>
                    <a:p>
                      <a:pPr algn="l">
                        <a:defRPr sz="1000">
                          <a:solidFill>
                            <a:srgbClr val="2D2D3D"/>
                          </a:solidFill>
                          <a:latin typeface="Calibri"/>
                        </a:defRPr>
                      </a:pPr>
                      <a:r>
                        <a:t>B− (Stressed)</a:t>
                      </a:r>
                    </a:p>
                  </a:txBody>
                  <a:tcPr>
                    <a:solidFill>
                      <a:srgbClr val="E8EBF5"/>
                    </a:solidFill>
                  </a:tcPr>
                </a:tc>
                <a:tc>
                  <a:txBody>
                    <a:bodyPr/>
                    <a:lstStyle/>
                    <a:p>
                      <a:pPr algn="r">
                        <a:defRPr sz="1000">
                          <a:solidFill>
                            <a:srgbClr val="2D2D3D"/>
                          </a:solidFill>
                          <a:latin typeface="Calibri"/>
                        </a:defRPr>
                      </a:pPr>
                      <a:r>
                        <a:t>80%</a:t>
                      </a:r>
                    </a:p>
                  </a:txBody>
                  <a:tcPr>
                    <a:solidFill>
                      <a:srgbClr val="E8EBF5"/>
                    </a:solidFill>
                  </a:tcPr>
                </a:tc>
                <a:tc>
                  <a:txBody>
                    <a:bodyPr/>
                    <a:lstStyle/>
                    <a:p>
                      <a:pPr algn="r">
                        <a:defRPr sz="1000">
                          <a:solidFill>
                            <a:srgbClr val="2D2D3D"/>
                          </a:solidFill>
                          <a:latin typeface="Calibri"/>
                        </a:defRPr>
                      </a:pPr>
                      <a:r>
                        <a:t>911</a:t>
                      </a:r>
                    </a:p>
                  </a:txBody>
                  <a:tcPr>
                    <a:solidFill>
                      <a:srgbClr val="E8EBF5"/>
                    </a:solidFill>
                  </a:tcPr>
                </a:tc>
                <a:tc>
                  <a:txBody>
                    <a:bodyPr/>
                    <a:lstStyle/>
                    <a:p>
                      <a:pPr algn="r">
                        <a:defRPr sz="1000">
                          <a:solidFill>
                            <a:srgbClr val="2D2D3D"/>
                          </a:solidFill>
                          <a:latin typeface="Calibri"/>
                        </a:defRPr>
                      </a:pPr>
                      <a:r>
                        <a:t>627</a:t>
                      </a:r>
                    </a:p>
                  </a:txBody>
                  <a:tcPr>
                    <a:solidFill>
                      <a:srgbClr val="E8EBF5"/>
                    </a:solidFill>
                  </a:tcPr>
                </a:tc>
                <a:tc>
                  <a:txBody>
                    <a:bodyPr/>
                    <a:lstStyle/>
                    <a:p>
                      <a:pPr algn="r">
                        <a:defRPr sz="1000">
                          <a:solidFill>
                            <a:srgbClr val="2D2D3D"/>
                          </a:solidFill>
                          <a:latin typeface="Calibri"/>
                        </a:defRPr>
                      </a:pPr>
                      <a:r>
                        <a:t>764</a:t>
                      </a:r>
                    </a:p>
                  </a:txBody>
                  <a:tcPr>
                    <a:solidFill>
                      <a:srgbClr val="E8EBF5"/>
                    </a:solidFill>
                  </a:tcPr>
                </a:tc>
                <a:tc>
                  <a:txBody>
                    <a:bodyPr/>
                    <a:lstStyle/>
                    <a:p>
                      <a:pPr algn="r">
                        <a:defRPr sz="1000">
                          <a:solidFill>
                            <a:srgbClr val="2D2D3D"/>
                          </a:solidFill>
                          <a:latin typeface="Calibri"/>
                        </a:defRPr>
                      </a:pPr>
                      <a:r>
                        <a:t>+137</a:t>
                      </a:r>
                    </a:p>
                  </a:txBody>
                  <a:tcPr>
                    <a:solidFill>
                      <a:srgbClr val="E8EBF5"/>
                    </a:solidFill>
                  </a:tcPr>
                </a:tc>
              </a:tr>
              <a:tr h="320044">
                <a:tc>
                  <a:txBody>
                    <a:bodyPr/>
                    <a:lstStyle/>
                    <a:p>
                      <a:pPr algn="l">
                        <a:defRPr sz="1000">
                          <a:solidFill>
                            <a:srgbClr val="2D2D3D"/>
                          </a:solidFill>
                          <a:latin typeface="Calibri"/>
                        </a:defRPr>
                      </a:pPr>
                      <a:r>
                        <a:t>CCC (Deeply Stressed)</a:t>
                      </a:r>
                    </a:p>
                  </a:txBody>
                  <a:tcPr>
                    <a:solidFill>
                      <a:srgbClr val="FFFFFF"/>
                    </a:solidFill>
                  </a:tcPr>
                </a:tc>
                <a:tc>
                  <a:txBody>
                    <a:bodyPr/>
                    <a:lstStyle/>
                    <a:p>
                      <a:pPr algn="r">
                        <a:defRPr sz="1000">
                          <a:solidFill>
                            <a:srgbClr val="2D2D3D"/>
                          </a:solidFill>
                          <a:latin typeface="Calibri"/>
                        </a:defRPr>
                      </a:pPr>
                      <a:r>
                        <a:t>87%</a:t>
                      </a:r>
                    </a:p>
                  </a:txBody>
                  <a:tcPr>
                    <a:solidFill>
                      <a:srgbClr val="FFFFFF"/>
                    </a:solidFill>
                  </a:tcPr>
                </a:tc>
                <a:tc>
                  <a:txBody>
                    <a:bodyPr/>
                    <a:lstStyle/>
                    <a:p>
                      <a:pPr algn="r">
                        <a:defRPr sz="1000">
                          <a:solidFill>
                            <a:srgbClr val="2D2D3D"/>
                          </a:solidFill>
                          <a:latin typeface="Calibri"/>
                        </a:defRPr>
                      </a:pPr>
                      <a:r>
                        <a:t>1468</a:t>
                      </a:r>
                    </a:p>
                  </a:txBody>
                  <a:tcPr>
                    <a:solidFill>
                      <a:srgbClr val="FFFFFF"/>
                    </a:solidFill>
                  </a:tcPr>
                </a:tc>
                <a:tc>
                  <a:txBody>
                    <a:bodyPr/>
                    <a:lstStyle/>
                    <a:p>
                      <a:pPr algn="r">
                        <a:defRPr sz="1000">
                          <a:solidFill>
                            <a:srgbClr val="2D2D3D"/>
                          </a:solidFill>
                          <a:latin typeface="Calibri"/>
                        </a:defRPr>
                      </a:pPr>
                      <a:r>
                        <a:t>1047</a:t>
                      </a:r>
                    </a:p>
                  </a:txBody>
                  <a:tcPr>
                    <a:solidFill>
                      <a:srgbClr val="FFFFFF"/>
                    </a:solidFill>
                  </a:tcPr>
                </a:tc>
                <a:tc>
                  <a:txBody>
                    <a:bodyPr/>
                    <a:lstStyle/>
                    <a:p>
                      <a:pPr algn="r">
                        <a:defRPr sz="1000">
                          <a:solidFill>
                            <a:srgbClr val="2D2D3D"/>
                          </a:solidFill>
                          <a:latin typeface="Calibri"/>
                        </a:defRPr>
                      </a:pPr>
                      <a:r>
                        <a:t>1271</a:t>
                      </a:r>
                    </a:p>
                  </a:txBody>
                  <a:tcPr>
                    <a:solidFill>
                      <a:srgbClr val="FFFFFF"/>
                    </a:solidFill>
                  </a:tcPr>
                </a:tc>
                <a:tc>
                  <a:txBody>
                    <a:bodyPr/>
                    <a:lstStyle/>
                    <a:p>
                      <a:pPr algn="r">
                        <a:defRPr sz="1000">
                          <a:solidFill>
                            <a:srgbClr val="2D2D3D"/>
                          </a:solidFill>
                          <a:latin typeface="Calibri"/>
                        </a:defRPr>
                      </a:pPr>
                      <a:r>
                        <a:t>+224</a:t>
                      </a:r>
                    </a:p>
                  </a:txBody>
                  <a:tcPr>
                    <a:solidFill>
                      <a:srgbClr val="FFFFFF"/>
                    </a:solidFill>
                  </a:tcPr>
                </a:tc>
              </a:tr>
            </a:tbl>
          </a:graphicData>
        </a:graphic>
      </p:graphicFrame>
      <p:sp>
        <p:nvSpPr>
          <p:cNvPr id="15" name="Rounded Rectangle 14"/>
          <p:cNvSpPr/>
          <p:nvPr/>
        </p:nvSpPr>
        <p:spPr>
          <a:xfrm>
            <a:off x="6583680" y="5029200"/>
            <a:ext cx="2286000" cy="1097280"/>
          </a:xfrm>
          <a:prstGeom prst="round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000" b="1">
                <a:solidFill>
                  <a:srgbClr val="FFFFFF"/>
                </a:solidFill>
                <a:latin typeface="Calibri"/>
              </a:defRPr>
            </a:pPr>
            <a:r>
              <a:t>Key: ΔZ grows super-linearly with λ. A flat +50bp bump across all issuers is too much for BB+ and too little for CCC.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5</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The Calibration Gap</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Market spreads vs historical default rates</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6/16</a:t>
            </a:r>
          </a:p>
        </p:txBody>
      </p:sp>
      <p:sp>
        <p:nvSpPr>
          <p:cNvPr id="6" name="TextBox 5"/>
          <p:cNvSpPr txBox="1"/>
          <p:nvPr/>
        </p:nvSpPr>
        <p:spPr>
          <a:xfrm>
            <a:off x="457200" y="1005840"/>
            <a:ext cx="8229600" cy="548640"/>
          </a:xfrm>
          <a:prstGeom prst="rect">
            <a:avLst/>
          </a:prstGeom>
          <a:noFill/>
        </p:spPr>
        <p:txBody>
          <a:bodyPr wrap="square">
            <a:spAutoFit/>
          </a:bodyPr>
          <a:lstStyle/>
          <a:p>
            <a:pPr algn="l">
              <a:defRPr sz="1400" b="0">
                <a:solidFill>
                  <a:srgbClr val="2D2D3D"/>
                </a:solidFill>
                <a:latin typeface="Calibri"/>
              </a:defRPr>
            </a:pPr>
            <a:r>
              <a:t>Market spreads are not pure default compensation. They include a credit risk premium, liquidity premium, and systematic risk loading. Using market λ in the HR model overstates default probabilities — especially for strong credits.</a:t>
            </a:r>
          </a:p>
        </p:txBody>
      </p:sp>
      <p:graphicFrame>
        <p:nvGraphicFramePr>
          <p:cNvPr id="7" name="Table 6"/>
          <p:cNvGraphicFramePr>
            <a:graphicFrameLocks noGrp="1"/>
          </p:cNvGraphicFramePr>
          <p:nvPr/>
        </p:nvGraphicFramePr>
        <p:xfrm>
          <a:off x="274320" y="1737360"/>
          <a:ext cx="6035040" cy="1920239"/>
        </p:xfrm>
        <a:graphic>
          <a:graphicData uri="http://schemas.openxmlformats.org/drawingml/2006/table">
            <a:tbl>
              <a:tblPr firstRow="1" bandRow="1">
                <a:tableStyleId>{5C22544A-7EE6-4342-B048-85BDC9FD1C3A}</a:tableStyleId>
              </a:tblPr>
              <a:tblGrid>
                <a:gridCol w="1371600"/>
                <a:gridCol w="457200"/>
                <a:gridCol w="731520"/>
                <a:gridCol w="640080"/>
                <a:gridCol w="731520"/>
                <a:gridCol w="731520"/>
                <a:gridCol w="548640"/>
                <a:gridCol w="822960"/>
              </a:tblGrid>
              <a:tr h="320039">
                <a:tc>
                  <a:txBody>
                    <a:bodyPr/>
                    <a:lstStyle/>
                    <a:p>
                      <a:pPr algn="ctr">
                        <a:defRPr sz="1000" b="1">
                          <a:solidFill>
                            <a:srgbClr val="FFFFFF"/>
                          </a:solidFill>
                          <a:latin typeface="Calibri"/>
                        </a:defRPr>
                      </a:pPr>
                      <a:r>
                        <a:t>Issuer</a:t>
                      </a:r>
                    </a:p>
                  </a:txBody>
                  <a:tcPr>
                    <a:solidFill>
                      <a:srgbClr val="2C3E6B"/>
                    </a:solidFill>
                  </a:tcPr>
                </a:tc>
                <a:tc>
                  <a:txBody>
                    <a:bodyPr/>
                    <a:lstStyle/>
                    <a:p>
                      <a:pPr algn="ctr">
                        <a:defRPr sz="1000" b="1">
                          <a:solidFill>
                            <a:srgbClr val="FFFFFF"/>
                          </a:solidFill>
                          <a:latin typeface="Calibri"/>
                        </a:defRPr>
                      </a:pPr>
                      <a:r>
                        <a:t>LTV</a:t>
                      </a:r>
                    </a:p>
                  </a:txBody>
                  <a:tcPr>
                    <a:solidFill>
                      <a:srgbClr val="2C3E6B"/>
                    </a:solidFill>
                  </a:tcPr>
                </a:tc>
                <a:tc>
                  <a:txBody>
                    <a:bodyPr/>
                    <a:lstStyle/>
                    <a:p>
                      <a:pPr algn="ctr">
                        <a:defRPr sz="1000" b="1">
                          <a:solidFill>
                            <a:srgbClr val="FFFFFF"/>
                          </a:solidFill>
                          <a:latin typeface="Calibri"/>
                        </a:defRPr>
                      </a:pPr>
                      <a:r>
                        <a:t>Mkt Spread</a:t>
                      </a:r>
                    </a:p>
                  </a:txBody>
                  <a:tcPr>
                    <a:solidFill>
                      <a:srgbClr val="2C3E6B"/>
                    </a:solidFill>
                  </a:tcPr>
                </a:tc>
                <a:tc>
                  <a:txBody>
                    <a:bodyPr/>
                    <a:lstStyle/>
                    <a:p>
                      <a:pPr algn="ctr">
                        <a:defRPr sz="1000" b="1">
                          <a:solidFill>
                            <a:srgbClr val="FFFFFF"/>
                          </a:solidFill>
                          <a:latin typeface="Calibri"/>
                        </a:defRPr>
                      </a:pPr>
                      <a:r>
                        <a:t>λ (cal)</a:t>
                      </a:r>
                    </a:p>
                  </a:txBody>
                  <a:tcPr>
                    <a:solidFill>
                      <a:srgbClr val="2C3E6B"/>
                    </a:solidFill>
                  </a:tcPr>
                </a:tc>
                <a:tc>
                  <a:txBody>
                    <a:bodyPr/>
                    <a:lstStyle/>
                    <a:p>
                      <a:pPr algn="ctr">
                        <a:defRPr sz="1000" b="1">
                          <a:solidFill>
                            <a:srgbClr val="FFFFFF"/>
                          </a:solidFill>
                          <a:latin typeface="Calibri"/>
                        </a:defRPr>
                      </a:pPr>
                      <a:r>
                        <a:t>HR 5Y PD</a:t>
                      </a:r>
                    </a:p>
                  </a:txBody>
                  <a:tcPr>
                    <a:solidFill>
                      <a:srgbClr val="2C3E6B"/>
                    </a:solidFill>
                  </a:tcPr>
                </a:tc>
                <a:tc>
                  <a:txBody>
                    <a:bodyPr/>
                    <a:lstStyle/>
                    <a:p>
                      <a:pPr algn="ctr">
                        <a:defRPr sz="1000" b="1">
                          <a:solidFill>
                            <a:srgbClr val="FFFFFF"/>
                          </a:solidFill>
                          <a:latin typeface="Calibri"/>
                        </a:defRPr>
                      </a:pPr>
                      <a:r>
                        <a:t>Hist 5Y PD</a:t>
                      </a:r>
                    </a:p>
                  </a:txBody>
                  <a:tcPr>
                    <a:solidFill>
                      <a:srgbClr val="2C3E6B"/>
                    </a:solidFill>
                  </a:tcPr>
                </a:tc>
                <a:tc>
                  <a:txBody>
                    <a:bodyPr/>
                    <a:lstStyle/>
                    <a:p>
                      <a:pPr algn="ctr">
                        <a:defRPr sz="1000" b="1">
                          <a:solidFill>
                            <a:srgbClr val="FFFFFF"/>
                          </a:solidFill>
                          <a:latin typeface="Calibri"/>
                        </a:defRPr>
                      </a:pPr>
                      <a:r>
                        <a:t>Ratio</a:t>
                      </a:r>
                    </a:p>
                  </a:txBody>
                  <a:tcPr>
                    <a:solidFill>
                      <a:srgbClr val="2C3E6B"/>
                    </a:solidFill>
                  </a:tcPr>
                </a:tc>
                <a:tc>
                  <a:txBody>
                    <a:bodyPr/>
                    <a:lstStyle/>
                    <a:p>
                      <a:pPr algn="ctr">
                        <a:defRPr sz="1000" b="1">
                          <a:solidFill>
                            <a:srgbClr val="FFFFFF"/>
                          </a:solidFill>
                          <a:latin typeface="Calibri"/>
                        </a:defRPr>
                      </a:pPr>
                      <a:r>
                        <a:t>Risk Premium</a:t>
                      </a:r>
                    </a:p>
                  </a:txBody>
                  <a:tcPr>
                    <a:solidFill>
                      <a:srgbClr val="2C3E6B"/>
                    </a:solidFill>
                  </a:tcPr>
                </a:tc>
              </a:tr>
              <a:tr h="320039">
                <a:tc>
                  <a:txBody>
                    <a:bodyPr/>
                    <a:lstStyle/>
                    <a:p>
                      <a:pPr algn="l">
                        <a:defRPr sz="1000">
                          <a:solidFill>
                            <a:srgbClr val="2D2D3D"/>
                          </a:solidFill>
                          <a:latin typeface="Calibri"/>
                        </a:defRPr>
                      </a:pPr>
                      <a:r>
                        <a:t>BB+ (Solid HY)</a:t>
                      </a:r>
                    </a:p>
                  </a:txBody>
                  <a:tcPr>
                    <a:solidFill>
                      <a:srgbClr val="FFFFFF"/>
                    </a:solidFill>
                  </a:tcPr>
                </a:tc>
                <a:tc>
                  <a:txBody>
                    <a:bodyPr/>
                    <a:lstStyle/>
                    <a:p>
                      <a:pPr algn="r">
                        <a:defRPr sz="1000">
                          <a:solidFill>
                            <a:srgbClr val="2D2D3D"/>
                          </a:solidFill>
                          <a:latin typeface="Calibri"/>
                        </a:defRPr>
                      </a:pPr>
                      <a:r>
                        <a:t>50%</a:t>
                      </a:r>
                    </a:p>
                  </a:txBody>
                  <a:tcPr>
                    <a:solidFill>
                      <a:srgbClr val="FFFFFF"/>
                    </a:solidFill>
                  </a:tcPr>
                </a:tc>
                <a:tc>
                  <a:txBody>
                    <a:bodyPr/>
                    <a:lstStyle/>
                    <a:p>
                      <a:pPr algn="r">
                        <a:defRPr sz="1000">
                          <a:solidFill>
                            <a:srgbClr val="2D2D3D"/>
                          </a:solidFill>
                          <a:latin typeface="Calibri"/>
                        </a:defRPr>
                      </a:pPr>
                      <a:r>
                        <a:t>85bp</a:t>
                      </a:r>
                    </a:p>
                  </a:txBody>
                  <a:tcPr>
                    <a:solidFill>
                      <a:srgbClr val="FFFFFF"/>
                    </a:solidFill>
                  </a:tcPr>
                </a:tc>
                <a:tc>
                  <a:txBody>
                    <a:bodyPr/>
                    <a:lstStyle/>
                    <a:p>
                      <a:pPr algn="r">
                        <a:defRPr sz="1000">
                          <a:solidFill>
                            <a:srgbClr val="2D2D3D"/>
                          </a:solidFill>
                          <a:latin typeface="Calibri"/>
                        </a:defRPr>
                      </a:pPr>
                      <a:r>
                        <a:t>143bp</a:t>
                      </a:r>
                    </a:p>
                  </a:txBody>
                  <a:tcPr>
                    <a:solidFill>
                      <a:srgbClr val="FFFFFF"/>
                    </a:solidFill>
                  </a:tcPr>
                </a:tc>
                <a:tc>
                  <a:txBody>
                    <a:bodyPr/>
                    <a:lstStyle/>
                    <a:p>
                      <a:pPr algn="r">
                        <a:defRPr sz="1000">
                          <a:solidFill>
                            <a:srgbClr val="2D2D3D"/>
                          </a:solidFill>
                          <a:latin typeface="Calibri"/>
                        </a:defRPr>
                      </a:pPr>
                      <a:r>
                        <a:t>6.9%</a:t>
                      </a:r>
                    </a:p>
                  </a:txBody>
                  <a:tcPr>
                    <a:solidFill>
                      <a:srgbClr val="FFFFFF"/>
                    </a:solidFill>
                  </a:tcPr>
                </a:tc>
                <a:tc>
                  <a:txBody>
                    <a:bodyPr/>
                    <a:lstStyle/>
                    <a:p>
                      <a:pPr algn="r">
                        <a:defRPr sz="1000">
                          <a:solidFill>
                            <a:srgbClr val="2D2D3D"/>
                          </a:solidFill>
                          <a:latin typeface="Calibri"/>
                        </a:defRPr>
                      </a:pPr>
                      <a:r>
                        <a:t>1.0%</a:t>
                      </a:r>
                    </a:p>
                  </a:txBody>
                  <a:tcPr>
                    <a:solidFill>
                      <a:srgbClr val="FFFFFF"/>
                    </a:solidFill>
                  </a:tcPr>
                </a:tc>
                <a:tc>
                  <a:txBody>
                    <a:bodyPr/>
                    <a:lstStyle/>
                    <a:p>
                      <a:pPr algn="r">
                        <a:defRPr sz="1000">
                          <a:solidFill>
                            <a:srgbClr val="2D2D3D"/>
                          </a:solidFill>
                          <a:latin typeface="Calibri"/>
                        </a:defRPr>
                      </a:pPr>
                      <a:r>
                        <a:t>6.9×</a:t>
                      </a:r>
                    </a:p>
                  </a:txBody>
                  <a:tcPr>
                    <a:solidFill>
                      <a:srgbClr val="FFFFFF"/>
                    </a:solidFill>
                  </a:tcPr>
                </a:tc>
                <a:tc>
                  <a:txBody>
                    <a:bodyPr/>
                    <a:lstStyle/>
                    <a:p>
                      <a:pPr algn="r">
                        <a:defRPr sz="1000">
                          <a:solidFill>
                            <a:srgbClr val="2D2D3D"/>
                          </a:solidFill>
                          <a:latin typeface="Calibri"/>
                        </a:defRPr>
                      </a:pPr>
                      <a:r>
                        <a:t>Very high</a:t>
                      </a:r>
                    </a:p>
                  </a:txBody>
                  <a:tcPr>
                    <a:solidFill>
                      <a:srgbClr val="FFFFFF"/>
                    </a:solidFill>
                  </a:tcPr>
                </a:tc>
              </a:tr>
              <a:tr h="320039">
                <a:tc>
                  <a:txBody>
                    <a:bodyPr/>
                    <a:lstStyle/>
                    <a:p>
                      <a:pPr algn="l">
                        <a:defRPr sz="1000">
                          <a:solidFill>
                            <a:srgbClr val="2D2D3D"/>
                          </a:solidFill>
                          <a:latin typeface="Calibri"/>
                        </a:defRPr>
                      </a:pPr>
                      <a:r>
                        <a:t>BB− (Mid HY)</a:t>
                      </a:r>
                    </a:p>
                  </a:txBody>
                  <a:tcPr>
                    <a:solidFill>
                      <a:srgbClr val="E8EBF5"/>
                    </a:solidFill>
                  </a:tcPr>
                </a:tc>
                <a:tc>
                  <a:txBody>
                    <a:bodyPr/>
                    <a:lstStyle/>
                    <a:p>
                      <a:pPr algn="r">
                        <a:defRPr sz="1000">
                          <a:solidFill>
                            <a:srgbClr val="2D2D3D"/>
                          </a:solidFill>
                          <a:latin typeface="Calibri"/>
                        </a:defRPr>
                      </a:pPr>
                      <a:r>
                        <a:t>61%</a:t>
                      </a:r>
                    </a:p>
                  </a:txBody>
                  <a:tcPr>
                    <a:solidFill>
                      <a:srgbClr val="E8EBF5"/>
                    </a:solidFill>
                  </a:tcPr>
                </a:tc>
                <a:tc>
                  <a:txBody>
                    <a:bodyPr/>
                    <a:lstStyle/>
                    <a:p>
                      <a:pPr algn="r">
                        <a:defRPr sz="1000">
                          <a:solidFill>
                            <a:srgbClr val="2D2D3D"/>
                          </a:solidFill>
                          <a:latin typeface="Calibri"/>
                        </a:defRPr>
                      </a:pPr>
                      <a:r>
                        <a:t>210bp</a:t>
                      </a:r>
                    </a:p>
                  </a:txBody>
                  <a:tcPr>
                    <a:solidFill>
                      <a:srgbClr val="E8EBF5"/>
                    </a:solidFill>
                  </a:tcPr>
                </a:tc>
                <a:tc>
                  <a:txBody>
                    <a:bodyPr/>
                    <a:lstStyle/>
                    <a:p>
                      <a:pPr algn="r">
                        <a:defRPr sz="1000">
                          <a:solidFill>
                            <a:srgbClr val="2D2D3D"/>
                          </a:solidFill>
                          <a:latin typeface="Calibri"/>
                        </a:defRPr>
                      </a:pPr>
                      <a:r>
                        <a:t>334bp</a:t>
                      </a:r>
                    </a:p>
                  </a:txBody>
                  <a:tcPr>
                    <a:solidFill>
                      <a:srgbClr val="E8EBF5"/>
                    </a:solidFill>
                  </a:tcPr>
                </a:tc>
                <a:tc>
                  <a:txBody>
                    <a:bodyPr/>
                    <a:lstStyle/>
                    <a:p>
                      <a:pPr algn="r">
                        <a:defRPr sz="1000">
                          <a:solidFill>
                            <a:srgbClr val="2D2D3D"/>
                          </a:solidFill>
                          <a:latin typeface="Calibri"/>
                        </a:defRPr>
                      </a:pPr>
                      <a:r>
                        <a:t>15.4%</a:t>
                      </a:r>
                    </a:p>
                  </a:txBody>
                  <a:tcPr>
                    <a:solidFill>
                      <a:srgbClr val="E8EBF5"/>
                    </a:solidFill>
                  </a:tcPr>
                </a:tc>
                <a:tc>
                  <a:txBody>
                    <a:bodyPr/>
                    <a:lstStyle/>
                    <a:p>
                      <a:pPr algn="r">
                        <a:defRPr sz="1000">
                          <a:solidFill>
                            <a:srgbClr val="2D2D3D"/>
                          </a:solidFill>
                          <a:latin typeface="Calibri"/>
                        </a:defRPr>
                      </a:pPr>
                      <a:r>
                        <a:t>4.9%</a:t>
                      </a:r>
                    </a:p>
                  </a:txBody>
                  <a:tcPr>
                    <a:solidFill>
                      <a:srgbClr val="E8EBF5"/>
                    </a:solidFill>
                  </a:tcPr>
                </a:tc>
                <a:tc>
                  <a:txBody>
                    <a:bodyPr/>
                    <a:lstStyle/>
                    <a:p>
                      <a:pPr algn="r">
                        <a:defRPr sz="1000">
                          <a:solidFill>
                            <a:srgbClr val="2D2D3D"/>
                          </a:solidFill>
                          <a:latin typeface="Calibri"/>
                        </a:defRPr>
                      </a:pPr>
                      <a:r>
                        <a:t>3.2×</a:t>
                      </a:r>
                    </a:p>
                  </a:txBody>
                  <a:tcPr>
                    <a:solidFill>
                      <a:srgbClr val="E8EBF5"/>
                    </a:solidFill>
                  </a:tcPr>
                </a:tc>
                <a:tc>
                  <a:txBody>
                    <a:bodyPr/>
                    <a:lstStyle/>
                    <a:p>
                      <a:pPr algn="r">
                        <a:defRPr sz="1000">
                          <a:solidFill>
                            <a:srgbClr val="2D2D3D"/>
                          </a:solidFill>
                          <a:latin typeface="Calibri"/>
                        </a:defRPr>
                      </a:pPr>
                      <a:r>
                        <a:t>High</a:t>
                      </a:r>
                    </a:p>
                  </a:txBody>
                  <a:tcPr>
                    <a:solidFill>
                      <a:srgbClr val="E8EBF5"/>
                    </a:solidFill>
                  </a:tcPr>
                </a:tc>
              </a:tr>
              <a:tr h="320039">
                <a:tc>
                  <a:txBody>
                    <a:bodyPr/>
                    <a:lstStyle/>
                    <a:p>
                      <a:pPr algn="l">
                        <a:defRPr sz="1000">
                          <a:solidFill>
                            <a:srgbClr val="2D2D3D"/>
                          </a:solidFill>
                          <a:latin typeface="Calibri"/>
                        </a:defRPr>
                      </a:pPr>
                      <a:r>
                        <a:t>B (Weak HY)</a:t>
                      </a:r>
                    </a:p>
                  </a:txBody>
                  <a:tcPr>
                    <a:solidFill>
                      <a:srgbClr val="FFFFFF"/>
                    </a:solidFill>
                  </a:tcPr>
                </a:tc>
                <a:tc>
                  <a:txBody>
                    <a:bodyPr/>
                    <a:lstStyle/>
                    <a:p>
                      <a:pPr algn="r">
                        <a:defRPr sz="1000">
                          <a:solidFill>
                            <a:srgbClr val="2D2D3D"/>
                          </a:solidFill>
                          <a:latin typeface="Calibri"/>
                        </a:defRPr>
                      </a:pPr>
                      <a:r>
                        <a:t>71%</a:t>
                      </a:r>
                    </a:p>
                  </a:txBody>
                  <a:tcPr>
                    <a:solidFill>
                      <a:srgbClr val="FFFFFF"/>
                    </a:solidFill>
                  </a:tcPr>
                </a:tc>
                <a:tc>
                  <a:txBody>
                    <a:bodyPr/>
                    <a:lstStyle/>
                    <a:p>
                      <a:pPr algn="r">
                        <a:defRPr sz="1000">
                          <a:solidFill>
                            <a:srgbClr val="2D2D3D"/>
                          </a:solidFill>
                          <a:latin typeface="Calibri"/>
                        </a:defRPr>
                      </a:pPr>
                      <a:r>
                        <a:t>390bp</a:t>
                      </a:r>
                    </a:p>
                  </a:txBody>
                  <a:tcPr>
                    <a:solidFill>
                      <a:srgbClr val="FFFFFF"/>
                    </a:solidFill>
                  </a:tcPr>
                </a:tc>
                <a:tc>
                  <a:txBody>
                    <a:bodyPr/>
                    <a:lstStyle/>
                    <a:p>
                      <a:pPr algn="r">
                        <a:defRPr sz="1000">
                          <a:solidFill>
                            <a:srgbClr val="2D2D3D"/>
                          </a:solidFill>
                          <a:latin typeface="Calibri"/>
                        </a:defRPr>
                      </a:pPr>
                      <a:r>
                        <a:t>591bp</a:t>
                      </a:r>
                    </a:p>
                  </a:txBody>
                  <a:tcPr>
                    <a:solidFill>
                      <a:srgbClr val="FFFFFF"/>
                    </a:solidFill>
                  </a:tcPr>
                </a:tc>
                <a:tc>
                  <a:txBody>
                    <a:bodyPr/>
                    <a:lstStyle/>
                    <a:p>
                      <a:pPr algn="r">
                        <a:defRPr sz="1000">
                          <a:solidFill>
                            <a:srgbClr val="2D2D3D"/>
                          </a:solidFill>
                          <a:latin typeface="Calibri"/>
                        </a:defRPr>
                      </a:pPr>
                      <a:r>
                        <a:t>25.6%</a:t>
                      </a:r>
                    </a:p>
                  </a:txBody>
                  <a:tcPr>
                    <a:solidFill>
                      <a:srgbClr val="FFFFFF"/>
                    </a:solidFill>
                  </a:tcPr>
                </a:tc>
                <a:tc>
                  <a:txBody>
                    <a:bodyPr/>
                    <a:lstStyle/>
                    <a:p>
                      <a:pPr algn="r">
                        <a:defRPr sz="1000">
                          <a:solidFill>
                            <a:srgbClr val="2D2D3D"/>
                          </a:solidFill>
                          <a:latin typeface="Calibri"/>
                        </a:defRPr>
                      </a:pPr>
                      <a:r>
                        <a:t>11.8%</a:t>
                      </a:r>
                    </a:p>
                  </a:txBody>
                  <a:tcPr>
                    <a:solidFill>
                      <a:srgbClr val="FFFFFF"/>
                    </a:solidFill>
                  </a:tcPr>
                </a:tc>
                <a:tc>
                  <a:txBody>
                    <a:bodyPr/>
                    <a:lstStyle/>
                    <a:p>
                      <a:pPr algn="r">
                        <a:defRPr sz="1000">
                          <a:solidFill>
                            <a:srgbClr val="2D2D3D"/>
                          </a:solidFill>
                          <a:latin typeface="Calibri"/>
                        </a:defRPr>
                      </a:pPr>
                      <a:r>
                        <a:t>2.2×</a:t>
                      </a:r>
                    </a:p>
                  </a:txBody>
                  <a:tcPr>
                    <a:solidFill>
                      <a:srgbClr val="FFFFFF"/>
                    </a:solidFill>
                  </a:tcPr>
                </a:tc>
                <a:tc>
                  <a:txBody>
                    <a:bodyPr/>
                    <a:lstStyle/>
                    <a:p>
                      <a:pPr algn="r">
                        <a:defRPr sz="1000">
                          <a:solidFill>
                            <a:srgbClr val="2D2D3D"/>
                          </a:solidFill>
                          <a:latin typeface="Calibri"/>
                        </a:defRPr>
                      </a:pPr>
                      <a:r>
                        <a:t>High</a:t>
                      </a:r>
                    </a:p>
                  </a:txBody>
                  <a:tcPr>
                    <a:solidFill>
                      <a:srgbClr val="FFFFFF"/>
                    </a:solidFill>
                  </a:tcPr>
                </a:tc>
              </a:tr>
              <a:tr h="320039">
                <a:tc>
                  <a:txBody>
                    <a:bodyPr/>
                    <a:lstStyle/>
                    <a:p>
                      <a:pPr algn="l">
                        <a:defRPr sz="1000">
                          <a:solidFill>
                            <a:srgbClr val="2D2D3D"/>
                          </a:solidFill>
                          <a:latin typeface="Calibri"/>
                        </a:defRPr>
                      </a:pPr>
                      <a:r>
                        <a:t>B− (Stressed)</a:t>
                      </a:r>
                    </a:p>
                  </a:txBody>
                  <a:tcPr>
                    <a:solidFill>
                      <a:srgbClr val="E8EBF5"/>
                    </a:solidFill>
                  </a:tcPr>
                </a:tc>
                <a:tc>
                  <a:txBody>
                    <a:bodyPr/>
                    <a:lstStyle/>
                    <a:p>
                      <a:pPr algn="r">
                        <a:defRPr sz="1000">
                          <a:solidFill>
                            <a:srgbClr val="2D2D3D"/>
                          </a:solidFill>
                          <a:latin typeface="Calibri"/>
                        </a:defRPr>
                      </a:pPr>
                      <a:r>
                        <a:t>80%</a:t>
                      </a:r>
                    </a:p>
                  </a:txBody>
                  <a:tcPr>
                    <a:solidFill>
                      <a:srgbClr val="E8EBF5"/>
                    </a:solidFill>
                  </a:tcPr>
                </a:tc>
                <a:tc>
                  <a:txBody>
                    <a:bodyPr/>
                    <a:lstStyle/>
                    <a:p>
                      <a:pPr algn="r">
                        <a:defRPr sz="1000">
                          <a:solidFill>
                            <a:srgbClr val="2D2D3D"/>
                          </a:solidFill>
                          <a:latin typeface="Calibri"/>
                        </a:defRPr>
                      </a:pPr>
                      <a:r>
                        <a:t>630bp</a:t>
                      </a:r>
                    </a:p>
                  </a:txBody>
                  <a:tcPr>
                    <a:solidFill>
                      <a:srgbClr val="E8EBF5"/>
                    </a:solidFill>
                  </a:tcPr>
                </a:tc>
                <a:tc>
                  <a:txBody>
                    <a:bodyPr/>
                    <a:lstStyle/>
                    <a:p>
                      <a:pPr algn="r">
                        <a:defRPr sz="1000">
                          <a:solidFill>
                            <a:srgbClr val="2D2D3D"/>
                          </a:solidFill>
                          <a:latin typeface="Calibri"/>
                        </a:defRPr>
                      </a:pPr>
                      <a:r>
                        <a:t>911bp</a:t>
                      </a:r>
                    </a:p>
                  </a:txBody>
                  <a:tcPr>
                    <a:solidFill>
                      <a:srgbClr val="E8EBF5"/>
                    </a:solidFill>
                  </a:tcPr>
                </a:tc>
                <a:tc>
                  <a:txBody>
                    <a:bodyPr/>
                    <a:lstStyle/>
                    <a:p>
                      <a:pPr algn="r">
                        <a:defRPr sz="1000">
                          <a:solidFill>
                            <a:srgbClr val="2D2D3D"/>
                          </a:solidFill>
                          <a:latin typeface="Calibri"/>
                        </a:defRPr>
                      </a:pPr>
                      <a:r>
                        <a:t>36.6%</a:t>
                      </a:r>
                    </a:p>
                  </a:txBody>
                  <a:tcPr>
                    <a:solidFill>
                      <a:srgbClr val="E8EBF5"/>
                    </a:solidFill>
                  </a:tcPr>
                </a:tc>
                <a:tc>
                  <a:txBody>
                    <a:bodyPr/>
                    <a:lstStyle/>
                    <a:p>
                      <a:pPr algn="r">
                        <a:defRPr sz="1000">
                          <a:solidFill>
                            <a:srgbClr val="2D2D3D"/>
                          </a:solidFill>
                          <a:latin typeface="Calibri"/>
                        </a:defRPr>
                      </a:pPr>
                      <a:r>
                        <a:t>24.0%</a:t>
                      </a:r>
                    </a:p>
                  </a:txBody>
                  <a:tcPr>
                    <a:solidFill>
                      <a:srgbClr val="E8EBF5"/>
                    </a:solidFill>
                  </a:tcPr>
                </a:tc>
                <a:tc>
                  <a:txBody>
                    <a:bodyPr/>
                    <a:lstStyle/>
                    <a:p>
                      <a:pPr algn="r">
                        <a:defRPr sz="1000">
                          <a:solidFill>
                            <a:srgbClr val="2D2D3D"/>
                          </a:solidFill>
                          <a:latin typeface="Calibri"/>
                        </a:defRPr>
                      </a:pPr>
                      <a:r>
                        <a:t>1.5×</a:t>
                      </a:r>
                    </a:p>
                  </a:txBody>
                  <a:tcPr>
                    <a:solidFill>
                      <a:srgbClr val="E8EBF5"/>
                    </a:solidFill>
                  </a:tcPr>
                </a:tc>
                <a:tc>
                  <a:txBody>
                    <a:bodyPr/>
                    <a:lstStyle/>
                    <a:p>
                      <a:pPr algn="r">
                        <a:defRPr sz="1000">
                          <a:solidFill>
                            <a:srgbClr val="2D2D3D"/>
                          </a:solidFill>
                          <a:latin typeface="Calibri"/>
                        </a:defRPr>
                      </a:pPr>
                      <a:r>
                        <a:t>Moderate</a:t>
                      </a:r>
                    </a:p>
                  </a:txBody>
                  <a:tcPr>
                    <a:solidFill>
                      <a:srgbClr val="E8EBF5"/>
                    </a:solidFill>
                  </a:tcPr>
                </a:tc>
              </a:tr>
              <a:tr h="320044">
                <a:tc>
                  <a:txBody>
                    <a:bodyPr/>
                    <a:lstStyle/>
                    <a:p>
                      <a:pPr algn="l">
                        <a:defRPr sz="1000">
                          <a:solidFill>
                            <a:srgbClr val="2D2D3D"/>
                          </a:solidFill>
                          <a:latin typeface="Calibri"/>
                        </a:defRPr>
                      </a:pPr>
                      <a:r>
                        <a:t>CCC (Deeply Stressed)</a:t>
                      </a:r>
                    </a:p>
                  </a:txBody>
                  <a:tcPr>
                    <a:solidFill>
                      <a:srgbClr val="FFFFFF"/>
                    </a:solidFill>
                  </a:tcPr>
                </a:tc>
                <a:tc>
                  <a:txBody>
                    <a:bodyPr/>
                    <a:lstStyle/>
                    <a:p>
                      <a:pPr algn="r">
                        <a:defRPr sz="1000">
                          <a:solidFill>
                            <a:srgbClr val="2D2D3D"/>
                          </a:solidFill>
                          <a:latin typeface="Calibri"/>
                        </a:defRPr>
                      </a:pPr>
                      <a:r>
                        <a:t>87%</a:t>
                      </a:r>
                    </a:p>
                  </a:txBody>
                  <a:tcPr>
                    <a:solidFill>
                      <a:srgbClr val="FFFFFF"/>
                    </a:solidFill>
                  </a:tcPr>
                </a:tc>
                <a:tc>
                  <a:txBody>
                    <a:bodyPr/>
                    <a:lstStyle/>
                    <a:p>
                      <a:pPr algn="r">
                        <a:defRPr sz="1000">
                          <a:solidFill>
                            <a:srgbClr val="2D2D3D"/>
                          </a:solidFill>
                          <a:latin typeface="Calibri"/>
                        </a:defRPr>
                      </a:pPr>
                      <a:r>
                        <a:t>1050bp</a:t>
                      </a:r>
                    </a:p>
                  </a:txBody>
                  <a:tcPr>
                    <a:solidFill>
                      <a:srgbClr val="FFFFFF"/>
                    </a:solidFill>
                  </a:tcPr>
                </a:tc>
                <a:tc>
                  <a:txBody>
                    <a:bodyPr/>
                    <a:lstStyle/>
                    <a:p>
                      <a:pPr algn="r">
                        <a:defRPr sz="1000">
                          <a:solidFill>
                            <a:srgbClr val="2D2D3D"/>
                          </a:solidFill>
                          <a:latin typeface="Calibri"/>
                        </a:defRPr>
                      </a:pPr>
                      <a:r>
                        <a:t>1468bp</a:t>
                      </a:r>
                    </a:p>
                  </a:txBody>
                  <a:tcPr>
                    <a:solidFill>
                      <a:srgbClr val="FFFFFF"/>
                    </a:solidFill>
                  </a:tcPr>
                </a:tc>
                <a:tc>
                  <a:txBody>
                    <a:bodyPr/>
                    <a:lstStyle/>
                    <a:p>
                      <a:pPr algn="r">
                        <a:defRPr sz="1000">
                          <a:solidFill>
                            <a:srgbClr val="2D2D3D"/>
                          </a:solidFill>
                          <a:latin typeface="Calibri"/>
                        </a:defRPr>
                      </a:pPr>
                      <a:r>
                        <a:t>52.0%</a:t>
                      </a:r>
                    </a:p>
                  </a:txBody>
                  <a:tcPr>
                    <a:solidFill>
                      <a:srgbClr val="FFFFFF"/>
                    </a:solidFill>
                  </a:tcPr>
                </a:tc>
                <a:tc>
                  <a:txBody>
                    <a:bodyPr/>
                    <a:lstStyle/>
                    <a:p>
                      <a:pPr algn="r">
                        <a:defRPr sz="1000">
                          <a:solidFill>
                            <a:srgbClr val="2D2D3D"/>
                          </a:solidFill>
                          <a:latin typeface="Calibri"/>
                        </a:defRPr>
                      </a:pPr>
                      <a:r>
                        <a:t>39.3%</a:t>
                      </a:r>
                    </a:p>
                  </a:txBody>
                  <a:tcPr>
                    <a:solidFill>
                      <a:srgbClr val="FFFFFF"/>
                    </a:solidFill>
                  </a:tcPr>
                </a:tc>
                <a:tc>
                  <a:txBody>
                    <a:bodyPr/>
                    <a:lstStyle/>
                    <a:p>
                      <a:pPr algn="r">
                        <a:defRPr sz="1000">
                          <a:solidFill>
                            <a:srgbClr val="2D2D3D"/>
                          </a:solidFill>
                          <a:latin typeface="Calibri"/>
                        </a:defRPr>
                      </a:pPr>
                      <a:r>
                        <a:t>1.3×</a:t>
                      </a:r>
                    </a:p>
                  </a:txBody>
                  <a:tcPr>
                    <a:solidFill>
                      <a:srgbClr val="FFFFFF"/>
                    </a:solidFill>
                  </a:tcPr>
                </a:tc>
                <a:tc>
                  <a:txBody>
                    <a:bodyPr/>
                    <a:lstStyle/>
                    <a:p>
                      <a:pPr algn="r">
                        <a:defRPr sz="1000">
                          <a:solidFill>
                            <a:srgbClr val="2D2D3D"/>
                          </a:solidFill>
                          <a:latin typeface="Calibri"/>
                        </a:defRPr>
                      </a:pPr>
                      <a:r>
                        <a:t>Moderate</a:t>
                      </a:r>
                    </a:p>
                  </a:txBody>
                  <a:tcPr>
                    <a:solidFill>
                      <a:srgbClr val="FFFFFF"/>
                    </a:solidFill>
                  </a:tcPr>
                </a:tc>
              </a:tr>
            </a:tbl>
          </a:graphicData>
        </a:graphic>
      </p:graphicFrame>
      <p:sp>
        <p:nvSpPr>
          <p:cNvPr id="8" name="TextBox 7"/>
          <p:cNvSpPr txBox="1"/>
          <p:nvPr/>
        </p:nvSpPr>
        <p:spPr>
          <a:xfrm>
            <a:off x="457200" y="3840480"/>
            <a:ext cx="3657600" cy="228600"/>
          </a:xfrm>
          <a:prstGeom prst="rect">
            <a:avLst/>
          </a:prstGeom>
          <a:noFill/>
        </p:spPr>
        <p:txBody>
          <a:bodyPr wrap="square">
            <a:spAutoFit/>
          </a:bodyPr>
          <a:lstStyle/>
          <a:p>
            <a:pPr algn="l">
              <a:defRPr sz="1200" b="1">
                <a:solidFill>
                  <a:srgbClr val="2C3E6B"/>
                </a:solidFill>
                <a:latin typeface="Calibri"/>
              </a:defRPr>
            </a:pPr>
            <a:r>
              <a:t>Market-Implied / Historical PD Ratio</a:t>
            </a:r>
          </a:p>
        </p:txBody>
      </p:sp>
      <p:sp>
        <p:nvSpPr>
          <p:cNvPr id="9" name="TextBox 8"/>
          <p:cNvSpPr txBox="1"/>
          <p:nvPr/>
        </p:nvSpPr>
        <p:spPr>
          <a:xfrm>
            <a:off x="457200" y="4160520"/>
            <a:ext cx="731520" cy="228600"/>
          </a:xfrm>
          <a:prstGeom prst="rect">
            <a:avLst/>
          </a:prstGeom>
          <a:noFill/>
        </p:spPr>
        <p:txBody>
          <a:bodyPr wrap="square">
            <a:spAutoFit/>
          </a:bodyPr>
          <a:lstStyle/>
          <a:p>
            <a:pPr algn="l">
              <a:defRPr sz="900" b="0">
                <a:solidFill>
                  <a:srgbClr val="555570"/>
                </a:solidFill>
                <a:latin typeface="Calibri"/>
              </a:defRPr>
            </a:pPr>
            <a:r>
              <a:t>BB+</a:t>
            </a:r>
          </a:p>
        </p:txBody>
      </p:sp>
      <p:sp>
        <p:nvSpPr>
          <p:cNvPr id="10" name="Rectangle 9"/>
          <p:cNvSpPr/>
          <p:nvPr/>
        </p:nvSpPr>
        <p:spPr>
          <a:xfrm>
            <a:off x="1280160" y="4185920"/>
            <a:ext cx="2286000" cy="17780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6960" y="4147820"/>
            <a:ext cx="548640" cy="228600"/>
          </a:xfrm>
          <a:prstGeom prst="rect">
            <a:avLst/>
          </a:prstGeom>
          <a:noFill/>
        </p:spPr>
        <p:txBody>
          <a:bodyPr wrap="square">
            <a:spAutoFit/>
          </a:bodyPr>
          <a:lstStyle/>
          <a:p>
            <a:pPr algn="l">
              <a:defRPr sz="900" b="1">
                <a:solidFill>
                  <a:srgbClr val="E04F4F"/>
                </a:solidFill>
                <a:latin typeface="Calibri"/>
              </a:defRPr>
            </a:pPr>
            <a:r>
              <a:t>6.9×</a:t>
            </a:r>
          </a:p>
        </p:txBody>
      </p:sp>
      <p:sp>
        <p:nvSpPr>
          <p:cNvPr id="12" name="TextBox 11"/>
          <p:cNvSpPr txBox="1"/>
          <p:nvPr/>
        </p:nvSpPr>
        <p:spPr>
          <a:xfrm>
            <a:off x="457200" y="4526280"/>
            <a:ext cx="731520" cy="228600"/>
          </a:xfrm>
          <a:prstGeom prst="rect">
            <a:avLst/>
          </a:prstGeom>
          <a:noFill/>
        </p:spPr>
        <p:txBody>
          <a:bodyPr wrap="square">
            <a:spAutoFit/>
          </a:bodyPr>
          <a:lstStyle/>
          <a:p>
            <a:pPr algn="l">
              <a:defRPr sz="900" b="0">
                <a:solidFill>
                  <a:srgbClr val="555570"/>
                </a:solidFill>
                <a:latin typeface="Calibri"/>
              </a:defRPr>
            </a:pPr>
            <a:r>
              <a:t>BB−</a:t>
            </a:r>
          </a:p>
        </p:txBody>
      </p:sp>
      <p:sp>
        <p:nvSpPr>
          <p:cNvPr id="13" name="Rectangle 12"/>
          <p:cNvSpPr/>
          <p:nvPr/>
        </p:nvSpPr>
        <p:spPr>
          <a:xfrm>
            <a:off x="1280160" y="4551680"/>
            <a:ext cx="1038807" cy="17780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69767" y="4513580"/>
            <a:ext cx="548640" cy="228600"/>
          </a:xfrm>
          <a:prstGeom prst="rect">
            <a:avLst/>
          </a:prstGeom>
          <a:noFill/>
        </p:spPr>
        <p:txBody>
          <a:bodyPr wrap="square">
            <a:spAutoFit/>
          </a:bodyPr>
          <a:lstStyle/>
          <a:p>
            <a:pPr algn="l">
              <a:defRPr sz="900" b="1">
                <a:solidFill>
                  <a:srgbClr val="E88D3F"/>
                </a:solidFill>
                <a:latin typeface="Calibri"/>
              </a:defRPr>
            </a:pPr>
            <a:r>
              <a:t>3.2×</a:t>
            </a:r>
          </a:p>
        </p:txBody>
      </p:sp>
      <p:sp>
        <p:nvSpPr>
          <p:cNvPr id="15" name="TextBox 14"/>
          <p:cNvSpPr txBox="1"/>
          <p:nvPr/>
        </p:nvSpPr>
        <p:spPr>
          <a:xfrm>
            <a:off x="457200" y="4892040"/>
            <a:ext cx="731520" cy="228600"/>
          </a:xfrm>
          <a:prstGeom prst="rect">
            <a:avLst/>
          </a:prstGeom>
          <a:noFill/>
        </p:spPr>
        <p:txBody>
          <a:bodyPr wrap="square">
            <a:spAutoFit/>
          </a:bodyPr>
          <a:lstStyle/>
          <a:p>
            <a:pPr algn="l">
              <a:defRPr sz="900" b="0">
                <a:solidFill>
                  <a:srgbClr val="555570"/>
                </a:solidFill>
                <a:latin typeface="Calibri"/>
              </a:defRPr>
            </a:pPr>
            <a:r>
              <a:t>B</a:t>
            </a:r>
          </a:p>
        </p:txBody>
      </p:sp>
      <p:sp>
        <p:nvSpPr>
          <p:cNvPr id="16" name="Rectangle 15"/>
          <p:cNvSpPr/>
          <p:nvPr/>
        </p:nvSpPr>
        <p:spPr>
          <a:xfrm>
            <a:off x="1280160" y="4917440"/>
            <a:ext cx="715878" cy="17780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46838" y="4879340"/>
            <a:ext cx="548640" cy="228600"/>
          </a:xfrm>
          <a:prstGeom prst="rect">
            <a:avLst/>
          </a:prstGeom>
          <a:noFill/>
        </p:spPr>
        <p:txBody>
          <a:bodyPr wrap="square">
            <a:spAutoFit/>
          </a:bodyPr>
          <a:lstStyle/>
          <a:p>
            <a:pPr algn="l">
              <a:defRPr sz="900" b="1">
                <a:solidFill>
                  <a:srgbClr val="E88D3F"/>
                </a:solidFill>
                <a:latin typeface="Calibri"/>
              </a:defRPr>
            </a:pPr>
            <a:r>
              <a:t>2.2×</a:t>
            </a:r>
          </a:p>
        </p:txBody>
      </p:sp>
      <p:sp>
        <p:nvSpPr>
          <p:cNvPr id="18" name="TextBox 17"/>
          <p:cNvSpPr txBox="1"/>
          <p:nvPr/>
        </p:nvSpPr>
        <p:spPr>
          <a:xfrm>
            <a:off x="457200" y="5257800"/>
            <a:ext cx="731520" cy="228600"/>
          </a:xfrm>
          <a:prstGeom prst="rect">
            <a:avLst/>
          </a:prstGeom>
          <a:noFill/>
        </p:spPr>
        <p:txBody>
          <a:bodyPr wrap="square">
            <a:spAutoFit/>
          </a:bodyPr>
          <a:lstStyle/>
          <a:p>
            <a:pPr algn="l">
              <a:defRPr sz="900" b="0">
                <a:solidFill>
                  <a:srgbClr val="555570"/>
                </a:solidFill>
                <a:latin typeface="Calibri"/>
              </a:defRPr>
            </a:pPr>
            <a:r>
              <a:t>B−</a:t>
            </a:r>
          </a:p>
        </p:txBody>
      </p:sp>
      <p:sp>
        <p:nvSpPr>
          <p:cNvPr id="19" name="Rectangle 18"/>
          <p:cNvSpPr/>
          <p:nvPr/>
        </p:nvSpPr>
        <p:spPr>
          <a:xfrm>
            <a:off x="1280160" y="5283200"/>
            <a:ext cx="500572" cy="1778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31532" y="5245100"/>
            <a:ext cx="548640" cy="228600"/>
          </a:xfrm>
          <a:prstGeom prst="rect">
            <a:avLst/>
          </a:prstGeom>
          <a:noFill/>
        </p:spPr>
        <p:txBody>
          <a:bodyPr wrap="square">
            <a:spAutoFit/>
          </a:bodyPr>
          <a:lstStyle/>
          <a:p>
            <a:pPr algn="l">
              <a:defRPr sz="900" b="1">
                <a:solidFill>
                  <a:srgbClr val="5CB85C"/>
                </a:solidFill>
                <a:latin typeface="Calibri"/>
              </a:defRPr>
            </a:pPr>
            <a:r>
              <a:t>1.5×</a:t>
            </a:r>
          </a:p>
        </p:txBody>
      </p:sp>
      <p:sp>
        <p:nvSpPr>
          <p:cNvPr id="21" name="TextBox 20"/>
          <p:cNvSpPr txBox="1"/>
          <p:nvPr/>
        </p:nvSpPr>
        <p:spPr>
          <a:xfrm>
            <a:off x="457200" y="5623560"/>
            <a:ext cx="731520" cy="228600"/>
          </a:xfrm>
          <a:prstGeom prst="rect">
            <a:avLst/>
          </a:prstGeom>
          <a:noFill/>
        </p:spPr>
        <p:txBody>
          <a:bodyPr wrap="square">
            <a:spAutoFit/>
          </a:bodyPr>
          <a:lstStyle/>
          <a:p>
            <a:pPr algn="l">
              <a:defRPr sz="900" b="0">
                <a:solidFill>
                  <a:srgbClr val="555570"/>
                </a:solidFill>
                <a:latin typeface="Calibri"/>
              </a:defRPr>
            </a:pPr>
            <a:r>
              <a:t>CCC</a:t>
            </a:r>
          </a:p>
        </p:txBody>
      </p:sp>
      <p:sp>
        <p:nvSpPr>
          <p:cNvPr id="22" name="Rectangle 21"/>
          <p:cNvSpPr/>
          <p:nvPr/>
        </p:nvSpPr>
        <p:spPr>
          <a:xfrm>
            <a:off x="1280160" y="5648960"/>
            <a:ext cx="434908" cy="1778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65868" y="5610860"/>
            <a:ext cx="548640" cy="228600"/>
          </a:xfrm>
          <a:prstGeom prst="rect">
            <a:avLst/>
          </a:prstGeom>
          <a:noFill/>
        </p:spPr>
        <p:txBody>
          <a:bodyPr wrap="square">
            <a:spAutoFit/>
          </a:bodyPr>
          <a:lstStyle/>
          <a:p>
            <a:pPr algn="l">
              <a:defRPr sz="900" b="1">
                <a:solidFill>
                  <a:srgbClr val="5CB85C"/>
                </a:solidFill>
                <a:latin typeface="Calibri"/>
              </a:defRPr>
            </a:pPr>
            <a:r>
              <a:t>1.3×</a:t>
            </a:r>
          </a:p>
        </p:txBody>
      </p:sp>
      <p:sp>
        <p:nvSpPr>
          <p:cNvPr id="24" name="TextBox 23"/>
          <p:cNvSpPr txBox="1"/>
          <p:nvPr/>
        </p:nvSpPr>
        <p:spPr>
          <a:xfrm>
            <a:off x="4572000" y="3840480"/>
            <a:ext cx="4389120" cy="228600"/>
          </a:xfrm>
          <a:prstGeom prst="rect">
            <a:avLst/>
          </a:prstGeom>
          <a:noFill/>
        </p:spPr>
        <p:txBody>
          <a:bodyPr wrap="square">
            <a:spAutoFit/>
          </a:bodyPr>
          <a:lstStyle/>
          <a:p>
            <a:pPr algn="l">
              <a:defRPr sz="1200" b="1">
                <a:solidFill>
                  <a:srgbClr val="2C3E6B"/>
                </a:solidFill>
                <a:latin typeface="Calibri"/>
              </a:defRPr>
            </a:pPr>
            <a:r>
              <a:t>Implications for PIK Pricing</a:t>
            </a:r>
          </a:p>
        </p:txBody>
      </p:sp>
      <p:sp>
        <p:nvSpPr>
          <p:cNvPr id="25" name="TextBox 24"/>
          <p:cNvSpPr txBox="1"/>
          <p:nvPr/>
        </p:nvSpPr>
        <p:spPr>
          <a:xfrm>
            <a:off x="4572000" y="4160520"/>
            <a:ext cx="4389120" cy="2286000"/>
          </a:xfrm>
          <a:prstGeom prst="rect">
            <a:avLst/>
          </a:prstGeom>
          <a:noFill/>
        </p:spPr>
        <p:txBody>
          <a:bodyPr wrap="square">
            <a:spAutoFit/>
          </a:bodyPr>
          <a:lstStyle/>
          <a:p>
            <a:pPr>
              <a:spcAft>
                <a:spcPts val="800"/>
              </a:spcAft>
              <a:defRPr sz="1200">
                <a:solidFill>
                  <a:srgbClr val="2D2D3D"/>
                </a:solidFill>
                <a:latin typeface="Calibri"/>
              </a:defRPr>
            </a:pPr>
            <a:r>
              <a:t>BB+ spread implies 7× the historical default rate. The HR model’s PIK penalty (+40bp) is driven by an overstated λ</a:t>
            </a:r>
          </a:p>
          <a:p>
            <a:pPr>
              <a:spcAft>
                <a:spcPts val="800"/>
              </a:spcAft>
              <a:defRPr sz="1200">
                <a:solidFill>
                  <a:srgbClr val="2D2D3D"/>
                </a:solidFill>
                <a:latin typeface="Calibri"/>
              </a:defRPr>
            </a:pPr>
            <a:r>
              <a:t>CCC spread implies only 1.3× historical PD. At this level, the PIK penalty (+224bp) is closer to a ‘real’ default cost</a:t>
            </a:r>
          </a:p>
          <a:p>
            <a:pPr>
              <a:spcAft>
                <a:spcPts val="800"/>
              </a:spcAft>
              <a:defRPr sz="1200">
                <a:solidFill>
                  <a:srgbClr val="2D2D3D"/>
                </a:solidFill>
                <a:latin typeface="Calibri"/>
              </a:defRPr>
            </a:pPr>
            <a:r>
              <a:t>The structural model uses historical PDs to calibrate barriers. It answers: what is the PIK penalty under realistic default assumptions?</a:t>
            </a:r>
          </a:p>
        </p:txBody>
      </p:sp>
      <p:sp>
        <p:nvSpPr>
          <p:cNvPr id="26" name="Rounded Rectangle 25"/>
          <p:cNvSpPr/>
          <p:nvPr/>
        </p:nvSpPr>
        <p:spPr>
          <a:xfrm>
            <a:off x="914400" y="6035040"/>
            <a:ext cx="7315200" cy="457200"/>
          </a:xfrm>
          <a:prstGeom prst="round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200" b="1">
                <a:solidFill>
                  <a:srgbClr val="FFFFFF"/>
                </a:solidFill>
                <a:latin typeface="Calibri"/>
              </a:defRPr>
            </a:pPr>
            <a:r>
              <a:t>The HR model is an upper bound on PIK cost. For strong credits, the true premium may be negative under historical defaults.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6</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Merton Structural Model: Firm Value &amp; Default</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Default occurs when asset value breaches the barrier</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7/16</a:t>
            </a:r>
          </a:p>
        </p:txBody>
      </p:sp>
      <p:sp>
        <p:nvSpPr>
          <p:cNvPr id="6" name="TextBox 5"/>
          <p:cNvSpPr txBox="1"/>
          <p:nvPr/>
        </p:nvSpPr>
        <p:spPr>
          <a:xfrm>
            <a:off x="457200" y="1005840"/>
            <a:ext cx="4572000" cy="320040"/>
          </a:xfrm>
          <a:prstGeom prst="rect">
            <a:avLst/>
          </a:prstGeom>
          <a:noFill/>
        </p:spPr>
        <p:txBody>
          <a:bodyPr wrap="square">
            <a:spAutoFit/>
          </a:bodyPr>
          <a:lstStyle/>
          <a:p>
            <a:pPr algn="l">
              <a:defRPr sz="1600" b="1">
                <a:solidFill>
                  <a:srgbClr val="2C3E6B"/>
                </a:solidFill>
                <a:latin typeface="Calibri"/>
              </a:defRPr>
            </a:pPr>
            <a:r>
              <a:t>dV = (r − q)·V·dt + σ·V·dW</a:t>
            </a:r>
          </a:p>
        </p:txBody>
      </p:sp>
      <p:sp>
        <p:nvSpPr>
          <p:cNvPr id="7" name="TextBox 6"/>
          <p:cNvSpPr txBox="1"/>
          <p:nvPr/>
        </p:nvSpPr>
        <p:spPr>
          <a:xfrm>
            <a:off x="457200" y="1325880"/>
            <a:ext cx="4572000" cy="228600"/>
          </a:xfrm>
          <a:prstGeom prst="rect">
            <a:avLst/>
          </a:prstGeom>
          <a:noFill/>
        </p:spPr>
        <p:txBody>
          <a:bodyPr wrap="square">
            <a:spAutoFit/>
          </a:bodyPr>
          <a:lstStyle/>
          <a:p>
            <a:pPr algn="l">
              <a:defRPr sz="1100" b="0">
                <a:solidFill>
                  <a:srgbClr val="555570"/>
                </a:solidFill>
                <a:latin typeface="Calibri"/>
              </a:defRPr>
            </a:pPr>
            <a:r>
              <a:t>Geometric Brownian Motion for firm asset value V</a:t>
            </a:r>
          </a:p>
        </p:txBody>
      </p:sp>
      <p:sp>
        <p:nvSpPr>
          <p:cNvPr id="8" name="TextBox 7"/>
          <p:cNvSpPr txBox="1"/>
          <p:nvPr/>
        </p:nvSpPr>
        <p:spPr>
          <a:xfrm>
            <a:off x="457200" y="1645920"/>
            <a:ext cx="4572000" cy="320040"/>
          </a:xfrm>
          <a:prstGeom prst="rect">
            <a:avLst/>
          </a:prstGeom>
          <a:noFill/>
        </p:spPr>
        <p:txBody>
          <a:bodyPr wrap="square">
            <a:spAutoFit/>
          </a:bodyPr>
          <a:lstStyle/>
          <a:p>
            <a:pPr algn="l">
              <a:defRPr sz="1600" b="1">
                <a:solidFill>
                  <a:srgbClr val="2C3E6B"/>
                </a:solidFill>
                <a:latin typeface="Calibri"/>
              </a:defRPr>
            </a:pPr>
            <a:r>
              <a:t>DD = [ln(V/B) + (r − σ²/2)·T] / (σ·√T)</a:t>
            </a:r>
          </a:p>
        </p:txBody>
      </p:sp>
      <p:sp>
        <p:nvSpPr>
          <p:cNvPr id="9" name="TextBox 8"/>
          <p:cNvSpPr txBox="1"/>
          <p:nvPr/>
        </p:nvSpPr>
        <p:spPr>
          <a:xfrm>
            <a:off x="457200" y="1965960"/>
            <a:ext cx="4572000" cy="228600"/>
          </a:xfrm>
          <a:prstGeom prst="rect">
            <a:avLst/>
          </a:prstGeom>
          <a:noFill/>
        </p:spPr>
        <p:txBody>
          <a:bodyPr wrap="square">
            <a:spAutoFit/>
          </a:bodyPr>
          <a:lstStyle/>
          <a:p>
            <a:pPr algn="l">
              <a:defRPr sz="1100" b="0">
                <a:solidFill>
                  <a:srgbClr val="555570"/>
                </a:solidFill>
                <a:latin typeface="Calibri"/>
              </a:defRPr>
            </a:pPr>
            <a:r>
              <a:t>Distance-to-Default: standard deviations from barrier</a:t>
            </a:r>
          </a:p>
        </p:txBody>
      </p:sp>
      <p:sp>
        <p:nvSpPr>
          <p:cNvPr id="10" name="TextBox 9"/>
          <p:cNvSpPr txBox="1"/>
          <p:nvPr/>
        </p:nvSpPr>
        <p:spPr>
          <a:xfrm>
            <a:off x="457200" y="2286000"/>
            <a:ext cx="4572000" cy="320040"/>
          </a:xfrm>
          <a:prstGeom prst="rect">
            <a:avLst/>
          </a:prstGeom>
          <a:noFill/>
        </p:spPr>
        <p:txBody>
          <a:bodyPr wrap="square">
            <a:spAutoFit/>
          </a:bodyPr>
          <a:lstStyle/>
          <a:p>
            <a:pPr algn="l">
              <a:defRPr sz="1600" b="1">
                <a:solidFill>
                  <a:srgbClr val="2C3E6B"/>
                </a:solidFill>
                <a:latin typeface="Calibri"/>
              </a:defRPr>
            </a:pPr>
            <a:r>
              <a:t>PD(T) = N(−DD)</a:t>
            </a:r>
          </a:p>
        </p:txBody>
      </p:sp>
      <p:sp>
        <p:nvSpPr>
          <p:cNvPr id="11" name="TextBox 10"/>
          <p:cNvSpPr txBox="1"/>
          <p:nvPr/>
        </p:nvSpPr>
        <p:spPr>
          <a:xfrm>
            <a:off x="457200" y="2606040"/>
            <a:ext cx="4572000" cy="228600"/>
          </a:xfrm>
          <a:prstGeom prst="rect">
            <a:avLst/>
          </a:prstGeom>
          <a:noFill/>
        </p:spPr>
        <p:txBody>
          <a:bodyPr wrap="square">
            <a:spAutoFit/>
          </a:bodyPr>
          <a:lstStyle/>
          <a:p>
            <a:pPr algn="l">
              <a:defRPr sz="1100" b="0">
                <a:solidFill>
                  <a:srgbClr val="555570"/>
                </a:solidFill>
                <a:latin typeface="Calibri"/>
              </a:defRPr>
            </a:pPr>
            <a:r>
              <a:t>Default probability = normal CDF of negative DD</a:t>
            </a:r>
          </a:p>
        </p:txBody>
      </p:sp>
      <p:sp>
        <p:nvSpPr>
          <p:cNvPr id="12" name="TextBox 11"/>
          <p:cNvSpPr txBox="1"/>
          <p:nvPr/>
        </p:nvSpPr>
        <p:spPr>
          <a:xfrm>
            <a:off x="5303520" y="1005840"/>
            <a:ext cx="3657600" cy="228600"/>
          </a:xfrm>
          <a:prstGeom prst="rect">
            <a:avLst/>
          </a:prstGeom>
          <a:noFill/>
        </p:spPr>
        <p:txBody>
          <a:bodyPr wrap="square">
            <a:spAutoFit/>
          </a:bodyPr>
          <a:lstStyle/>
          <a:p>
            <a:pPr algn="l">
              <a:defRPr sz="1200" b="1">
                <a:solidFill>
                  <a:srgbClr val="2C3E6B"/>
                </a:solidFill>
                <a:latin typeface="Calibri"/>
              </a:defRPr>
            </a:pPr>
            <a:r>
              <a:t>Conceptual: Asset Value vs Barrier</a:t>
            </a:r>
          </a:p>
        </p:txBody>
      </p:sp>
      <p:sp>
        <p:nvSpPr>
          <p:cNvPr id="13" name="Rectangle 12"/>
          <p:cNvSpPr/>
          <p:nvPr/>
        </p:nvSpPr>
        <p:spPr>
          <a:xfrm>
            <a:off x="5303520" y="3383280"/>
            <a:ext cx="3474720" cy="2540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03520" y="1371600"/>
            <a:ext cx="25400" cy="201168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03520" y="2578608"/>
            <a:ext cx="3474720" cy="2540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29040" y="2502408"/>
            <a:ext cx="548640" cy="182880"/>
          </a:xfrm>
          <a:prstGeom prst="rect">
            <a:avLst/>
          </a:prstGeom>
          <a:noFill/>
        </p:spPr>
        <p:txBody>
          <a:bodyPr wrap="square">
            <a:spAutoFit/>
          </a:bodyPr>
          <a:lstStyle/>
          <a:p>
            <a:pPr algn="l">
              <a:defRPr sz="800" b="0">
                <a:solidFill>
                  <a:srgbClr val="E04F4F"/>
                </a:solidFill>
                <a:latin typeface="Calibri"/>
              </a:defRPr>
            </a:pPr>
            <a:r>
              <a:t>B (barrier)</a:t>
            </a:r>
          </a:p>
        </p:txBody>
      </p:sp>
      <p:sp>
        <p:nvSpPr>
          <p:cNvPr id="17" name="TextBox 16"/>
          <p:cNvSpPr txBox="1"/>
          <p:nvPr/>
        </p:nvSpPr>
        <p:spPr>
          <a:xfrm>
            <a:off x="4846320" y="1622552"/>
            <a:ext cx="457200" cy="182880"/>
          </a:xfrm>
          <a:prstGeom prst="rect">
            <a:avLst/>
          </a:prstGeom>
          <a:noFill/>
        </p:spPr>
        <p:txBody>
          <a:bodyPr wrap="square">
            <a:spAutoFit/>
          </a:bodyPr>
          <a:lstStyle/>
          <a:p>
            <a:pPr algn="r">
              <a:defRPr sz="1000" b="1">
                <a:solidFill>
                  <a:srgbClr val="2C3E6B"/>
                </a:solidFill>
                <a:latin typeface="Calibri"/>
              </a:defRPr>
            </a:pPr>
            <a:r>
              <a:t>V₀</a:t>
            </a:r>
          </a:p>
        </p:txBody>
      </p:sp>
      <p:sp>
        <p:nvSpPr>
          <p:cNvPr id="18" name="Rectangle 17"/>
          <p:cNvSpPr/>
          <p:nvPr/>
        </p:nvSpPr>
        <p:spPr>
          <a:xfrm>
            <a:off x="5303520" y="1557553"/>
            <a:ext cx="173736" cy="11579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77256" y="1557553"/>
            <a:ext cx="173736" cy="2510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50992" y="1424090"/>
            <a:ext cx="173736" cy="158567"/>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24728" y="1005071"/>
            <a:ext cx="173736" cy="41901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98464" y="1005071"/>
            <a:ext cx="173736" cy="60647"/>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1065718"/>
            <a:ext cx="173736" cy="5909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45936" y="622467"/>
            <a:ext cx="173736" cy="50234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19672" y="334041"/>
            <a:ext cx="173736" cy="28842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693408" y="334041"/>
            <a:ext cx="173736" cy="16389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67144" y="284827"/>
            <a:ext cx="173736" cy="21310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40880" y="284827"/>
            <a:ext cx="173736" cy="164317"/>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14616" y="449144"/>
            <a:ext cx="173736" cy="15640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88352" y="510394"/>
            <a:ext cx="173736" cy="9515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562088" y="510394"/>
            <a:ext cx="173736" cy="60330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35824" y="1113700"/>
            <a:ext cx="173736" cy="43389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1547595"/>
            <a:ext cx="173736" cy="11870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83296" y="1666296"/>
            <a:ext cx="173736" cy="19897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7032" y="1799014"/>
            <a:ext cx="173736" cy="6625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430768" y="1799014"/>
            <a:ext cx="173736" cy="16511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04504" y="1964133"/>
            <a:ext cx="173736" cy="22556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0" y="1322478"/>
            <a:ext cx="173736" cy="350874"/>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77256" y="1322478"/>
            <a:ext cx="173736" cy="5044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50992" y="1348904"/>
            <a:ext cx="173736" cy="24023"/>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24728" y="1348904"/>
            <a:ext cx="173736" cy="326017"/>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998464" y="1674921"/>
            <a:ext cx="173736" cy="106888"/>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72200" y="1753858"/>
            <a:ext cx="173736" cy="27951"/>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345936" y="1753858"/>
            <a:ext cx="173736" cy="21348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519672" y="1894155"/>
            <a:ext cx="173736" cy="73192"/>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693408" y="1894155"/>
            <a:ext cx="173736" cy="102952"/>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867144" y="1997107"/>
            <a:ext cx="173736" cy="4503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040880" y="2042137"/>
            <a:ext cx="173736" cy="92888"/>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214616" y="1804396"/>
            <a:ext cx="173736" cy="33062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388352" y="1801630"/>
            <a:ext cx="173736" cy="1270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562088" y="1801630"/>
            <a:ext cx="173736" cy="19110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35824" y="1836851"/>
            <a:ext cx="173736" cy="155888"/>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909560" y="1836851"/>
            <a:ext cx="173736" cy="214298"/>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083296" y="2011203"/>
            <a:ext cx="173736" cy="39946"/>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257032" y="2011203"/>
            <a:ext cx="173736" cy="294404"/>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430768" y="2305607"/>
            <a:ext cx="173736" cy="161712"/>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604504" y="2441267"/>
            <a:ext cx="173736" cy="26052"/>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303520" y="1501539"/>
            <a:ext cx="173736" cy="17181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477256" y="1454176"/>
            <a:ext cx="173736" cy="4736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650992" y="1454176"/>
            <a:ext cx="173736" cy="2113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824728" y="1475315"/>
            <a:ext cx="173736" cy="641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998464" y="1539465"/>
            <a:ext cx="173736" cy="30585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72200" y="1845316"/>
            <a:ext cx="173736" cy="12750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45936" y="1972820"/>
            <a:ext cx="173736" cy="7433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519672" y="1853152"/>
            <a:ext cx="173736" cy="19400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693408" y="1780497"/>
            <a:ext cx="173736" cy="7265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867144" y="1780497"/>
            <a:ext cx="173736" cy="31258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40880" y="2035112"/>
            <a:ext cx="173736" cy="5796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214616" y="2035112"/>
            <a:ext cx="173736" cy="5893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7388352" y="2094045"/>
            <a:ext cx="173736" cy="10052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562088" y="2095695"/>
            <a:ext cx="173736" cy="9887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735824" y="1913547"/>
            <a:ext cx="173736" cy="18214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909560" y="1726413"/>
            <a:ext cx="173736" cy="18713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083296" y="1726413"/>
            <a:ext cx="173736" cy="15986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57032" y="1886279"/>
            <a:ext cx="173736" cy="5179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430768" y="1871791"/>
            <a:ext cx="173736" cy="6628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604504" y="1669887"/>
            <a:ext cx="173736" cy="20190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5303520" y="1673352"/>
            <a:ext cx="173736" cy="9386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5477256" y="1767218"/>
            <a:ext cx="173736" cy="3163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650992" y="1798854"/>
            <a:ext cx="173736" cy="19988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824728" y="1998740"/>
            <a:ext cx="173736" cy="18818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998464" y="2054471"/>
            <a:ext cx="173736" cy="13245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172200" y="1803556"/>
            <a:ext cx="173736" cy="25091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345936" y="1803556"/>
            <a:ext cx="173736" cy="127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519672" y="1596231"/>
            <a:ext cx="173736" cy="21608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693408" y="1507156"/>
            <a:ext cx="173736" cy="8907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867144" y="1507156"/>
            <a:ext cx="173736" cy="13939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7040880" y="1560036"/>
            <a:ext cx="173736" cy="8651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214616" y="1165938"/>
            <a:ext cx="173736" cy="39409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388352" y="1165938"/>
            <a:ext cx="173736" cy="127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562088" y="680485"/>
            <a:ext cx="173736" cy="48775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735824" y="680485"/>
            <a:ext cx="173736" cy="74805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909560" y="1209579"/>
            <a:ext cx="173736" cy="21896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8083296" y="1178231"/>
            <a:ext cx="173736" cy="3134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257032" y="1178231"/>
            <a:ext cx="173736" cy="7358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430768" y="1219799"/>
            <a:ext cx="173736" cy="3201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8604504" y="1219799"/>
            <a:ext cx="173736" cy="47012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303520" y="1673352"/>
            <a:ext cx="173736" cy="4058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5477256" y="1631720"/>
            <a:ext cx="173736" cy="82217"/>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5650992" y="1269071"/>
            <a:ext cx="173736" cy="36264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5824728" y="1269071"/>
            <a:ext cx="173736" cy="1258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5998464" y="1394871"/>
            <a:ext cx="173736" cy="18494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172200" y="1579814"/>
            <a:ext cx="173736" cy="10380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6345936" y="1471010"/>
            <a:ext cx="173736" cy="21261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519672" y="1383929"/>
            <a:ext cx="173736" cy="8708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6693408" y="1383929"/>
            <a:ext cx="173736" cy="12166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6867144" y="1374283"/>
            <a:ext cx="173736" cy="13131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7040880" y="1342753"/>
            <a:ext cx="173736" cy="3153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7214616" y="1072174"/>
            <a:ext cx="173736" cy="27057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7388352" y="1072174"/>
            <a:ext cx="173736" cy="18688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7562088" y="1259055"/>
            <a:ext cx="173736" cy="7822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7735824" y="1337280"/>
            <a:ext cx="173736" cy="9115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7909560" y="1428435"/>
            <a:ext cx="173736" cy="32120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8083296" y="1682203"/>
            <a:ext cx="173736" cy="6744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8257032" y="1619727"/>
            <a:ext cx="173736" cy="6247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8430768" y="1612522"/>
            <a:ext cx="173736" cy="127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8604504" y="1612522"/>
            <a:ext cx="173736" cy="452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5303520" y="1673352"/>
            <a:ext cx="173736" cy="27233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5477256" y="1945690"/>
            <a:ext cx="173736" cy="6894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650992" y="2014630"/>
            <a:ext cx="173736" cy="5287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5824728" y="2067509"/>
            <a:ext cx="173736" cy="12145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5998464" y="2188962"/>
            <a:ext cx="173736" cy="1980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6172200" y="2143671"/>
            <a:ext cx="173736" cy="65097"/>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6345936" y="1808671"/>
            <a:ext cx="173736" cy="3350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519672" y="1768390"/>
            <a:ext cx="173736" cy="4028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693408" y="1709812"/>
            <a:ext cx="173736" cy="5857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6867144" y="1709812"/>
            <a:ext cx="173736" cy="127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7040880" y="1719604"/>
            <a:ext cx="173736" cy="35027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7214616" y="2069716"/>
            <a:ext cx="173736" cy="127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7388352" y="2055232"/>
            <a:ext cx="173736" cy="1448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7562088" y="1570153"/>
            <a:ext cx="173736" cy="48507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735824" y="1570153"/>
            <a:ext cx="173736" cy="3698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909560" y="1532557"/>
            <a:ext cx="173736" cy="7457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083296" y="1532557"/>
            <a:ext cx="173736" cy="127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257032" y="1534225"/>
            <a:ext cx="173736" cy="24581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8430768" y="1527476"/>
            <a:ext cx="173736" cy="25256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8604504" y="1337565"/>
            <a:ext cx="173736" cy="18991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5303520" y="1489134"/>
            <a:ext cx="173736" cy="18421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5477256" y="1489134"/>
            <a:ext cx="173736" cy="19770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650992" y="1354735"/>
            <a:ext cx="173736" cy="33210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5824728" y="1354735"/>
            <a:ext cx="173736" cy="3202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5998464" y="1538575"/>
            <a:ext cx="173736" cy="13636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6172200" y="949212"/>
            <a:ext cx="173736" cy="58936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6345936" y="949212"/>
            <a:ext cx="173736" cy="27606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6519672" y="1225274"/>
            <a:ext cx="173736" cy="14055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6693408" y="1333508"/>
            <a:ext cx="173736" cy="3232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867144" y="1333508"/>
            <a:ext cx="173736" cy="11839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040880" y="1451906"/>
            <a:ext cx="173736" cy="33483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214616" y="1767457"/>
            <a:ext cx="173736" cy="19287"/>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7388352" y="1767457"/>
            <a:ext cx="173736" cy="19605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562088" y="1871738"/>
            <a:ext cx="173736" cy="9177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7735824" y="1871738"/>
            <a:ext cx="173736" cy="15946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7909560" y="1736504"/>
            <a:ext cx="173736" cy="29470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8083296" y="1736504"/>
            <a:ext cx="173736" cy="14844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8257032" y="1884952"/>
            <a:ext cx="173736" cy="5416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8430768" y="1779029"/>
            <a:ext cx="173736" cy="16008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8604504" y="1779029"/>
            <a:ext cx="173736" cy="22404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5303520" y="1617978"/>
            <a:ext cx="173736" cy="5537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5477256" y="1297481"/>
            <a:ext cx="173736" cy="320497"/>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5650992" y="1297481"/>
            <a:ext cx="173736" cy="37381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824728" y="1625291"/>
            <a:ext cx="173736" cy="4600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998464" y="1560991"/>
            <a:ext cx="173736" cy="643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172200" y="1366991"/>
            <a:ext cx="173736" cy="1940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6345936" y="1366991"/>
            <a:ext cx="173736" cy="28290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6519672" y="1649893"/>
            <a:ext cx="173736" cy="25868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6693408" y="1803733"/>
            <a:ext cx="173736" cy="10484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6867144" y="1738348"/>
            <a:ext cx="173736" cy="6538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7040880" y="1680184"/>
            <a:ext cx="173736" cy="5816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7214616" y="1598685"/>
            <a:ext cx="173736" cy="8149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7388352" y="1598685"/>
            <a:ext cx="173736" cy="13978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7562088" y="1684186"/>
            <a:ext cx="173736" cy="5428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7735824" y="1614718"/>
            <a:ext cx="173736" cy="6946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7909560" y="1614718"/>
            <a:ext cx="173736" cy="145507"/>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8083296" y="1326854"/>
            <a:ext cx="173736" cy="43337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8257032" y="1193861"/>
            <a:ext cx="173736" cy="13299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8430768" y="1193861"/>
            <a:ext cx="173736" cy="29642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8604504" y="1321299"/>
            <a:ext cx="173736" cy="16898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5303520" y="3434080"/>
            <a:ext cx="3474720" cy="182880"/>
          </a:xfrm>
          <a:prstGeom prst="rect">
            <a:avLst/>
          </a:prstGeom>
          <a:noFill/>
        </p:spPr>
        <p:txBody>
          <a:bodyPr wrap="square">
            <a:spAutoFit/>
          </a:bodyPr>
          <a:lstStyle/>
          <a:p>
            <a:pPr algn="ctr">
              <a:defRPr sz="800" b="0">
                <a:solidFill>
                  <a:srgbClr val="555570"/>
                </a:solidFill>
                <a:latin typeface="Calibri"/>
              </a:defRPr>
            </a:pPr>
            <a:r>
              <a:t>Time → (0 to 5Y)</a:t>
            </a:r>
          </a:p>
        </p:txBody>
      </p:sp>
      <p:sp>
        <p:nvSpPr>
          <p:cNvPr id="179" name="TextBox 178"/>
          <p:cNvSpPr txBox="1"/>
          <p:nvPr/>
        </p:nvSpPr>
        <p:spPr>
          <a:xfrm>
            <a:off x="457200" y="3657600"/>
            <a:ext cx="2286000" cy="228600"/>
          </a:xfrm>
          <a:prstGeom prst="rect">
            <a:avLst/>
          </a:prstGeom>
          <a:noFill/>
        </p:spPr>
        <p:txBody>
          <a:bodyPr wrap="square">
            <a:spAutoFit/>
          </a:bodyPr>
          <a:lstStyle/>
          <a:p>
            <a:pPr algn="l">
              <a:defRPr sz="1200" b="1">
                <a:solidFill>
                  <a:srgbClr val="2C3E6B"/>
                </a:solidFill>
                <a:latin typeface="Calibri"/>
              </a:defRPr>
            </a:pPr>
            <a:r>
              <a:t>Equity as Call Option</a:t>
            </a:r>
          </a:p>
        </p:txBody>
      </p:sp>
      <p:sp>
        <p:nvSpPr>
          <p:cNvPr id="180" name="TextBox 179"/>
          <p:cNvSpPr txBox="1"/>
          <p:nvPr/>
        </p:nvSpPr>
        <p:spPr>
          <a:xfrm>
            <a:off x="2743200" y="3657600"/>
            <a:ext cx="6217920" cy="777240"/>
          </a:xfrm>
          <a:prstGeom prst="rect">
            <a:avLst/>
          </a:prstGeom>
          <a:noFill/>
        </p:spPr>
        <p:txBody>
          <a:bodyPr wrap="square">
            <a:spAutoFit/>
          </a:bodyPr>
          <a:lstStyle/>
          <a:p>
            <a:pPr algn="l">
              <a:defRPr sz="1100" b="0">
                <a:solidFill>
                  <a:srgbClr val="2D2D3D"/>
                </a:solidFill>
                <a:latin typeface="Calibri"/>
              </a:defRPr>
            </a:pPr>
            <a:r>
              <a:t>Equity = max(V − B, 0) at maturity. Shareholders own a call option on firm assets with strike = debt. The Merton model links credit and equity markets.</a:t>
            </a:r>
          </a:p>
        </p:txBody>
      </p:sp>
      <p:sp>
        <p:nvSpPr>
          <p:cNvPr id="181" name="TextBox 180"/>
          <p:cNvSpPr txBox="1"/>
          <p:nvPr/>
        </p:nvSpPr>
        <p:spPr>
          <a:xfrm>
            <a:off x="457200" y="4526280"/>
            <a:ext cx="2286000" cy="228600"/>
          </a:xfrm>
          <a:prstGeom prst="rect">
            <a:avLst/>
          </a:prstGeom>
          <a:noFill/>
        </p:spPr>
        <p:txBody>
          <a:bodyPr wrap="square">
            <a:spAutoFit/>
          </a:bodyPr>
          <a:lstStyle/>
          <a:p>
            <a:pPr algn="l">
              <a:defRPr sz="1200" b="1">
                <a:solidFill>
                  <a:srgbClr val="2C3E6B"/>
                </a:solidFill>
                <a:latin typeface="Calibri"/>
              </a:defRPr>
            </a:pPr>
            <a:r>
              <a:t>Distance-to-Default</a:t>
            </a:r>
          </a:p>
        </p:txBody>
      </p:sp>
      <p:sp>
        <p:nvSpPr>
          <p:cNvPr id="182" name="TextBox 181"/>
          <p:cNvSpPr txBox="1"/>
          <p:nvPr/>
        </p:nvSpPr>
        <p:spPr>
          <a:xfrm>
            <a:off x="2743200" y="4526280"/>
            <a:ext cx="6217920" cy="777240"/>
          </a:xfrm>
          <a:prstGeom prst="rect">
            <a:avLst/>
          </a:prstGeom>
          <a:noFill/>
        </p:spPr>
        <p:txBody>
          <a:bodyPr wrap="square">
            <a:spAutoFit/>
          </a:bodyPr>
          <a:lstStyle/>
          <a:p>
            <a:pPr algn="l">
              <a:defRPr sz="1100" b="0">
                <a:solidFill>
                  <a:srgbClr val="2D2D3D"/>
                </a:solidFill>
                <a:latin typeface="Calibri"/>
              </a:defRPr>
            </a:pPr>
            <a:r>
              <a:t>DD measures how many standard deviations the asset value sits above the barrier. Higher DD = safer credit. BB+ has DD ≈ 3.4, CCC has DD ≈ 0.6.</a:t>
            </a:r>
          </a:p>
        </p:txBody>
      </p:sp>
      <p:sp>
        <p:nvSpPr>
          <p:cNvPr id="183" name="TextBox 182"/>
          <p:cNvSpPr txBox="1"/>
          <p:nvPr/>
        </p:nvSpPr>
        <p:spPr>
          <a:xfrm>
            <a:off x="457200" y="5394960"/>
            <a:ext cx="2286000" cy="228600"/>
          </a:xfrm>
          <a:prstGeom prst="rect">
            <a:avLst/>
          </a:prstGeom>
          <a:noFill/>
        </p:spPr>
        <p:txBody>
          <a:bodyPr wrap="square">
            <a:spAutoFit/>
          </a:bodyPr>
          <a:lstStyle/>
          <a:p>
            <a:pPr algn="l">
              <a:defRPr sz="1200" b="1">
                <a:solidFill>
                  <a:srgbClr val="2C3E6B"/>
                </a:solidFill>
                <a:latin typeface="Calibri"/>
              </a:defRPr>
            </a:pPr>
            <a:r>
              <a:t>Terminal vs First-Passage</a:t>
            </a:r>
          </a:p>
        </p:txBody>
      </p:sp>
      <p:sp>
        <p:nvSpPr>
          <p:cNvPr id="184" name="TextBox 183"/>
          <p:cNvSpPr txBox="1"/>
          <p:nvPr/>
        </p:nvSpPr>
        <p:spPr>
          <a:xfrm>
            <a:off x="2743200" y="5394960"/>
            <a:ext cx="6217920" cy="777240"/>
          </a:xfrm>
          <a:prstGeom prst="rect">
            <a:avLst/>
          </a:prstGeom>
          <a:noFill/>
        </p:spPr>
        <p:txBody>
          <a:bodyPr wrap="square">
            <a:spAutoFit/>
          </a:bodyPr>
          <a:lstStyle/>
          <a:p>
            <a:pPr algn="l">
              <a:defRPr sz="1100" b="0">
                <a:solidFill>
                  <a:srgbClr val="2D2D3D"/>
                </a:solidFill>
                <a:latin typeface="Calibri"/>
              </a:defRPr>
            </a:pPr>
            <a:r>
              <a:t>Terminal barrier: default only checked at T. First-passage (Black-Cox): default can occur at any time V &lt; B. We use terminal for simplicity.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7</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Barrier Calibration from Historical PDs</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MertonModel.from_target_pd: backing out the barrier</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8/16</a:t>
            </a:r>
          </a:p>
        </p:txBody>
      </p:sp>
      <p:sp>
        <p:nvSpPr>
          <p:cNvPr id="6" name="TextBox 5"/>
          <p:cNvSpPr txBox="1"/>
          <p:nvPr/>
        </p:nvSpPr>
        <p:spPr>
          <a:xfrm>
            <a:off x="457200" y="1005840"/>
            <a:ext cx="8229600" cy="457200"/>
          </a:xfrm>
          <a:prstGeom prst="rect">
            <a:avLst/>
          </a:prstGeom>
          <a:noFill/>
        </p:spPr>
        <p:txBody>
          <a:bodyPr wrap="square">
            <a:spAutoFit/>
          </a:bodyPr>
          <a:lstStyle/>
          <a:p>
            <a:pPr algn="l">
              <a:defRPr sz="1400" b="0">
                <a:solidFill>
                  <a:srgbClr val="2D2D3D"/>
                </a:solidFill>
                <a:latin typeface="Calibri"/>
              </a:defRPr>
            </a:pPr>
            <a:r>
              <a:t>The barrier B is the free parameter. Given V₀, σ, and r, we solve for B such that PD(T) = N(−DD) matches the target historical default probability.</a:t>
            </a:r>
          </a:p>
        </p:txBody>
      </p:sp>
      <p:sp>
        <p:nvSpPr>
          <p:cNvPr id="7" name="TextBox 6"/>
          <p:cNvSpPr txBox="1"/>
          <p:nvPr/>
        </p:nvSpPr>
        <p:spPr>
          <a:xfrm>
            <a:off x="457200" y="1554480"/>
            <a:ext cx="8229600" cy="320040"/>
          </a:xfrm>
          <a:prstGeom prst="rect">
            <a:avLst/>
          </a:prstGeom>
          <a:noFill/>
        </p:spPr>
        <p:txBody>
          <a:bodyPr wrap="square">
            <a:spAutoFit/>
          </a:bodyPr>
          <a:lstStyle/>
          <a:p>
            <a:pPr algn="l">
              <a:defRPr sz="1600" b="1">
                <a:solidFill>
                  <a:srgbClr val="2C3E6B"/>
                </a:solidFill>
                <a:latin typeface="Calibri"/>
              </a:defRPr>
            </a:pPr>
            <a:r>
              <a:t>B = V × exp[−(DD × σ×√T + (r − σ²/2)×T)]  where  DD = −N⁻¹(PD₅₄)</a:t>
            </a:r>
          </a:p>
        </p:txBody>
      </p:sp>
      <p:sp>
        <p:nvSpPr>
          <p:cNvPr id="8" name="TextBox 7"/>
          <p:cNvSpPr txBox="1"/>
          <p:nvPr/>
        </p:nvSpPr>
        <p:spPr>
          <a:xfrm>
            <a:off x="457200" y="1874520"/>
            <a:ext cx="8229600" cy="228600"/>
          </a:xfrm>
          <a:prstGeom prst="rect">
            <a:avLst/>
          </a:prstGeom>
          <a:noFill/>
        </p:spPr>
        <p:txBody>
          <a:bodyPr wrap="square">
            <a:spAutoFit/>
          </a:bodyPr>
          <a:lstStyle/>
          <a:p>
            <a:pPr algn="l">
              <a:defRPr sz="1100" b="0">
                <a:solidFill>
                  <a:srgbClr val="555570"/>
                </a:solidFill>
                <a:latin typeface="Calibri"/>
              </a:defRPr>
            </a:pPr>
            <a:r>
              <a:t>Invert the distance-to-default formula to find barrier from target PD</a:t>
            </a:r>
          </a:p>
        </p:txBody>
      </p:sp>
      <p:graphicFrame>
        <p:nvGraphicFramePr>
          <p:cNvPr id="9" name="Table 8"/>
          <p:cNvGraphicFramePr>
            <a:graphicFrameLocks noGrp="1"/>
          </p:cNvGraphicFramePr>
          <p:nvPr/>
        </p:nvGraphicFramePr>
        <p:xfrm>
          <a:off x="274320" y="2194560"/>
          <a:ext cx="5760720" cy="1920239"/>
        </p:xfrm>
        <a:graphic>
          <a:graphicData uri="http://schemas.openxmlformats.org/drawingml/2006/table">
            <a:tbl>
              <a:tblPr firstRow="1" bandRow="1">
                <a:tableStyleId>{5C22544A-7EE6-4342-B048-85BDC9FD1C3A}</a:tableStyleId>
              </a:tblPr>
              <a:tblGrid>
                <a:gridCol w="1371600"/>
                <a:gridCol w="457200"/>
                <a:gridCol w="457200"/>
                <a:gridCol w="457200"/>
                <a:gridCol w="640080"/>
                <a:gridCol w="548640"/>
                <a:gridCol w="457200"/>
                <a:gridCol w="640080"/>
                <a:gridCol w="731520"/>
              </a:tblGrid>
              <a:tr h="320039">
                <a:tc>
                  <a:txBody>
                    <a:bodyPr/>
                    <a:lstStyle/>
                    <a:p>
                      <a:pPr algn="ctr">
                        <a:defRPr sz="1000" b="1">
                          <a:solidFill>
                            <a:srgbClr val="FFFFFF"/>
                          </a:solidFill>
                          <a:latin typeface="Calibri"/>
                        </a:defRPr>
                      </a:pPr>
                      <a:r>
                        <a:t>Issuer</a:t>
                      </a:r>
                    </a:p>
                  </a:txBody>
                  <a:tcPr>
                    <a:solidFill>
                      <a:srgbClr val="2C3E6B"/>
                    </a:solidFill>
                  </a:tcPr>
                </a:tc>
                <a:tc>
                  <a:txBody>
                    <a:bodyPr/>
                    <a:lstStyle/>
                    <a:p>
                      <a:pPr algn="ctr">
                        <a:defRPr sz="1000" b="1">
                          <a:solidFill>
                            <a:srgbClr val="FFFFFF"/>
                          </a:solidFill>
                          <a:latin typeface="Calibri"/>
                        </a:defRPr>
                      </a:pPr>
                      <a:r>
                        <a:t>LTV</a:t>
                      </a:r>
                    </a:p>
                  </a:txBody>
                  <a:tcPr>
                    <a:solidFill>
                      <a:srgbClr val="2C3E6B"/>
                    </a:solidFill>
                  </a:tcPr>
                </a:tc>
                <a:tc>
                  <a:txBody>
                    <a:bodyPr/>
                    <a:lstStyle/>
                    <a:p>
                      <a:pPr algn="ctr">
                        <a:defRPr sz="1000" b="1">
                          <a:solidFill>
                            <a:srgbClr val="FFFFFF"/>
                          </a:solidFill>
                          <a:latin typeface="Calibri"/>
                        </a:defRPr>
                      </a:pPr>
                      <a:r>
                        <a:t>V₀</a:t>
                      </a:r>
                    </a:p>
                  </a:txBody>
                  <a:tcPr>
                    <a:solidFill>
                      <a:srgbClr val="2C3E6B"/>
                    </a:solidFill>
                  </a:tcPr>
                </a:tc>
                <a:tc>
                  <a:txBody>
                    <a:bodyPr/>
                    <a:lstStyle/>
                    <a:p>
                      <a:pPr algn="ctr">
                        <a:defRPr sz="1000" b="1">
                          <a:solidFill>
                            <a:srgbClr val="FFFFFF"/>
                          </a:solidFill>
                          <a:latin typeface="Calibri"/>
                        </a:defRPr>
                      </a:pPr>
                      <a:r>
                        <a:t>σ</a:t>
                      </a:r>
                    </a:p>
                  </a:txBody>
                  <a:tcPr>
                    <a:solidFill>
                      <a:srgbClr val="2C3E6B"/>
                    </a:solidFill>
                  </a:tcPr>
                </a:tc>
                <a:tc>
                  <a:txBody>
                    <a:bodyPr/>
                    <a:lstStyle/>
                    <a:p>
                      <a:pPr algn="ctr">
                        <a:defRPr sz="1000" b="1">
                          <a:solidFill>
                            <a:srgbClr val="FFFFFF"/>
                          </a:solidFill>
                          <a:latin typeface="Calibri"/>
                        </a:defRPr>
                      </a:pPr>
                      <a:r>
                        <a:t>Ann PD</a:t>
                      </a:r>
                    </a:p>
                  </a:txBody>
                  <a:tcPr>
                    <a:solidFill>
                      <a:srgbClr val="2C3E6B"/>
                    </a:solidFill>
                  </a:tcPr>
                </a:tc>
                <a:tc>
                  <a:txBody>
                    <a:bodyPr/>
                    <a:lstStyle/>
                    <a:p>
                      <a:pPr algn="ctr">
                        <a:defRPr sz="1000" b="1">
                          <a:solidFill>
                            <a:srgbClr val="FFFFFF"/>
                          </a:solidFill>
                          <a:latin typeface="Calibri"/>
                        </a:defRPr>
                      </a:pPr>
                      <a:r>
                        <a:t>5Y PD</a:t>
                      </a:r>
                    </a:p>
                  </a:txBody>
                  <a:tcPr>
                    <a:solidFill>
                      <a:srgbClr val="2C3E6B"/>
                    </a:solidFill>
                  </a:tcPr>
                </a:tc>
                <a:tc>
                  <a:txBody>
                    <a:bodyPr/>
                    <a:lstStyle/>
                    <a:p>
                      <a:pPr algn="ctr">
                        <a:defRPr sz="1000" b="1">
                          <a:solidFill>
                            <a:srgbClr val="FFFFFF"/>
                          </a:solidFill>
                          <a:latin typeface="Calibri"/>
                        </a:defRPr>
                      </a:pPr>
                      <a:r>
                        <a:t>DD</a:t>
                      </a:r>
                    </a:p>
                  </a:txBody>
                  <a:tcPr>
                    <a:solidFill>
                      <a:srgbClr val="2C3E6B"/>
                    </a:solidFill>
                  </a:tcPr>
                </a:tc>
                <a:tc>
                  <a:txBody>
                    <a:bodyPr/>
                    <a:lstStyle/>
                    <a:p>
                      <a:pPr algn="ctr">
                        <a:defRPr sz="1000" b="1">
                          <a:solidFill>
                            <a:srgbClr val="FFFFFF"/>
                          </a:solidFill>
                          <a:latin typeface="Calibri"/>
                        </a:defRPr>
                      </a:pPr>
                      <a:r>
                        <a:t>Barrier</a:t>
                      </a:r>
                    </a:p>
                  </a:txBody>
                  <a:tcPr>
                    <a:solidFill>
                      <a:srgbClr val="2C3E6B"/>
                    </a:solidFill>
                  </a:tcPr>
                </a:tc>
                <a:tc>
                  <a:txBody>
                    <a:bodyPr/>
                    <a:lstStyle/>
                    <a:p>
                      <a:pPr algn="ctr">
                        <a:defRPr sz="1000" b="1">
                          <a:solidFill>
                            <a:srgbClr val="FFFFFF"/>
                          </a:solidFill>
                          <a:latin typeface="Calibri"/>
                        </a:defRPr>
                      </a:pPr>
                      <a:r>
                        <a:t>Impl Sprd</a:t>
                      </a:r>
                    </a:p>
                  </a:txBody>
                  <a:tcPr>
                    <a:solidFill>
                      <a:srgbClr val="2C3E6B"/>
                    </a:solidFill>
                  </a:tcPr>
                </a:tc>
              </a:tr>
              <a:tr h="320039">
                <a:tc>
                  <a:txBody>
                    <a:bodyPr/>
                    <a:lstStyle/>
                    <a:p>
                      <a:pPr algn="l">
                        <a:defRPr sz="1000">
                          <a:solidFill>
                            <a:srgbClr val="2D2D3D"/>
                          </a:solidFill>
                          <a:latin typeface="Calibri"/>
                        </a:defRPr>
                      </a:pPr>
                      <a:r>
                        <a:t>BB+ (Solid HY)</a:t>
                      </a:r>
                    </a:p>
                  </a:txBody>
                  <a:tcPr>
                    <a:solidFill>
                      <a:srgbClr val="FFFFFF"/>
                    </a:solidFill>
                  </a:tcPr>
                </a:tc>
                <a:tc>
                  <a:txBody>
                    <a:bodyPr/>
                    <a:lstStyle/>
                    <a:p>
                      <a:pPr algn="r">
                        <a:defRPr sz="1000">
                          <a:solidFill>
                            <a:srgbClr val="2D2D3D"/>
                          </a:solidFill>
                          <a:latin typeface="Calibri"/>
                        </a:defRPr>
                      </a:pPr>
                      <a:r>
                        <a:t>50%</a:t>
                      </a:r>
                    </a:p>
                  </a:txBody>
                  <a:tcPr>
                    <a:solidFill>
                      <a:srgbClr val="FFFFFF"/>
                    </a:solidFill>
                  </a:tcPr>
                </a:tc>
                <a:tc>
                  <a:txBody>
                    <a:bodyPr/>
                    <a:lstStyle/>
                    <a:p>
                      <a:pPr algn="r">
                        <a:defRPr sz="1000">
                          <a:solidFill>
                            <a:srgbClr val="2D2D3D"/>
                          </a:solidFill>
                          <a:latin typeface="Calibri"/>
                        </a:defRPr>
                      </a:pPr>
                      <a:r>
                        <a:t>200</a:t>
                      </a:r>
                    </a:p>
                  </a:txBody>
                  <a:tcPr>
                    <a:solidFill>
                      <a:srgbClr val="FFFFFF"/>
                    </a:solidFill>
                  </a:tcPr>
                </a:tc>
                <a:tc>
                  <a:txBody>
                    <a:bodyPr/>
                    <a:lstStyle/>
                    <a:p>
                      <a:pPr algn="r">
                        <a:defRPr sz="1000">
                          <a:solidFill>
                            <a:srgbClr val="2D2D3D"/>
                          </a:solidFill>
                          <a:latin typeface="Calibri"/>
                        </a:defRPr>
                      </a:pPr>
                      <a:r>
                        <a:t>20%</a:t>
                      </a:r>
                    </a:p>
                  </a:txBody>
                  <a:tcPr>
                    <a:solidFill>
                      <a:srgbClr val="FFFFFF"/>
                    </a:solidFill>
                  </a:tcPr>
                </a:tc>
                <a:tc>
                  <a:txBody>
                    <a:bodyPr/>
                    <a:lstStyle/>
                    <a:p>
                      <a:pPr algn="r">
                        <a:defRPr sz="1000">
                          <a:solidFill>
                            <a:srgbClr val="2D2D3D"/>
                          </a:solidFill>
                          <a:latin typeface="Calibri"/>
                        </a:defRPr>
                      </a:pPr>
                      <a:r>
                        <a:t>0.20%</a:t>
                      </a:r>
                    </a:p>
                  </a:txBody>
                  <a:tcPr>
                    <a:solidFill>
                      <a:srgbClr val="FFFFFF"/>
                    </a:solidFill>
                  </a:tcPr>
                </a:tc>
                <a:tc>
                  <a:txBody>
                    <a:bodyPr/>
                    <a:lstStyle/>
                    <a:p>
                      <a:pPr algn="r">
                        <a:defRPr sz="1000">
                          <a:solidFill>
                            <a:srgbClr val="2D2D3D"/>
                          </a:solidFill>
                          <a:latin typeface="Calibri"/>
                        </a:defRPr>
                      </a:pPr>
                      <a:r>
                        <a:t>1.0%</a:t>
                      </a:r>
                    </a:p>
                  </a:txBody>
                  <a:tcPr>
                    <a:solidFill>
                      <a:srgbClr val="FFFFFF"/>
                    </a:solidFill>
                  </a:tcPr>
                </a:tc>
                <a:tc>
                  <a:txBody>
                    <a:bodyPr/>
                    <a:lstStyle/>
                    <a:p>
                      <a:pPr algn="r">
                        <a:defRPr sz="1000">
                          <a:solidFill>
                            <a:srgbClr val="2D2D3D"/>
                          </a:solidFill>
                          <a:latin typeface="Calibri"/>
                        </a:defRPr>
                      </a:pPr>
                      <a:r>
                        <a:t>-2.14</a:t>
                      </a:r>
                    </a:p>
                  </a:txBody>
                  <a:tcPr>
                    <a:solidFill>
                      <a:srgbClr val="FFFFFF"/>
                    </a:solidFill>
                  </a:tcPr>
                </a:tc>
                <a:tc>
                  <a:txBody>
                    <a:bodyPr/>
                    <a:lstStyle/>
                    <a:p>
                      <a:pPr algn="r">
                        <a:defRPr sz="1000">
                          <a:solidFill>
                            <a:srgbClr val="2D2D3D"/>
                          </a:solidFill>
                          <a:latin typeface="Calibri"/>
                        </a:defRPr>
                      </a:pPr>
                      <a:r>
                        <a:t>459.5</a:t>
                      </a:r>
                    </a:p>
                  </a:txBody>
                  <a:tcPr>
                    <a:solidFill>
                      <a:srgbClr val="FFFFFF"/>
                    </a:solidFill>
                  </a:tcPr>
                </a:tc>
                <a:tc>
                  <a:txBody>
                    <a:bodyPr/>
                    <a:lstStyle/>
                    <a:p>
                      <a:pPr algn="r">
                        <a:defRPr sz="1000">
                          <a:solidFill>
                            <a:srgbClr val="2D2D3D"/>
                          </a:solidFill>
                          <a:latin typeface="Calibri"/>
                        </a:defRPr>
                      </a:pPr>
                      <a:r>
                        <a:t>11bp</a:t>
                      </a:r>
                    </a:p>
                  </a:txBody>
                  <a:tcPr>
                    <a:solidFill>
                      <a:srgbClr val="FFFFFF"/>
                    </a:solidFill>
                  </a:tcPr>
                </a:tc>
              </a:tr>
              <a:tr h="320039">
                <a:tc>
                  <a:txBody>
                    <a:bodyPr/>
                    <a:lstStyle/>
                    <a:p>
                      <a:pPr algn="l">
                        <a:defRPr sz="1000">
                          <a:solidFill>
                            <a:srgbClr val="2D2D3D"/>
                          </a:solidFill>
                          <a:latin typeface="Calibri"/>
                        </a:defRPr>
                      </a:pPr>
                      <a:r>
                        <a:t>BB− (Mid HY)</a:t>
                      </a:r>
                    </a:p>
                  </a:txBody>
                  <a:tcPr>
                    <a:solidFill>
                      <a:srgbClr val="E8EBF5"/>
                    </a:solidFill>
                  </a:tcPr>
                </a:tc>
                <a:tc>
                  <a:txBody>
                    <a:bodyPr/>
                    <a:lstStyle/>
                    <a:p>
                      <a:pPr algn="r">
                        <a:defRPr sz="1000">
                          <a:solidFill>
                            <a:srgbClr val="2D2D3D"/>
                          </a:solidFill>
                          <a:latin typeface="Calibri"/>
                        </a:defRPr>
                      </a:pPr>
                      <a:r>
                        <a:t>61%</a:t>
                      </a:r>
                    </a:p>
                  </a:txBody>
                  <a:tcPr>
                    <a:solidFill>
                      <a:srgbClr val="E8EBF5"/>
                    </a:solidFill>
                  </a:tcPr>
                </a:tc>
                <a:tc>
                  <a:txBody>
                    <a:bodyPr/>
                    <a:lstStyle/>
                    <a:p>
                      <a:pPr algn="r">
                        <a:defRPr sz="1000">
                          <a:solidFill>
                            <a:srgbClr val="2D2D3D"/>
                          </a:solidFill>
                          <a:latin typeface="Calibri"/>
                        </a:defRPr>
                      </a:pPr>
                      <a:r>
                        <a:t>165</a:t>
                      </a:r>
                    </a:p>
                  </a:txBody>
                  <a:tcPr>
                    <a:solidFill>
                      <a:srgbClr val="E8EBF5"/>
                    </a:solidFill>
                  </a:tcPr>
                </a:tc>
                <a:tc>
                  <a:txBody>
                    <a:bodyPr/>
                    <a:lstStyle/>
                    <a:p>
                      <a:pPr algn="r">
                        <a:defRPr sz="1000">
                          <a:solidFill>
                            <a:srgbClr val="2D2D3D"/>
                          </a:solidFill>
                          <a:latin typeface="Calibri"/>
                        </a:defRPr>
                      </a:pPr>
                      <a:r>
                        <a:t>25%</a:t>
                      </a:r>
                    </a:p>
                  </a:txBody>
                  <a:tcPr>
                    <a:solidFill>
                      <a:srgbClr val="E8EBF5"/>
                    </a:solidFill>
                  </a:tcPr>
                </a:tc>
                <a:tc>
                  <a:txBody>
                    <a:bodyPr/>
                    <a:lstStyle/>
                    <a:p>
                      <a:pPr algn="r">
                        <a:defRPr sz="1000">
                          <a:solidFill>
                            <a:srgbClr val="2D2D3D"/>
                          </a:solidFill>
                          <a:latin typeface="Calibri"/>
                        </a:defRPr>
                      </a:pPr>
                      <a:r>
                        <a:t>1.00%</a:t>
                      </a:r>
                    </a:p>
                  </a:txBody>
                  <a:tcPr>
                    <a:solidFill>
                      <a:srgbClr val="E8EBF5"/>
                    </a:solidFill>
                  </a:tcPr>
                </a:tc>
                <a:tc>
                  <a:txBody>
                    <a:bodyPr/>
                    <a:lstStyle/>
                    <a:p>
                      <a:pPr algn="r">
                        <a:defRPr sz="1000">
                          <a:solidFill>
                            <a:srgbClr val="2D2D3D"/>
                          </a:solidFill>
                          <a:latin typeface="Calibri"/>
                        </a:defRPr>
                      </a:pPr>
                      <a:r>
                        <a:t>4.9%</a:t>
                      </a:r>
                    </a:p>
                  </a:txBody>
                  <a:tcPr>
                    <a:solidFill>
                      <a:srgbClr val="E8EBF5"/>
                    </a:solidFill>
                  </a:tcPr>
                </a:tc>
                <a:tc>
                  <a:txBody>
                    <a:bodyPr/>
                    <a:lstStyle/>
                    <a:p>
                      <a:pPr algn="r">
                        <a:defRPr sz="1000">
                          <a:solidFill>
                            <a:srgbClr val="2D2D3D"/>
                          </a:solidFill>
                          <a:latin typeface="Calibri"/>
                        </a:defRPr>
                      </a:pPr>
                      <a:r>
                        <a:t>-0.13</a:t>
                      </a:r>
                    </a:p>
                  </a:txBody>
                  <a:tcPr>
                    <a:solidFill>
                      <a:srgbClr val="E8EBF5"/>
                    </a:solidFill>
                  </a:tcPr>
                </a:tc>
                <a:tc>
                  <a:txBody>
                    <a:bodyPr/>
                    <a:lstStyle/>
                    <a:p>
                      <a:pPr algn="r">
                        <a:defRPr sz="1000">
                          <a:solidFill>
                            <a:srgbClr val="2D2D3D"/>
                          </a:solidFill>
                          <a:latin typeface="Calibri"/>
                        </a:defRPr>
                      </a:pPr>
                      <a:r>
                        <a:t>166.1</a:t>
                      </a:r>
                    </a:p>
                  </a:txBody>
                  <a:tcPr>
                    <a:solidFill>
                      <a:srgbClr val="E8EBF5"/>
                    </a:solidFill>
                  </a:tcPr>
                </a:tc>
                <a:tc>
                  <a:txBody>
                    <a:bodyPr/>
                    <a:lstStyle/>
                    <a:p>
                      <a:pPr algn="r">
                        <a:defRPr sz="1000">
                          <a:solidFill>
                            <a:srgbClr val="2D2D3D"/>
                          </a:solidFill>
                          <a:latin typeface="Calibri"/>
                        </a:defRPr>
                      </a:pPr>
                      <a:r>
                        <a:t>59bp</a:t>
                      </a:r>
                    </a:p>
                  </a:txBody>
                  <a:tcPr>
                    <a:solidFill>
                      <a:srgbClr val="E8EBF5"/>
                    </a:solidFill>
                  </a:tcPr>
                </a:tc>
              </a:tr>
              <a:tr h="320039">
                <a:tc>
                  <a:txBody>
                    <a:bodyPr/>
                    <a:lstStyle/>
                    <a:p>
                      <a:pPr algn="l">
                        <a:defRPr sz="1000">
                          <a:solidFill>
                            <a:srgbClr val="2D2D3D"/>
                          </a:solidFill>
                          <a:latin typeface="Calibri"/>
                        </a:defRPr>
                      </a:pPr>
                      <a:r>
                        <a:t>B (Weak HY)</a:t>
                      </a:r>
                    </a:p>
                  </a:txBody>
                  <a:tcPr>
                    <a:solidFill>
                      <a:srgbClr val="FFFFFF"/>
                    </a:solidFill>
                  </a:tcPr>
                </a:tc>
                <a:tc>
                  <a:txBody>
                    <a:bodyPr/>
                    <a:lstStyle/>
                    <a:p>
                      <a:pPr algn="r">
                        <a:defRPr sz="1000">
                          <a:solidFill>
                            <a:srgbClr val="2D2D3D"/>
                          </a:solidFill>
                          <a:latin typeface="Calibri"/>
                        </a:defRPr>
                      </a:pPr>
                      <a:r>
                        <a:t>71%</a:t>
                      </a:r>
                    </a:p>
                  </a:txBody>
                  <a:tcPr>
                    <a:solidFill>
                      <a:srgbClr val="FFFFFF"/>
                    </a:solidFill>
                  </a:tcPr>
                </a:tc>
                <a:tc>
                  <a:txBody>
                    <a:bodyPr/>
                    <a:lstStyle/>
                    <a:p>
                      <a:pPr algn="r">
                        <a:defRPr sz="1000">
                          <a:solidFill>
                            <a:srgbClr val="2D2D3D"/>
                          </a:solidFill>
                          <a:latin typeface="Calibri"/>
                        </a:defRPr>
                      </a:pPr>
                      <a:r>
                        <a:t>140</a:t>
                      </a:r>
                    </a:p>
                  </a:txBody>
                  <a:tcPr>
                    <a:solidFill>
                      <a:srgbClr val="FFFFFF"/>
                    </a:solidFill>
                  </a:tcPr>
                </a:tc>
                <a:tc>
                  <a:txBody>
                    <a:bodyPr/>
                    <a:lstStyle/>
                    <a:p>
                      <a:pPr algn="r">
                        <a:defRPr sz="1000">
                          <a:solidFill>
                            <a:srgbClr val="2D2D3D"/>
                          </a:solidFill>
                          <a:latin typeface="Calibri"/>
                        </a:defRPr>
                      </a:pPr>
                      <a:r>
                        <a:t>30%</a:t>
                      </a:r>
                    </a:p>
                  </a:txBody>
                  <a:tcPr>
                    <a:solidFill>
                      <a:srgbClr val="FFFFFF"/>
                    </a:solidFill>
                  </a:tcPr>
                </a:tc>
                <a:tc>
                  <a:txBody>
                    <a:bodyPr/>
                    <a:lstStyle/>
                    <a:p>
                      <a:pPr algn="r">
                        <a:defRPr sz="1000">
                          <a:solidFill>
                            <a:srgbClr val="2D2D3D"/>
                          </a:solidFill>
                          <a:latin typeface="Calibri"/>
                        </a:defRPr>
                      </a:pPr>
                      <a:r>
                        <a:t>2.50%</a:t>
                      </a:r>
                    </a:p>
                  </a:txBody>
                  <a:tcPr>
                    <a:solidFill>
                      <a:srgbClr val="FFFFFF"/>
                    </a:solidFill>
                  </a:tcPr>
                </a:tc>
                <a:tc>
                  <a:txBody>
                    <a:bodyPr/>
                    <a:lstStyle/>
                    <a:p>
                      <a:pPr algn="r">
                        <a:defRPr sz="1000">
                          <a:solidFill>
                            <a:srgbClr val="2D2D3D"/>
                          </a:solidFill>
                          <a:latin typeface="Calibri"/>
                        </a:defRPr>
                      </a:pPr>
                      <a:r>
                        <a:t>11.8%</a:t>
                      </a:r>
                    </a:p>
                  </a:txBody>
                  <a:tcPr>
                    <a:solidFill>
                      <a:srgbClr val="FFFFFF"/>
                    </a:solidFill>
                  </a:tcPr>
                </a:tc>
                <a:tc>
                  <a:txBody>
                    <a:bodyPr/>
                    <a:lstStyle/>
                    <a:p>
                      <a:pPr algn="r">
                        <a:defRPr sz="1000">
                          <a:solidFill>
                            <a:srgbClr val="2D2D3D"/>
                          </a:solidFill>
                          <a:latin typeface="Calibri"/>
                        </a:defRPr>
                      </a:pPr>
                      <a:r>
                        <a:t>-0.36</a:t>
                      </a:r>
                    </a:p>
                  </a:txBody>
                  <a:tcPr>
                    <a:solidFill>
                      <a:srgbClr val="FFFFFF"/>
                    </a:solidFill>
                  </a:tcPr>
                </a:tc>
                <a:tc>
                  <a:txBody>
                    <a:bodyPr/>
                    <a:lstStyle/>
                    <a:p>
                      <a:pPr algn="r">
                        <a:defRPr sz="1000">
                          <a:solidFill>
                            <a:srgbClr val="2D2D3D"/>
                          </a:solidFill>
                          <a:latin typeface="Calibri"/>
                        </a:defRPr>
                      </a:pPr>
                      <a:r>
                        <a:t>178.6</a:t>
                      </a:r>
                    </a:p>
                  </a:txBody>
                  <a:tcPr>
                    <a:solidFill>
                      <a:srgbClr val="FFFFFF"/>
                    </a:solidFill>
                  </a:tcPr>
                </a:tc>
                <a:tc>
                  <a:txBody>
                    <a:bodyPr/>
                    <a:lstStyle/>
                    <a:p>
                      <a:pPr algn="r">
                        <a:defRPr sz="1000">
                          <a:solidFill>
                            <a:srgbClr val="2D2D3D"/>
                          </a:solidFill>
                          <a:latin typeface="Calibri"/>
                        </a:defRPr>
                      </a:pPr>
                      <a:r>
                        <a:t>159bp</a:t>
                      </a:r>
                    </a:p>
                  </a:txBody>
                  <a:tcPr>
                    <a:solidFill>
                      <a:srgbClr val="FFFFFF"/>
                    </a:solidFill>
                  </a:tcPr>
                </a:tc>
              </a:tr>
              <a:tr h="320039">
                <a:tc>
                  <a:txBody>
                    <a:bodyPr/>
                    <a:lstStyle/>
                    <a:p>
                      <a:pPr algn="l">
                        <a:defRPr sz="1000">
                          <a:solidFill>
                            <a:srgbClr val="2D2D3D"/>
                          </a:solidFill>
                          <a:latin typeface="Calibri"/>
                        </a:defRPr>
                      </a:pPr>
                      <a:r>
                        <a:t>B− (Stressed)</a:t>
                      </a:r>
                    </a:p>
                  </a:txBody>
                  <a:tcPr>
                    <a:solidFill>
                      <a:srgbClr val="E8EBF5"/>
                    </a:solidFill>
                  </a:tcPr>
                </a:tc>
                <a:tc>
                  <a:txBody>
                    <a:bodyPr/>
                    <a:lstStyle/>
                    <a:p>
                      <a:pPr algn="r">
                        <a:defRPr sz="1000">
                          <a:solidFill>
                            <a:srgbClr val="2D2D3D"/>
                          </a:solidFill>
                          <a:latin typeface="Calibri"/>
                        </a:defRPr>
                      </a:pPr>
                      <a:r>
                        <a:t>80%</a:t>
                      </a:r>
                    </a:p>
                  </a:txBody>
                  <a:tcPr>
                    <a:solidFill>
                      <a:srgbClr val="E8EBF5"/>
                    </a:solidFill>
                  </a:tcPr>
                </a:tc>
                <a:tc>
                  <a:txBody>
                    <a:bodyPr/>
                    <a:lstStyle/>
                    <a:p>
                      <a:pPr algn="r">
                        <a:defRPr sz="1000">
                          <a:solidFill>
                            <a:srgbClr val="2D2D3D"/>
                          </a:solidFill>
                          <a:latin typeface="Calibri"/>
                        </a:defRPr>
                      </a:pPr>
                      <a:r>
                        <a:t>125</a:t>
                      </a:r>
                    </a:p>
                  </a:txBody>
                  <a:tcPr>
                    <a:solidFill>
                      <a:srgbClr val="E8EBF5"/>
                    </a:solidFill>
                  </a:tcPr>
                </a:tc>
                <a:tc>
                  <a:txBody>
                    <a:bodyPr/>
                    <a:lstStyle/>
                    <a:p>
                      <a:pPr algn="r">
                        <a:defRPr sz="1000">
                          <a:solidFill>
                            <a:srgbClr val="2D2D3D"/>
                          </a:solidFill>
                          <a:latin typeface="Calibri"/>
                        </a:defRPr>
                      </a:pPr>
                      <a:r>
                        <a:t>35%</a:t>
                      </a:r>
                    </a:p>
                  </a:txBody>
                  <a:tcPr>
                    <a:solidFill>
                      <a:srgbClr val="E8EBF5"/>
                    </a:solidFill>
                  </a:tcPr>
                </a:tc>
                <a:tc>
                  <a:txBody>
                    <a:bodyPr/>
                    <a:lstStyle/>
                    <a:p>
                      <a:pPr algn="r">
                        <a:defRPr sz="1000">
                          <a:solidFill>
                            <a:srgbClr val="2D2D3D"/>
                          </a:solidFill>
                          <a:latin typeface="Calibri"/>
                        </a:defRPr>
                      </a:pPr>
                      <a:r>
                        <a:t>5.50%</a:t>
                      </a:r>
                    </a:p>
                  </a:txBody>
                  <a:tcPr>
                    <a:solidFill>
                      <a:srgbClr val="E8EBF5"/>
                    </a:solidFill>
                  </a:tcPr>
                </a:tc>
                <a:tc>
                  <a:txBody>
                    <a:bodyPr/>
                    <a:lstStyle/>
                    <a:p>
                      <a:pPr algn="r">
                        <a:defRPr sz="1000">
                          <a:solidFill>
                            <a:srgbClr val="2D2D3D"/>
                          </a:solidFill>
                          <a:latin typeface="Calibri"/>
                        </a:defRPr>
                      </a:pPr>
                      <a:r>
                        <a:t>24.0%</a:t>
                      </a:r>
                    </a:p>
                  </a:txBody>
                  <a:tcPr>
                    <a:solidFill>
                      <a:srgbClr val="E8EBF5"/>
                    </a:solidFill>
                  </a:tcPr>
                </a:tc>
                <a:tc>
                  <a:txBody>
                    <a:bodyPr/>
                    <a:lstStyle/>
                    <a:p>
                      <a:pPr algn="r">
                        <a:defRPr sz="1000">
                          <a:solidFill>
                            <a:srgbClr val="2D2D3D"/>
                          </a:solidFill>
                          <a:latin typeface="Calibri"/>
                        </a:defRPr>
                      </a:pPr>
                      <a:r>
                        <a:t>-0.90</a:t>
                      </a:r>
                    </a:p>
                  </a:txBody>
                  <a:tcPr>
                    <a:solidFill>
                      <a:srgbClr val="E8EBF5"/>
                    </a:solidFill>
                  </a:tcPr>
                </a:tc>
                <a:tc>
                  <a:txBody>
                    <a:bodyPr/>
                    <a:lstStyle/>
                    <a:p>
                      <a:pPr algn="r">
                        <a:defRPr sz="1000">
                          <a:solidFill>
                            <a:srgbClr val="2D2D3D"/>
                          </a:solidFill>
                          <a:latin typeface="Calibri"/>
                        </a:defRPr>
                      </a:pPr>
                      <a:r>
                        <a:t>273.6</a:t>
                      </a:r>
                    </a:p>
                  </a:txBody>
                  <a:tcPr>
                    <a:solidFill>
                      <a:srgbClr val="E8EBF5"/>
                    </a:solidFill>
                  </a:tcPr>
                </a:tc>
                <a:tc>
                  <a:txBody>
                    <a:bodyPr/>
                    <a:lstStyle/>
                    <a:p>
                      <a:pPr algn="r">
                        <a:defRPr sz="1000">
                          <a:solidFill>
                            <a:srgbClr val="2D2D3D"/>
                          </a:solidFill>
                          <a:latin typeface="Calibri"/>
                        </a:defRPr>
                      </a:pPr>
                      <a:r>
                        <a:t>369bp</a:t>
                      </a:r>
                    </a:p>
                  </a:txBody>
                  <a:tcPr>
                    <a:solidFill>
                      <a:srgbClr val="E8EBF5"/>
                    </a:solidFill>
                  </a:tcPr>
                </a:tc>
              </a:tr>
              <a:tr h="320044">
                <a:tc>
                  <a:txBody>
                    <a:bodyPr/>
                    <a:lstStyle/>
                    <a:p>
                      <a:pPr algn="l">
                        <a:defRPr sz="1000">
                          <a:solidFill>
                            <a:srgbClr val="2D2D3D"/>
                          </a:solidFill>
                          <a:latin typeface="Calibri"/>
                        </a:defRPr>
                      </a:pPr>
                      <a:r>
                        <a:t>CCC (Deeply Stressed)</a:t>
                      </a:r>
                    </a:p>
                  </a:txBody>
                  <a:tcPr>
                    <a:solidFill>
                      <a:srgbClr val="FFFFFF"/>
                    </a:solidFill>
                  </a:tcPr>
                </a:tc>
                <a:tc>
                  <a:txBody>
                    <a:bodyPr/>
                    <a:lstStyle/>
                    <a:p>
                      <a:pPr algn="r">
                        <a:defRPr sz="1000">
                          <a:solidFill>
                            <a:srgbClr val="2D2D3D"/>
                          </a:solidFill>
                          <a:latin typeface="Calibri"/>
                        </a:defRPr>
                      </a:pPr>
                      <a:r>
                        <a:t>87%</a:t>
                      </a:r>
                    </a:p>
                  </a:txBody>
                  <a:tcPr>
                    <a:solidFill>
                      <a:srgbClr val="FFFFFF"/>
                    </a:solidFill>
                  </a:tcPr>
                </a:tc>
                <a:tc>
                  <a:txBody>
                    <a:bodyPr/>
                    <a:lstStyle/>
                    <a:p>
                      <a:pPr algn="r">
                        <a:defRPr sz="1000">
                          <a:solidFill>
                            <a:srgbClr val="2D2D3D"/>
                          </a:solidFill>
                          <a:latin typeface="Calibri"/>
                        </a:defRPr>
                      </a:pPr>
                      <a:r>
                        <a:t>115</a:t>
                      </a:r>
                    </a:p>
                  </a:txBody>
                  <a:tcPr>
                    <a:solidFill>
                      <a:srgbClr val="FFFFFF"/>
                    </a:solidFill>
                  </a:tcPr>
                </a:tc>
                <a:tc>
                  <a:txBody>
                    <a:bodyPr/>
                    <a:lstStyle/>
                    <a:p>
                      <a:pPr algn="r">
                        <a:defRPr sz="1000">
                          <a:solidFill>
                            <a:srgbClr val="2D2D3D"/>
                          </a:solidFill>
                          <a:latin typeface="Calibri"/>
                        </a:defRPr>
                      </a:pPr>
                      <a:r>
                        <a:t>40%</a:t>
                      </a:r>
                    </a:p>
                  </a:txBody>
                  <a:tcPr>
                    <a:solidFill>
                      <a:srgbClr val="FFFFFF"/>
                    </a:solidFill>
                  </a:tcPr>
                </a:tc>
                <a:tc>
                  <a:txBody>
                    <a:bodyPr/>
                    <a:lstStyle/>
                    <a:p>
                      <a:pPr algn="r">
                        <a:defRPr sz="1000">
                          <a:solidFill>
                            <a:srgbClr val="2D2D3D"/>
                          </a:solidFill>
                          <a:latin typeface="Calibri"/>
                        </a:defRPr>
                      </a:pPr>
                      <a:r>
                        <a:t>10.00%</a:t>
                      </a:r>
                    </a:p>
                  </a:txBody>
                  <a:tcPr>
                    <a:solidFill>
                      <a:srgbClr val="FFFFFF"/>
                    </a:solidFill>
                  </a:tcPr>
                </a:tc>
                <a:tc>
                  <a:txBody>
                    <a:bodyPr/>
                    <a:lstStyle/>
                    <a:p>
                      <a:pPr algn="r">
                        <a:defRPr sz="1000">
                          <a:solidFill>
                            <a:srgbClr val="2D2D3D"/>
                          </a:solidFill>
                          <a:latin typeface="Calibri"/>
                        </a:defRPr>
                      </a:pPr>
                      <a:r>
                        <a:t>39.3%</a:t>
                      </a:r>
                    </a:p>
                  </a:txBody>
                  <a:tcPr>
                    <a:solidFill>
                      <a:srgbClr val="FFFFFF"/>
                    </a:solidFill>
                  </a:tcPr>
                </a:tc>
                <a:tc>
                  <a:txBody>
                    <a:bodyPr/>
                    <a:lstStyle/>
                    <a:p>
                      <a:pPr algn="r">
                        <a:defRPr sz="1000">
                          <a:solidFill>
                            <a:srgbClr val="2D2D3D"/>
                          </a:solidFill>
                          <a:latin typeface="Calibri"/>
                        </a:defRPr>
                      </a:pPr>
                      <a:r>
                        <a:t>-1.81</a:t>
                      </a:r>
                    </a:p>
                  </a:txBody>
                  <a:tcPr>
                    <a:solidFill>
                      <a:srgbClr val="FFFFFF"/>
                    </a:solidFill>
                  </a:tcPr>
                </a:tc>
                <a:tc>
                  <a:txBody>
                    <a:bodyPr/>
                    <a:lstStyle/>
                    <a:p>
                      <a:pPr algn="r">
                        <a:defRPr sz="1000">
                          <a:solidFill>
                            <a:srgbClr val="2D2D3D"/>
                          </a:solidFill>
                          <a:latin typeface="Calibri"/>
                        </a:defRPr>
                      </a:pPr>
                      <a:r>
                        <a:t>689.1</a:t>
                      </a:r>
                    </a:p>
                  </a:txBody>
                  <a:tcPr>
                    <a:solidFill>
                      <a:srgbClr val="FFFFFF"/>
                    </a:solidFill>
                  </a:tcPr>
                </a:tc>
                <a:tc>
                  <a:txBody>
                    <a:bodyPr/>
                    <a:lstStyle/>
                    <a:p>
                      <a:pPr algn="r">
                        <a:defRPr sz="1000">
                          <a:solidFill>
                            <a:srgbClr val="2D2D3D"/>
                          </a:solidFill>
                          <a:latin typeface="Calibri"/>
                        </a:defRPr>
                      </a:pPr>
                      <a:r>
                        <a:t>699bp</a:t>
                      </a:r>
                    </a:p>
                  </a:txBody>
                  <a:tcPr>
                    <a:solidFill>
                      <a:srgbClr val="FFFFFF"/>
                    </a:solidFill>
                  </a:tcPr>
                </a:tc>
              </a:tr>
            </a:tbl>
          </a:graphicData>
        </a:graphic>
      </p:graphicFrame>
      <p:sp>
        <p:nvSpPr>
          <p:cNvPr id="10" name="TextBox 9"/>
          <p:cNvSpPr txBox="1"/>
          <p:nvPr/>
        </p:nvSpPr>
        <p:spPr>
          <a:xfrm>
            <a:off x="457200" y="4114800"/>
            <a:ext cx="8229600" cy="228600"/>
          </a:xfrm>
          <a:prstGeom prst="rect">
            <a:avLst/>
          </a:prstGeom>
          <a:noFill/>
        </p:spPr>
        <p:txBody>
          <a:bodyPr wrap="square">
            <a:spAutoFit/>
          </a:bodyPr>
          <a:lstStyle/>
          <a:p>
            <a:pPr algn="l">
              <a:defRPr sz="1300" b="1">
                <a:solidFill>
                  <a:srgbClr val="2C3E6B"/>
                </a:solidFill>
                <a:latin typeface="Calibri"/>
              </a:defRPr>
            </a:pPr>
            <a:r>
              <a:t>Market Spread vs Merton Implied Spread</a:t>
            </a:r>
          </a:p>
        </p:txBody>
      </p:sp>
      <p:graphicFrame>
        <p:nvGraphicFramePr>
          <p:cNvPr id="11" name="Table 10"/>
          <p:cNvGraphicFramePr>
            <a:graphicFrameLocks noGrp="1"/>
          </p:cNvGraphicFramePr>
          <p:nvPr/>
        </p:nvGraphicFramePr>
        <p:xfrm>
          <a:off x="274320" y="4434840"/>
          <a:ext cx="5577840" cy="1920239"/>
        </p:xfrm>
        <a:graphic>
          <a:graphicData uri="http://schemas.openxmlformats.org/drawingml/2006/table">
            <a:tbl>
              <a:tblPr firstRow="1" bandRow="1">
                <a:tableStyleId>{5C22544A-7EE6-4342-B048-85BDC9FD1C3A}</a:tableStyleId>
              </a:tblPr>
              <a:tblGrid>
                <a:gridCol w="1371600"/>
                <a:gridCol w="457200"/>
                <a:gridCol w="822960"/>
                <a:gridCol w="914400"/>
                <a:gridCol w="731520"/>
                <a:gridCol w="1280160"/>
              </a:tblGrid>
              <a:tr h="320039">
                <a:tc>
                  <a:txBody>
                    <a:bodyPr/>
                    <a:lstStyle/>
                    <a:p>
                      <a:pPr algn="ctr">
                        <a:defRPr sz="1000" b="1">
                          <a:solidFill>
                            <a:srgbClr val="FFFFFF"/>
                          </a:solidFill>
                          <a:latin typeface="Calibri"/>
                        </a:defRPr>
                      </a:pPr>
                      <a:r>
                        <a:t>Issuer</a:t>
                      </a:r>
                    </a:p>
                  </a:txBody>
                  <a:tcPr>
                    <a:solidFill>
                      <a:srgbClr val="2C3E6B"/>
                    </a:solidFill>
                  </a:tcPr>
                </a:tc>
                <a:tc>
                  <a:txBody>
                    <a:bodyPr/>
                    <a:lstStyle/>
                    <a:p>
                      <a:pPr algn="ctr">
                        <a:defRPr sz="1000" b="1">
                          <a:solidFill>
                            <a:srgbClr val="FFFFFF"/>
                          </a:solidFill>
                          <a:latin typeface="Calibri"/>
                        </a:defRPr>
                      </a:pPr>
                      <a:r>
                        <a:t>LTV</a:t>
                      </a:r>
                    </a:p>
                  </a:txBody>
                  <a:tcPr>
                    <a:solidFill>
                      <a:srgbClr val="2C3E6B"/>
                    </a:solidFill>
                  </a:tcPr>
                </a:tc>
                <a:tc>
                  <a:txBody>
                    <a:bodyPr/>
                    <a:lstStyle/>
                    <a:p>
                      <a:pPr algn="ctr">
                        <a:defRPr sz="1000" b="1">
                          <a:solidFill>
                            <a:srgbClr val="FFFFFF"/>
                          </a:solidFill>
                          <a:latin typeface="Calibri"/>
                        </a:defRPr>
                      </a:pPr>
                      <a:r>
                        <a:t>Mkt Spread</a:t>
                      </a:r>
                    </a:p>
                  </a:txBody>
                  <a:tcPr>
                    <a:solidFill>
                      <a:srgbClr val="2C3E6B"/>
                    </a:solidFill>
                  </a:tcPr>
                </a:tc>
                <a:tc>
                  <a:txBody>
                    <a:bodyPr/>
                    <a:lstStyle/>
                    <a:p>
                      <a:pPr algn="ctr">
                        <a:defRPr sz="1000" b="1">
                          <a:solidFill>
                            <a:srgbClr val="FFFFFF"/>
                          </a:solidFill>
                          <a:latin typeface="Calibri"/>
                        </a:defRPr>
                      </a:pPr>
                      <a:r>
                        <a:t>Merton Spread</a:t>
                      </a:r>
                    </a:p>
                  </a:txBody>
                  <a:tcPr>
                    <a:solidFill>
                      <a:srgbClr val="2C3E6B"/>
                    </a:solidFill>
                  </a:tcPr>
                </a:tc>
                <a:tc>
                  <a:txBody>
                    <a:bodyPr/>
                    <a:lstStyle/>
                    <a:p>
                      <a:pPr algn="ctr">
                        <a:defRPr sz="1000" b="1">
                          <a:solidFill>
                            <a:srgbClr val="FFFFFF"/>
                          </a:solidFill>
                          <a:latin typeface="Calibri"/>
                        </a:defRPr>
                      </a:pPr>
                      <a:r>
                        <a:t>Gap</a:t>
                      </a:r>
                    </a:p>
                  </a:txBody>
                  <a:tcPr>
                    <a:solidFill>
                      <a:srgbClr val="2C3E6B"/>
                    </a:solidFill>
                  </a:tcPr>
                </a:tc>
                <a:tc>
                  <a:txBody>
                    <a:bodyPr/>
                    <a:lstStyle/>
                    <a:p>
                      <a:pPr algn="ctr">
                        <a:defRPr sz="1000" b="1">
                          <a:solidFill>
                            <a:srgbClr val="FFFFFF"/>
                          </a:solidFill>
                          <a:latin typeface="Calibri"/>
                        </a:defRPr>
                      </a:pPr>
                      <a:r>
                        <a:t>Interpretation</a:t>
                      </a:r>
                    </a:p>
                  </a:txBody>
                  <a:tcPr>
                    <a:solidFill>
                      <a:srgbClr val="2C3E6B"/>
                    </a:solidFill>
                  </a:tcPr>
                </a:tc>
              </a:tr>
              <a:tr h="320039">
                <a:tc>
                  <a:txBody>
                    <a:bodyPr/>
                    <a:lstStyle/>
                    <a:p>
                      <a:pPr algn="l">
                        <a:defRPr sz="1000">
                          <a:solidFill>
                            <a:srgbClr val="2D2D3D"/>
                          </a:solidFill>
                          <a:latin typeface="Calibri"/>
                        </a:defRPr>
                      </a:pPr>
                      <a:r>
                        <a:t>BB+ (Solid HY)</a:t>
                      </a:r>
                    </a:p>
                  </a:txBody>
                  <a:tcPr>
                    <a:solidFill>
                      <a:srgbClr val="FFFFFF"/>
                    </a:solidFill>
                  </a:tcPr>
                </a:tc>
                <a:tc>
                  <a:txBody>
                    <a:bodyPr/>
                    <a:lstStyle/>
                    <a:p>
                      <a:pPr algn="r">
                        <a:defRPr sz="1000">
                          <a:solidFill>
                            <a:srgbClr val="2D2D3D"/>
                          </a:solidFill>
                          <a:latin typeface="Calibri"/>
                        </a:defRPr>
                      </a:pPr>
                      <a:r>
                        <a:t>50%</a:t>
                      </a:r>
                    </a:p>
                  </a:txBody>
                  <a:tcPr>
                    <a:solidFill>
                      <a:srgbClr val="FFFFFF"/>
                    </a:solidFill>
                  </a:tcPr>
                </a:tc>
                <a:tc>
                  <a:txBody>
                    <a:bodyPr/>
                    <a:lstStyle/>
                    <a:p>
                      <a:pPr algn="r">
                        <a:defRPr sz="1000">
                          <a:solidFill>
                            <a:srgbClr val="2D2D3D"/>
                          </a:solidFill>
                          <a:latin typeface="Calibri"/>
                        </a:defRPr>
                      </a:pPr>
                      <a:r>
                        <a:t>85bp</a:t>
                      </a:r>
                    </a:p>
                  </a:txBody>
                  <a:tcPr>
                    <a:solidFill>
                      <a:srgbClr val="FFFFFF"/>
                    </a:solidFill>
                  </a:tcPr>
                </a:tc>
                <a:tc>
                  <a:txBody>
                    <a:bodyPr/>
                    <a:lstStyle/>
                    <a:p>
                      <a:pPr algn="r">
                        <a:defRPr sz="1000">
                          <a:solidFill>
                            <a:srgbClr val="2D2D3D"/>
                          </a:solidFill>
                          <a:latin typeface="Calibri"/>
                        </a:defRPr>
                      </a:pPr>
                      <a:r>
                        <a:t>11bp</a:t>
                      </a:r>
                    </a:p>
                  </a:txBody>
                  <a:tcPr>
                    <a:solidFill>
                      <a:srgbClr val="FFFFFF"/>
                    </a:solidFill>
                  </a:tcPr>
                </a:tc>
                <a:tc>
                  <a:txBody>
                    <a:bodyPr/>
                    <a:lstStyle/>
                    <a:p>
                      <a:pPr algn="r">
                        <a:defRPr sz="1000">
                          <a:solidFill>
                            <a:srgbClr val="2D2D3D"/>
                          </a:solidFill>
                          <a:latin typeface="Calibri"/>
                        </a:defRPr>
                      </a:pPr>
                      <a:r>
                        <a:t>+74bp</a:t>
                      </a:r>
                    </a:p>
                  </a:txBody>
                  <a:tcPr>
                    <a:solidFill>
                      <a:srgbClr val="FFFFFF"/>
                    </a:solidFill>
                  </a:tcPr>
                </a:tc>
                <a:tc>
                  <a:txBody>
                    <a:bodyPr/>
                    <a:lstStyle/>
                    <a:p>
                      <a:pPr algn="r">
                        <a:defRPr sz="1000">
                          <a:solidFill>
                            <a:srgbClr val="2D2D3D"/>
                          </a:solidFill>
                          <a:latin typeface="Calibri"/>
                        </a:defRPr>
                      </a:pPr>
                      <a:r>
                        <a:t>Large risk premium</a:t>
                      </a:r>
                    </a:p>
                  </a:txBody>
                  <a:tcPr>
                    <a:solidFill>
                      <a:srgbClr val="FFFFFF"/>
                    </a:solidFill>
                  </a:tcPr>
                </a:tc>
              </a:tr>
              <a:tr h="320039">
                <a:tc>
                  <a:txBody>
                    <a:bodyPr/>
                    <a:lstStyle/>
                    <a:p>
                      <a:pPr algn="l">
                        <a:defRPr sz="1000">
                          <a:solidFill>
                            <a:srgbClr val="2D2D3D"/>
                          </a:solidFill>
                          <a:latin typeface="Calibri"/>
                        </a:defRPr>
                      </a:pPr>
                      <a:r>
                        <a:t>BB− (Mid HY)</a:t>
                      </a:r>
                    </a:p>
                  </a:txBody>
                  <a:tcPr>
                    <a:solidFill>
                      <a:srgbClr val="E8EBF5"/>
                    </a:solidFill>
                  </a:tcPr>
                </a:tc>
                <a:tc>
                  <a:txBody>
                    <a:bodyPr/>
                    <a:lstStyle/>
                    <a:p>
                      <a:pPr algn="r">
                        <a:defRPr sz="1000">
                          <a:solidFill>
                            <a:srgbClr val="2D2D3D"/>
                          </a:solidFill>
                          <a:latin typeface="Calibri"/>
                        </a:defRPr>
                      </a:pPr>
                      <a:r>
                        <a:t>61%</a:t>
                      </a:r>
                    </a:p>
                  </a:txBody>
                  <a:tcPr>
                    <a:solidFill>
                      <a:srgbClr val="E8EBF5"/>
                    </a:solidFill>
                  </a:tcPr>
                </a:tc>
                <a:tc>
                  <a:txBody>
                    <a:bodyPr/>
                    <a:lstStyle/>
                    <a:p>
                      <a:pPr algn="r">
                        <a:defRPr sz="1000">
                          <a:solidFill>
                            <a:srgbClr val="2D2D3D"/>
                          </a:solidFill>
                          <a:latin typeface="Calibri"/>
                        </a:defRPr>
                      </a:pPr>
                      <a:r>
                        <a:t>210bp</a:t>
                      </a:r>
                    </a:p>
                  </a:txBody>
                  <a:tcPr>
                    <a:solidFill>
                      <a:srgbClr val="E8EBF5"/>
                    </a:solidFill>
                  </a:tcPr>
                </a:tc>
                <a:tc>
                  <a:txBody>
                    <a:bodyPr/>
                    <a:lstStyle/>
                    <a:p>
                      <a:pPr algn="r">
                        <a:defRPr sz="1000">
                          <a:solidFill>
                            <a:srgbClr val="2D2D3D"/>
                          </a:solidFill>
                          <a:latin typeface="Calibri"/>
                        </a:defRPr>
                      </a:pPr>
                      <a:r>
                        <a:t>59bp</a:t>
                      </a:r>
                    </a:p>
                  </a:txBody>
                  <a:tcPr>
                    <a:solidFill>
                      <a:srgbClr val="E8EBF5"/>
                    </a:solidFill>
                  </a:tcPr>
                </a:tc>
                <a:tc>
                  <a:txBody>
                    <a:bodyPr/>
                    <a:lstStyle/>
                    <a:p>
                      <a:pPr algn="r">
                        <a:defRPr sz="1000">
                          <a:solidFill>
                            <a:srgbClr val="2D2D3D"/>
                          </a:solidFill>
                          <a:latin typeface="Calibri"/>
                        </a:defRPr>
                      </a:pPr>
                      <a:r>
                        <a:t>+151bp</a:t>
                      </a:r>
                    </a:p>
                  </a:txBody>
                  <a:tcPr>
                    <a:solidFill>
                      <a:srgbClr val="E8EBF5"/>
                    </a:solidFill>
                  </a:tcPr>
                </a:tc>
                <a:tc>
                  <a:txBody>
                    <a:bodyPr/>
                    <a:lstStyle/>
                    <a:p>
                      <a:pPr algn="r">
                        <a:defRPr sz="1000">
                          <a:solidFill>
                            <a:srgbClr val="2D2D3D"/>
                          </a:solidFill>
                          <a:latin typeface="Calibri"/>
                        </a:defRPr>
                      </a:pPr>
                      <a:r>
                        <a:t>Large risk premium</a:t>
                      </a:r>
                    </a:p>
                  </a:txBody>
                  <a:tcPr>
                    <a:solidFill>
                      <a:srgbClr val="E8EBF5"/>
                    </a:solidFill>
                  </a:tcPr>
                </a:tc>
              </a:tr>
              <a:tr h="320039">
                <a:tc>
                  <a:txBody>
                    <a:bodyPr/>
                    <a:lstStyle/>
                    <a:p>
                      <a:pPr algn="l">
                        <a:defRPr sz="1000">
                          <a:solidFill>
                            <a:srgbClr val="2D2D3D"/>
                          </a:solidFill>
                          <a:latin typeface="Calibri"/>
                        </a:defRPr>
                      </a:pPr>
                      <a:r>
                        <a:t>B (Weak HY)</a:t>
                      </a:r>
                    </a:p>
                  </a:txBody>
                  <a:tcPr>
                    <a:solidFill>
                      <a:srgbClr val="FFFFFF"/>
                    </a:solidFill>
                  </a:tcPr>
                </a:tc>
                <a:tc>
                  <a:txBody>
                    <a:bodyPr/>
                    <a:lstStyle/>
                    <a:p>
                      <a:pPr algn="r">
                        <a:defRPr sz="1000">
                          <a:solidFill>
                            <a:srgbClr val="2D2D3D"/>
                          </a:solidFill>
                          <a:latin typeface="Calibri"/>
                        </a:defRPr>
                      </a:pPr>
                      <a:r>
                        <a:t>71%</a:t>
                      </a:r>
                    </a:p>
                  </a:txBody>
                  <a:tcPr>
                    <a:solidFill>
                      <a:srgbClr val="FFFFFF"/>
                    </a:solidFill>
                  </a:tcPr>
                </a:tc>
                <a:tc>
                  <a:txBody>
                    <a:bodyPr/>
                    <a:lstStyle/>
                    <a:p>
                      <a:pPr algn="r">
                        <a:defRPr sz="1000">
                          <a:solidFill>
                            <a:srgbClr val="2D2D3D"/>
                          </a:solidFill>
                          <a:latin typeface="Calibri"/>
                        </a:defRPr>
                      </a:pPr>
                      <a:r>
                        <a:t>390bp</a:t>
                      </a:r>
                    </a:p>
                  </a:txBody>
                  <a:tcPr>
                    <a:solidFill>
                      <a:srgbClr val="FFFFFF"/>
                    </a:solidFill>
                  </a:tcPr>
                </a:tc>
                <a:tc>
                  <a:txBody>
                    <a:bodyPr/>
                    <a:lstStyle/>
                    <a:p>
                      <a:pPr algn="r">
                        <a:defRPr sz="1000">
                          <a:solidFill>
                            <a:srgbClr val="2D2D3D"/>
                          </a:solidFill>
                          <a:latin typeface="Calibri"/>
                        </a:defRPr>
                      </a:pPr>
                      <a:r>
                        <a:t>159bp</a:t>
                      </a:r>
                    </a:p>
                  </a:txBody>
                  <a:tcPr>
                    <a:solidFill>
                      <a:srgbClr val="FFFFFF"/>
                    </a:solidFill>
                  </a:tcPr>
                </a:tc>
                <a:tc>
                  <a:txBody>
                    <a:bodyPr/>
                    <a:lstStyle/>
                    <a:p>
                      <a:pPr algn="r">
                        <a:defRPr sz="1000">
                          <a:solidFill>
                            <a:srgbClr val="2D2D3D"/>
                          </a:solidFill>
                          <a:latin typeface="Calibri"/>
                        </a:defRPr>
                      </a:pPr>
                      <a:r>
                        <a:t>+231bp</a:t>
                      </a:r>
                    </a:p>
                  </a:txBody>
                  <a:tcPr>
                    <a:solidFill>
                      <a:srgbClr val="FFFFFF"/>
                    </a:solidFill>
                  </a:tcPr>
                </a:tc>
                <a:tc>
                  <a:txBody>
                    <a:bodyPr/>
                    <a:lstStyle/>
                    <a:p>
                      <a:pPr algn="r">
                        <a:defRPr sz="1000">
                          <a:solidFill>
                            <a:srgbClr val="2D2D3D"/>
                          </a:solidFill>
                          <a:latin typeface="Calibri"/>
                        </a:defRPr>
                      </a:pPr>
                      <a:r>
                        <a:t>Large risk premium</a:t>
                      </a:r>
                    </a:p>
                  </a:txBody>
                  <a:tcPr>
                    <a:solidFill>
                      <a:srgbClr val="FFFFFF"/>
                    </a:solidFill>
                  </a:tcPr>
                </a:tc>
              </a:tr>
              <a:tr h="320039">
                <a:tc>
                  <a:txBody>
                    <a:bodyPr/>
                    <a:lstStyle/>
                    <a:p>
                      <a:pPr algn="l">
                        <a:defRPr sz="1000">
                          <a:solidFill>
                            <a:srgbClr val="2D2D3D"/>
                          </a:solidFill>
                          <a:latin typeface="Calibri"/>
                        </a:defRPr>
                      </a:pPr>
                      <a:r>
                        <a:t>B− (Stressed)</a:t>
                      </a:r>
                    </a:p>
                  </a:txBody>
                  <a:tcPr>
                    <a:solidFill>
                      <a:srgbClr val="E8EBF5"/>
                    </a:solidFill>
                  </a:tcPr>
                </a:tc>
                <a:tc>
                  <a:txBody>
                    <a:bodyPr/>
                    <a:lstStyle/>
                    <a:p>
                      <a:pPr algn="r">
                        <a:defRPr sz="1000">
                          <a:solidFill>
                            <a:srgbClr val="2D2D3D"/>
                          </a:solidFill>
                          <a:latin typeface="Calibri"/>
                        </a:defRPr>
                      </a:pPr>
                      <a:r>
                        <a:t>80%</a:t>
                      </a:r>
                    </a:p>
                  </a:txBody>
                  <a:tcPr>
                    <a:solidFill>
                      <a:srgbClr val="E8EBF5"/>
                    </a:solidFill>
                  </a:tcPr>
                </a:tc>
                <a:tc>
                  <a:txBody>
                    <a:bodyPr/>
                    <a:lstStyle/>
                    <a:p>
                      <a:pPr algn="r">
                        <a:defRPr sz="1000">
                          <a:solidFill>
                            <a:srgbClr val="2D2D3D"/>
                          </a:solidFill>
                          <a:latin typeface="Calibri"/>
                        </a:defRPr>
                      </a:pPr>
                      <a:r>
                        <a:t>630bp</a:t>
                      </a:r>
                    </a:p>
                  </a:txBody>
                  <a:tcPr>
                    <a:solidFill>
                      <a:srgbClr val="E8EBF5"/>
                    </a:solidFill>
                  </a:tcPr>
                </a:tc>
                <a:tc>
                  <a:txBody>
                    <a:bodyPr/>
                    <a:lstStyle/>
                    <a:p>
                      <a:pPr algn="r">
                        <a:defRPr sz="1000">
                          <a:solidFill>
                            <a:srgbClr val="2D2D3D"/>
                          </a:solidFill>
                          <a:latin typeface="Calibri"/>
                        </a:defRPr>
                      </a:pPr>
                      <a:r>
                        <a:t>369bp</a:t>
                      </a:r>
                    </a:p>
                  </a:txBody>
                  <a:tcPr>
                    <a:solidFill>
                      <a:srgbClr val="E8EBF5"/>
                    </a:solidFill>
                  </a:tcPr>
                </a:tc>
                <a:tc>
                  <a:txBody>
                    <a:bodyPr/>
                    <a:lstStyle/>
                    <a:p>
                      <a:pPr algn="r">
                        <a:defRPr sz="1000">
                          <a:solidFill>
                            <a:srgbClr val="2D2D3D"/>
                          </a:solidFill>
                          <a:latin typeface="Calibri"/>
                        </a:defRPr>
                      </a:pPr>
                      <a:r>
                        <a:t>+261bp</a:t>
                      </a:r>
                    </a:p>
                  </a:txBody>
                  <a:tcPr>
                    <a:solidFill>
                      <a:srgbClr val="E8EBF5"/>
                    </a:solidFill>
                  </a:tcPr>
                </a:tc>
                <a:tc>
                  <a:txBody>
                    <a:bodyPr/>
                    <a:lstStyle/>
                    <a:p>
                      <a:pPr algn="r">
                        <a:defRPr sz="1000">
                          <a:solidFill>
                            <a:srgbClr val="2D2D3D"/>
                          </a:solidFill>
                          <a:latin typeface="Calibri"/>
                        </a:defRPr>
                      </a:pPr>
                      <a:r>
                        <a:t>Large risk premium</a:t>
                      </a:r>
                    </a:p>
                  </a:txBody>
                  <a:tcPr>
                    <a:solidFill>
                      <a:srgbClr val="E8EBF5"/>
                    </a:solidFill>
                  </a:tcPr>
                </a:tc>
              </a:tr>
              <a:tr h="320044">
                <a:tc>
                  <a:txBody>
                    <a:bodyPr/>
                    <a:lstStyle/>
                    <a:p>
                      <a:pPr algn="l">
                        <a:defRPr sz="1000">
                          <a:solidFill>
                            <a:srgbClr val="2D2D3D"/>
                          </a:solidFill>
                          <a:latin typeface="Calibri"/>
                        </a:defRPr>
                      </a:pPr>
                      <a:r>
                        <a:t>CCC (Deeply Stressed)</a:t>
                      </a:r>
                    </a:p>
                  </a:txBody>
                  <a:tcPr>
                    <a:solidFill>
                      <a:srgbClr val="FFFFFF"/>
                    </a:solidFill>
                  </a:tcPr>
                </a:tc>
                <a:tc>
                  <a:txBody>
                    <a:bodyPr/>
                    <a:lstStyle/>
                    <a:p>
                      <a:pPr algn="r">
                        <a:defRPr sz="1000">
                          <a:solidFill>
                            <a:srgbClr val="2D2D3D"/>
                          </a:solidFill>
                          <a:latin typeface="Calibri"/>
                        </a:defRPr>
                      </a:pPr>
                      <a:r>
                        <a:t>87%</a:t>
                      </a:r>
                    </a:p>
                  </a:txBody>
                  <a:tcPr>
                    <a:solidFill>
                      <a:srgbClr val="FFFFFF"/>
                    </a:solidFill>
                  </a:tcPr>
                </a:tc>
                <a:tc>
                  <a:txBody>
                    <a:bodyPr/>
                    <a:lstStyle/>
                    <a:p>
                      <a:pPr algn="r">
                        <a:defRPr sz="1000">
                          <a:solidFill>
                            <a:srgbClr val="2D2D3D"/>
                          </a:solidFill>
                          <a:latin typeface="Calibri"/>
                        </a:defRPr>
                      </a:pPr>
                      <a:r>
                        <a:t>1050bp</a:t>
                      </a:r>
                    </a:p>
                  </a:txBody>
                  <a:tcPr>
                    <a:solidFill>
                      <a:srgbClr val="FFFFFF"/>
                    </a:solidFill>
                  </a:tcPr>
                </a:tc>
                <a:tc>
                  <a:txBody>
                    <a:bodyPr/>
                    <a:lstStyle/>
                    <a:p>
                      <a:pPr algn="r">
                        <a:defRPr sz="1000">
                          <a:solidFill>
                            <a:srgbClr val="2D2D3D"/>
                          </a:solidFill>
                          <a:latin typeface="Calibri"/>
                        </a:defRPr>
                      </a:pPr>
                      <a:r>
                        <a:t>699bp</a:t>
                      </a:r>
                    </a:p>
                  </a:txBody>
                  <a:tcPr>
                    <a:solidFill>
                      <a:srgbClr val="FFFFFF"/>
                    </a:solidFill>
                  </a:tcPr>
                </a:tc>
                <a:tc>
                  <a:txBody>
                    <a:bodyPr/>
                    <a:lstStyle/>
                    <a:p>
                      <a:pPr algn="r">
                        <a:defRPr sz="1000">
                          <a:solidFill>
                            <a:srgbClr val="2D2D3D"/>
                          </a:solidFill>
                          <a:latin typeface="Calibri"/>
                        </a:defRPr>
                      </a:pPr>
                      <a:r>
                        <a:t>+351bp</a:t>
                      </a:r>
                    </a:p>
                  </a:txBody>
                  <a:tcPr>
                    <a:solidFill>
                      <a:srgbClr val="FFFFFF"/>
                    </a:solidFill>
                  </a:tcPr>
                </a:tc>
                <a:tc>
                  <a:txBody>
                    <a:bodyPr/>
                    <a:lstStyle/>
                    <a:p>
                      <a:pPr algn="r">
                        <a:defRPr sz="1000">
                          <a:solidFill>
                            <a:srgbClr val="2D2D3D"/>
                          </a:solidFill>
                          <a:latin typeface="Calibri"/>
                        </a:defRPr>
                      </a:pPr>
                      <a:r>
                        <a:t>Large risk premium</a:t>
                      </a:r>
                    </a:p>
                  </a:txBody>
                  <a:tcPr>
                    <a:solidFill>
                      <a:srgbClr val="FFFFFF"/>
                    </a:solidFill>
                  </a:tcPr>
                </a:tc>
              </a:tr>
            </a:tbl>
          </a:graphicData>
        </a:graphic>
      </p:graphicFrame>
      <p:sp>
        <p:nvSpPr>
          <p:cNvPr id="12" name="Rounded Rectangle 11"/>
          <p:cNvSpPr/>
          <p:nvPr/>
        </p:nvSpPr>
        <p:spPr>
          <a:xfrm>
            <a:off x="457200" y="5943600"/>
            <a:ext cx="8229600" cy="548640"/>
          </a:xfrm>
          <a:prstGeom prst="roundRect">
            <a:avLst/>
          </a:prstGeom>
          <a:solidFill>
            <a:srgbClr val="2C3E6B"/>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100" b="1">
                <a:solidFill>
                  <a:srgbClr val="FFFFFF"/>
                </a:solidFill>
                <a:latin typeface="Calibri"/>
              </a:defRPr>
            </a:pPr>
            <a:r>
              <a:t>The Merton implied spread is consistently below the market spread because it uses only historical default risk. The gap IS the risk premium. By calibrating to historical PDs, the MC model prices PIK under ‘real-world’ rather than risk-neutral defaults.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8</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Endogenous Hazard: λ(L) = λ₀ × (L/L₀)²</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PIK accrual raises leverage → hazard rate rises non-linearly</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9/16</a:t>
            </a:r>
          </a:p>
        </p:txBody>
      </p:sp>
      <p:sp>
        <p:nvSpPr>
          <p:cNvPr id="6" name="TextBox 5"/>
          <p:cNvSpPr txBox="1"/>
          <p:nvPr/>
        </p:nvSpPr>
        <p:spPr>
          <a:xfrm>
            <a:off x="457200" y="1005840"/>
            <a:ext cx="4572000" cy="320040"/>
          </a:xfrm>
          <a:prstGeom prst="rect">
            <a:avLst/>
          </a:prstGeom>
          <a:noFill/>
        </p:spPr>
        <p:txBody>
          <a:bodyPr wrap="square">
            <a:spAutoFit/>
          </a:bodyPr>
          <a:lstStyle/>
          <a:p>
            <a:pPr algn="l">
              <a:defRPr sz="1600" b="1">
                <a:solidFill>
                  <a:srgbClr val="2C3E6B"/>
                </a:solidFill>
                <a:latin typeface="Calibri"/>
              </a:defRPr>
            </a:pPr>
            <a:r>
              <a:t>λ(L) = λ₀ × (L / L₀)²</a:t>
            </a:r>
          </a:p>
        </p:txBody>
      </p:sp>
      <p:sp>
        <p:nvSpPr>
          <p:cNvPr id="7" name="TextBox 6"/>
          <p:cNvSpPr txBox="1"/>
          <p:nvPr/>
        </p:nvSpPr>
        <p:spPr>
          <a:xfrm>
            <a:off x="457200" y="1325880"/>
            <a:ext cx="4572000" cy="228600"/>
          </a:xfrm>
          <a:prstGeom prst="rect">
            <a:avLst/>
          </a:prstGeom>
          <a:noFill/>
        </p:spPr>
        <p:txBody>
          <a:bodyPr wrap="square">
            <a:spAutoFit/>
          </a:bodyPr>
          <a:lstStyle/>
          <a:p>
            <a:pPr algn="l">
              <a:defRPr sz="1100" b="0">
                <a:solidFill>
                  <a:srgbClr val="555570"/>
                </a:solidFill>
                <a:latin typeface="Calibri"/>
              </a:defRPr>
            </a:pPr>
            <a:r>
              <a:t>λ₀ = base hazard  |  L₀ = initial leverage  |  β = 2 (quadratic)</a:t>
            </a:r>
          </a:p>
        </p:txBody>
      </p:sp>
      <p:sp>
        <p:nvSpPr>
          <p:cNvPr id="8" name="TextBox 7"/>
          <p:cNvSpPr txBox="1"/>
          <p:nvPr/>
        </p:nvSpPr>
        <p:spPr>
          <a:xfrm>
            <a:off x="457200" y="1691640"/>
            <a:ext cx="4572000" cy="1371600"/>
          </a:xfrm>
          <a:prstGeom prst="rect">
            <a:avLst/>
          </a:prstGeom>
          <a:noFill/>
        </p:spPr>
        <p:txBody>
          <a:bodyPr wrap="square">
            <a:spAutoFit/>
          </a:bodyPr>
          <a:lstStyle/>
          <a:p>
            <a:pPr>
              <a:spcAft>
                <a:spcPts val="800"/>
              </a:spcAft>
              <a:defRPr sz="1200">
                <a:solidFill>
                  <a:srgbClr val="2D2D3D"/>
                </a:solidFill>
                <a:latin typeface="Calibri"/>
              </a:defRPr>
            </a:pPr>
            <a:r>
              <a:t>L = N(t) / V(t): leverage = notional / asset value</a:t>
            </a:r>
          </a:p>
          <a:p>
            <a:pPr>
              <a:spcAft>
                <a:spcPts val="800"/>
              </a:spcAft>
              <a:defRPr sz="1200">
                <a:solidFill>
                  <a:srgbClr val="2D2D3D"/>
                </a:solidFill>
                <a:latin typeface="Calibri"/>
              </a:defRPr>
            </a:pPr>
            <a:r>
              <a:t>PIK accretes to notional → N(t) grows → L rises even if V is unchanged</a:t>
            </a:r>
          </a:p>
          <a:p>
            <a:pPr>
              <a:spcAft>
                <a:spcPts val="800"/>
              </a:spcAft>
              <a:defRPr sz="1200">
                <a:solidFill>
                  <a:srgbClr val="2D2D3D"/>
                </a:solidFill>
                <a:latin typeface="Calibri"/>
              </a:defRPr>
            </a:pPr>
            <a:r>
              <a:t>Quadratic (β=2): a 20% leverage increase raises hazard by 44%</a:t>
            </a:r>
          </a:p>
          <a:p>
            <a:pPr>
              <a:spcAft>
                <a:spcPts val="800"/>
              </a:spcAft>
              <a:defRPr sz="1200">
                <a:solidFill>
                  <a:srgbClr val="2D2D3D"/>
                </a:solidFill>
                <a:latin typeface="Calibri"/>
              </a:defRPr>
            </a:pPr>
            <a:r>
              <a:t>This is the first half of the feedback loop: PIK → higher λ → more defaults</a:t>
            </a:r>
          </a:p>
        </p:txBody>
      </p:sp>
      <p:sp>
        <p:nvSpPr>
          <p:cNvPr id="9" name="TextBox 8"/>
          <p:cNvSpPr txBox="1"/>
          <p:nvPr/>
        </p:nvSpPr>
        <p:spPr>
          <a:xfrm>
            <a:off x="5303520" y="1005840"/>
            <a:ext cx="3657600" cy="228600"/>
          </a:xfrm>
          <a:prstGeom prst="rect">
            <a:avLst/>
          </a:prstGeom>
          <a:noFill/>
        </p:spPr>
        <p:txBody>
          <a:bodyPr wrap="square">
            <a:spAutoFit/>
          </a:bodyPr>
          <a:lstStyle/>
          <a:p>
            <a:pPr algn="l">
              <a:defRPr sz="1200" b="1">
                <a:solidFill>
                  <a:srgbClr val="2C3E6B"/>
                </a:solidFill>
                <a:latin typeface="Calibri"/>
              </a:defRPr>
            </a:pPr>
            <a:r>
              <a:t>Hazard Rate vs Leverage</a:t>
            </a:r>
          </a:p>
        </p:txBody>
      </p:sp>
      <p:sp>
        <p:nvSpPr>
          <p:cNvPr id="10" name="Rectangle 9"/>
          <p:cNvSpPr/>
          <p:nvPr/>
        </p:nvSpPr>
        <p:spPr>
          <a:xfrm>
            <a:off x="5303520" y="3657600"/>
            <a:ext cx="3474720" cy="12700"/>
          </a:xfrm>
          <a:prstGeom prst="rect">
            <a:avLst/>
          </a:prstGeom>
          <a:solidFill>
            <a:srgbClr val="555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1371600"/>
            <a:ext cx="12700" cy="2286000"/>
          </a:xfrm>
          <a:prstGeom prst="rect">
            <a:avLst/>
          </a:prstGeom>
          <a:solidFill>
            <a:srgbClr val="555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0" y="3708400"/>
            <a:ext cx="3474720" cy="182880"/>
          </a:xfrm>
          <a:prstGeom prst="rect">
            <a:avLst/>
          </a:prstGeom>
          <a:noFill/>
        </p:spPr>
        <p:txBody>
          <a:bodyPr wrap="square">
            <a:spAutoFit/>
          </a:bodyPr>
          <a:lstStyle/>
          <a:p>
            <a:pPr algn="ctr">
              <a:defRPr sz="800" b="0">
                <a:solidFill>
                  <a:srgbClr val="555570"/>
                </a:solidFill>
                <a:latin typeface="Calibri"/>
              </a:defRPr>
            </a:pPr>
            <a:r>
              <a:t>Leverage (N/V) →</a:t>
            </a:r>
          </a:p>
        </p:txBody>
      </p:sp>
      <p:sp>
        <p:nvSpPr>
          <p:cNvPr id="13" name="TextBox 12"/>
          <p:cNvSpPr txBox="1"/>
          <p:nvPr/>
        </p:nvSpPr>
        <p:spPr>
          <a:xfrm>
            <a:off x="4754880" y="1371600"/>
            <a:ext cx="457200" cy="182880"/>
          </a:xfrm>
          <a:prstGeom prst="rect">
            <a:avLst/>
          </a:prstGeom>
          <a:noFill/>
        </p:spPr>
        <p:txBody>
          <a:bodyPr wrap="square">
            <a:spAutoFit/>
          </a:bodyPr>
          <a:lstStyle/>
          <a:p>
            <a:pPr algn="r">
              <a:defRPr sz="800" b="0">
                <a:solidFill>
                  <a:srgbClr val="555570"/>
                </a:solidFill>
                <a:latin typeface="Calibri"/>
              </a:defRPr>
            </a:pPr>
            <a:r>
              <a:t>λ →</a:t>
            </a:r>
          </a:p>
        </p:txBody>
      </p:sp>
      <p:sp>
        <p:nvSpPr>
          <p:cNvPr id="14" name="Rectangle 13"/>
          <p:cNvSpPr/>
          <p:nvPr/>
        </p:nvSpPr>
        <p:spPr>
          <a:xfrm>
            <a:off x="5303520" y="3616579"/>
            <a:ext cx="119817"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23337" y="3608528"/>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543155" y="3599755"/>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2973" y="3590261"/>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82791" y="3580046"/>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02609" y="3569110"/>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22427" y="3557453"/>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42245" y="3545074"/>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62063" y="3531975"/>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81881" y="3518155"/>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01699" y="3503614"/>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21517" y="3488351"/>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741335" y="3472368"/>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61153" y="3455663"/>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980971" y="3438238"/>
            <a:ext cx="119817"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100788" y="3420091"/>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220606" y="3401224"/>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40424" y="3381635"/>
            <a:ext cx="119818" cy="1958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60242" y="3361325"/>
            <a:ext cx="119818" cy="2031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80060" y="3340294"/>
            <a:ext cx="119818" cy="2103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699878" y="3318542"/>
            <a:ext cx="119818" cy="2175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819696" y="3296069"/>
            <a:ext cx="119818" cy="2247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39514" y="3272875"/>
            <a:ext cx="119818" cy="2319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59332" y="3248960"/>
            <a:ext cx="119818" cy="2391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179150" y="3224324"/>
            <a:ext cx="119818" cy="2463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98968" y="3198967"/>
            <a:ext cx="119818" cy="25357"/>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418786" y="3172889"/>
            <a:ext cx="119818" cy="2607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38604" y="3146089"/>
            <a:ext cx="119818" cy="268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658422" y="3118569"/>
            <a:ext cx="119818" cy="2752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29040" y="3042369"/>
            <a:ext cx="640080" cy="182880"/>
          </a:xfrm>
          <a:prstGeom prst="rect">
            <a:avLst/>
          </a:prstGeom>
          <a:noFill/>
        </p:spPr>
        <p:txBody>
          <a:bodyPr wrap="square">
            <a:spAutoFit/>
          </a:bodyPr>
          <a:lstStyle/>
          <a:p>
            <a:pPr algn="l">
              <a:defRPr sz="700" b="0">
                <a:solidFill>
                  <a:srgbClr val="5CB85C"/>
                </a:solidFill>
                <a:latin typeface="Calibri"/>
              </a:defRPr>
            </a:pPr>
            <a:r>
              <a:t>BB+</a:t>
            </a:r>
          </a:p>
        </p:txBody>
      </p:sp>
      <p:sp>
        <p:nvSpPr>
          <p:cNvPr id="44" name="Rectangle 43"/>
          <p:cNvSpPr/>
          <p:nvPr/>
        </p:nvSpPr>
        <p:spPr>
          <a:xfrm>
            <a:off x="5303520" y="3574757"/>
            <a:ext cx="119817"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23337" y="3558496"/>
            <a:ext cx="119818"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543155" y="3540779"/>
            <a:ext cx="119818"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662973" y="3521606"/>
            <a:ext cx="119818" cy="19173"/>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782791" y="3500976"/>
            <a:ext cx="119818" cy="2063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902609" y="3478890"/>
            <a:ext cx="119818" cy="22086"/>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022427" y="3455348"/>
            <a:ext cx="119818" cy="23542"/>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142245" y="3430350"/>
            <a:ext cx="119818" cy="24998"/>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262063" y="3403896"/>
            <a:ext cx="119818" cy="26454"/>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81881" y="3375985"/>
            <a:ext cx="119818" cy="27911"/>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501699" y="3346618"/>
            <a:ext cx="119818" cy="29367"/>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621517" y="3315795"/>
            <a:ext cx="119818" cy="30823"/>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741335" y="3283516"/>
            <a:ext cx="119818" cy="32279"/>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861153" y="3249780"/>
            <a:ext cx="119818" cy="33736"/>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980971" y="3214588"/>
            <a:ext cx="119817" cy="35192"/>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100788" y="3177940"/>
            <a:ext cx="119818" cy="36648"/>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220606" y="3139836"/>
            <a:ext cx="119818" cy="38104"/>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40424" y="3100276"/>
            <a:ext cx="119818" cy="3956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460242" y="3059259"/>
            <a:ext cx="119818" cy="41017"/>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580060" y="3016787"/>
            <a:ext cx="119818" cy="42472"/>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699878" y="2972858"/>
            <a:ext cx="119818" cy="43929"/>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819696" y="2927472"/>
            <a:ext cx="119818" cy="45386"/>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939514" y="2880631"/>
            <a:ext cx="119818" cy="46841"/>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059332" y="2832333"/>
            <a:ext cx="119818" cy="48298"/>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179150" y="2782580"/>
            <a:ext cx="119818" cy="49753"/>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298968" y="2731370"/>
            <a:ext cx="119818" cy="5121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418786" y="2678703"/>
            <a:ext cx="119818" cy="52667"/>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538604" y="2624581"/>
            <a:ext cx="119818" cy="54122"/>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658422" y="2569002"/>
            <a:ext cx="119818" cy="55579"/>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829040" y="2492802"/>
            <a:ext cx="640080" cy="182880"/>
          </a:xfrm>
          <a:prstGeom prst="rect">
            <a:avLst/>
          </a:prstGeom>
          <a:noFill/>
        </p:spPr>
        <p:txBody>
          <a:bodyPr wrap="square">
            <a:spAutoFit/>
          </a:bodyPr>
          <a:lstStyle/>
          <a:p>
            <a:pPr algn="l">
              <a:defRPr sz="700" b="0">
                <a:solidFill>
                  <a:srgbClr val="E88D3F"/>
                </a:solidFill>
                <a:latin typeface="Calibri"/>
              </a:defRPr>
            </a:pPr>
            <a:r>
              <a:t>B</a:t>
            </a:r>
          </a:p>
        </p:txBody>
      </p:sp>
      <p:sp>
        <p:nvSpPr>
          <p:cNvPr id="74" name="Rectangle 73"/>
          <p:cNvSpPr/>
          <p:nvPr/>
        </p:nvSpPr>
        <p:spPr>
          <a:xfrm>
            <a:off x="5303520" y="3518608"/>
            <a:ext cx="119817" cy="2483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423337" y="3491325"/>
            <a:ext cx="119818" cy="27283"/>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5543155" y="3461600"/>
            <a:ext cx="119818" cy="29725"/>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662973" y="3429431"/>
            <a:ext cx="119818" cy="3216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5782791" y="3394818"/>
            <a:ext cx="119818" cy="34613"/>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5902609" y="3357763"/>
            <a:ext cx="119818" cy="37055"/>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022427" y="3318264"/>
            <a:ext cx="119818" cy="3949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142245" y="3276323"/>
            <a:ext cx="119818" cy="41941"/>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262063" y="3231937"/>
            <a:ext cx="119818" cy="44386"/>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81881" y="3185109"/>
            <a:ext cx="119818" cy="46828"/>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501699" y="3135838"/>
            <a:ext cx="119818" cy="49271"/>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621517" y="3084123"/>
            <a:ext cx="119818" cy="51715"/>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741335" y="3029965"/>
            <a:ext cx="119818" cy="54158"/>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861153" y="2973364"/>
            <a:ext cx="119818" cy="56601"/>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980971" y="2914320"/>
            <a:ext cx="119817" cy="59044"/>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100788" y="2852832"/>
            <a:ext cx="119818" cy="61488"/>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220606" y="2788902"/>
            <a:ext cx="119818" cy="6393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340424" y="2722528"/>
            <a:ext cx="119818" cy="66374"/>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460242" y="2653710"/>
            <a:ext cx="119818" cy="68818"/>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580060" y="2582450"/>
            <a:ext cx="119818" cy="7126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7699878" y="2508746"/>
            <a:ext cx="119818" cy="73704"/>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819696" y="2432600"/>
            <a:ext cx="119818" cy="76146"/>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7939514" y="2354010"/>
            <a:ext cx="119818" cy="7859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8059332" y="2272976"/>
            <a:ext cx="119818" cy="81034"/>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8179150" y="2189500"/>
            <a:ext cx="119818" cy="83476"/>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298968" y="2103580"/>
            <a:ext cx="119818" cy="8592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8418786" y="2015217"/>
            <a:ext cx="119818" cy="88363"/>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538604" y="1924411"/>
            <a:ext cx="119818" cy="90806"/>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658422" y="1831162"/>
            <a:ext cx="119818" cy="9324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829040" y="1754962"/>
            <a:ext cx="640080" cy="182880"/>
          </a:xfrm>
          <a:prstGeom prst="rect">
            <a:avLst/>
          </a:prstGeom>
          <a:noFill/>
        </p:spPr>
        <p:txBody>
          <a:bodyPr wrap="square">
            <a:spAutoFit/>
          </a:bodyPr>
          <a:lstStyle/>
          <a:p>
            <a:pPr algn="l">
              <a:defRPr sz="700" b="0">
                <a:solidFill>
                  <a:srgbClr val="E04F4F"/>
                </a:solidFill>
                <a:latin typeface="Calibri"/>
              </a:defRPr>
            </a:pPr>
            <a:r>
              <a:t>CCC</a:t>
            </a:r>
          </a:p>
        </p:txBody>
      </p:sp>
      <p:sp>
        <p:nvSpPr>
          <p:cNvPr id="104" name="TextBox 103"/>
          <p:cNvSpPr txBox="1"/>
          <p:nvPr/>
        </p:nvSpPr>
        <p:spPr>
          <a:xfrm>
            <a:off x="5303520" y="3794760"/>
            <a:ext cx="3657600" cy="182880"/>
          </a:xfrm>
          <a:prstGeom prst="rect">
            <a:avLst/>
          </a:prstGeom>
          <a:noFill/>
        </p:spPr>
        <p:txBody>
          <a:bodyPr wrap="square">
            <a:spAutoFit/>
          </a:bodyPr>
          <a:lstStyle/>
          <a:p>
            <a:pPr algn="l">
              <a:defRPr sz="800" b="0">
                <a:solidFill>
                  <a:srgbClr val="555570"/>
                </a:solidFill>
                <a:latin typeface="Calibri"/>
              </a:defRPr>
            </a:pPr>
            <a:r>
              <a:t>Arrows show where PIK pushes each issuer along its curve</a:t>
            </a:r>
          </a:p>
        </p:txBody>
      </p:sp>
      <p:sp>
        <p:nvSpPr>
          <p:cNvPr id="105" name="TextBox 104"/>
          <p:cNvSpPr txBox="1"/>
          <p:nvPr/>
        </p:nvSpPr>
        <p:spPr>
          <a:xfrm>
            <a:off x="457200" y="3931920"/>
            <a:ext cx="4572000" cy="228600"/>
          </a:xfrm>
          <a:prstGeom prst="rect">
            <a:avLst/>
          </a:prstGeom>
          <a:noFill/>
        </p:spPr>
        <p:txBody>
          <a:bodyPr wrap="square">
            <a:spAutoFit/>
          </a:bodyPr>
          <a:lstStyle/>
          <a:p>
            <a:pPr algn="l">
              <a:defRPr sz="1200" b="1">
                <a:solidFill>
                  <a:srgbClr val="2C3E6B"/>
                </a:solidFill>
                <a:latin typeface="Calibri"/>
              </a:defRPr>
            </a:pPr>
            <a:r>
              <a:t>PIK Impact: 5-Year Notional &amp; Hazard Growth</a:t>
            </a:r>
          </a:p>
        </p:txBody>
      </p:sp>
      <p:graphicFrame>
        <p:nvGraphicFramePr>
          <p:cNvPr id="106" name="Table 105"/>
          <p:cNvGraphicFramePr>
            <a:graphicFrameLocks noGrp="1"/>
          </p:cNvGraphicFramePr>
          <p:nvPr/>
        </p:nvGraphicFramePr>
        <p:xfrm>
          <a:off x="274320" y="4251960"/>
          <a:ext cx="5303520" cy="1920239"/>
        </p:xfrm>
        <a:graphic>
          <a:graphicData uri="http://schemas.openxmlformats.org/drawingml/2006/table">
            <a:tbl>
              <a:tblPr firstRow="1" bandRow="1">
                <a:tableStyleId>{5C22544A-7EE6-4342-B048-85BDC9FD1C3A}</a:tableStyleId>
              </a:tblPr>
              <a:tblGrid>
                <a:gridCol w="822960"/>
                <a:gridCol w="548640"/>
                <a:gridCol w="548640"/>
                <a:gridCol w="914400"/>
                <a:gridCol w="731520"/>
                <a:gridCol w="1005840"/>
                <a:gridCol w="731520"/>
              </a:tblGrid>
              <a:tr h="320039">
                <a:tc>
                  <a:txBody>
                    <a:bodyPr/>
                    <a:lstStyle/>
                    <a:p>
                      <a:pPr algn="ctr">
                        <a:defRPr sz="900" b="1">
                          <a:solidFill>
                            <a:srgbClr val="FFFFFF"/>
                          </a:solidFill>
                          <a:latin typeface="Calibri"/>
                        </a:defRPr>
                      </a:pPr>
                      <a:r>
                        <a:t>Issuer</a:t>
                      </a:r>
                    </a:p>
                  </a:txBody>
                  <a:tcPr>
                    <a:solidFill>
                      <a:srgbClr val="2C3E6B"/>
                    </a:solidFill>
                  </a:tcPr>
                </a:tc>
                <a:tc>
                  <a:txBody>
                    <a:bodyPr/>
                    <a:lstStyle/>
                    <a:p>
                      <a:pPr algn="ctr">
                        <a:defRPr sz="900" b="1">
                          <a:solidFill>
                            <a:srgbClr val="FFFFFF"/>
                          </a:solidFill>
                          <a:latin typeface="Calibri"/>
                        </a:defRPr>
                      </a:pPr>
                      <a:r>
                        <a:t>LTV₀</a:t>
                      </a:r>
                    </a:p>
                  </a:txBody>
                  <a:tcPr>
                    <a:solidFill>
                      <a:srgbClr val="2C3E6B"/>
                    </a:solidFill>
                  </a:tcPr>
                </a:tc>
                <a:tc>
                  <a:txBody>
                    <a:bodyPr/>
                    <a:lstStyle/>
                    <a:p>
                      <a:pPr algn="ctr">
                        <a:defRPr sz="900" b="1">
                          <a:solidFill>
                            <a:srgbClr val="FFFFFF"/>
                          </a:solidFill>
                          <a:latin typeface="Calibri"/>
                        </a:defRPr>
                      </a:pPr>
                      <a:r>
                        <a:t>L₀</a:t>
                      </a:r>
                    </a:p>
                  </a:txBody>
                  <a:tcPr>
                    <a:solidFill>
                      <a:srgbClr val="2C3E6B"/>
                    </a:solidFill>
                  </a:tcPr>
                </a:tc>
                <a:tc>
                  <a:txBody>
                    <a:bodyPr/>
                    <a:lstStyle/>
                    <a:p>
                      <a:pPr algn="ctr">
                        <a:defRPr sz="900" b="1">
                          <a:solidFill>
                            <a:srgbClr val="FFFFFF"/>
                          </a:solidFill>
                          <a:latin typeface="Calibri"/>
                        </a:defRPr>
                      </a:pPr>
                      <a:r>
                        <a:t>L at 5Y (PIK)</a:t>
                      </a:r>
                    </a:p>
                  </a:txBody>
                  <a:tcPr>
                    <a:solidFill>
                      <a:srgbClr val="2C3E6B"/>
                    </a:solidFill>
                  </a:tcPr>
                </a:tc>
                <a:tc>
                  <a:txBody>
                    <a:bodyPr/>
                    <a:lstStyle/>
                    <a:p>
                      <a:pPr algn="ctr">
                        <a:defRPr sz="900" b="1">
                          <a:solidFill>
                            <a:srgbClr val="FFFFFF"/>
                          </a:solidFill>
                          <a:latin typeface="Calibri"/>
                        </a:defRPr>
                      </a:pPr>
                      <a:r>
                        <a:t>λ₀</a:t>
                      </a:r>
                    </a:p>
                  </a:txBody>
                  <a:tcPr>
                    <a:solidFill>
                      <a:srgbClr val="2C3E6B"/>
                    </a:solidFill>
                  </a:tcPr>
                </a:tc>
                <a:tc>
                  <a:txBody>
                    <a:bodyPr/>
                    <a:lstStyle/>
                    <a:p>
                      <a:pPr algn="ctr">
                        <a:defRPr sz="900" b="1">
                          <a:solidFill>
                            <a:srgbClr val="FFFFFF"/>
                          </a:solidFill>
                          <a:latin typeface="Calibri"/>
                        </a:defRPr>
                      </a:pPr>
                      <a:r>
                        <a:t>λ at 5Y (PIK)</a:t>
                      </a:r>
                    </a:p>
                  </a:txBody>
                  <a:tcPr>
                    <a:solidFill>
                      <a:srgbClr val="2C3E6B"/>
                    </a:solidFill>
                  </a:tcPr>
                </a:tc>
                <a:tc>
                  <a:txBody>
                    <a:bodyPr/>
                    <a:lstStyle/>
                    <a:p>
                      <a:pPr algn="ctr">
                        <a:defRPr sz="900" b="1">
                          <a:solidFill>
                            <a:srgbClr val="FFFFFF"/>
                          </a:solidFill>
                          <a:latin typeface="Calibri"/>
                        </a:defRPr>
                      </a:pPr>
                      <a:r>
                        <a:t>Increase</a:t>
                      </a:r>
                    </a:p>
                  </a:txBody>
                  <a:tcPr>
                    <a:solidFill>
                      <a:srgbClr val="2C3E6B"/>
                    </a:solidFill>
                  </a:tcPr>
                </a:tc>
              </a:tr>
              <a:tr h="320039">
                <a:tc>
                  <a:txBody>
                    <a:bodyPr/>
                    <a:lstStyle/>
                    <a:p>
                      <a:pPr algn="l">
                        <a:defRPr sz="900">
                          <a:solidFill>
                            <a:srgbClr val="2D2D3D"/>
                          </a:solidFill>
                          <a:latin typeface="Calibri"/>
                        </a:defRPr>
                      </a:pPr>
                      <a:r>
                        <a:t>BB+</a:t>
                      </a:r>
                    </a:p>
                  </a:txBody>
                  <a:tcPr>
                    <a:solidFill>
                      <a:srgbClr val="FFFFFF"/>
                    </a:solidFill>
                  </a:tcPr>
                </a:tc>
                <a:tc>
                  <a:txBody>
                    <a:bodyPr/>
                    <a:lstStyle/>
                    <a:p>
                      <a:pPr algn="r">
                        <a:defRPr sz="900">
                          <a:solidFill>
                            <a:srgbClr val="2D2D3D"/>
                          </a:solidFill>
                          <a:latin typeface="Calibri"/>
                        </a:defRPr>
                      </a:pPr>
                      <a:r>
                        <a:t>50%</a:t>
                      </a:r>
                    </a:p>
                  </a:txBody>
                  <a:tcPr>
                    <a:solidFill>
                      <a:srgbClr val="FFFFFF"/>
                    </a:solidFill>
                  </a:tcPr>
                </a:tc>
                <a:tc>
                  <a:txBody>
                    <a:bodyPr/>
                    <a:lstStyle/>
                    <a:p>
                      <a:pPr algn="r">
                        <a:defRPr sz="900">
                          <a:solidFill>
                            <a:srgbClr val="2D2D3D"/>
                          </a:solidFill>
                          <a:latin typeface="Calibri"/>
                        </a:defRPr>
                      </a:pPr>
                      <a:r>
                        <a:t>0.50</a:t>
                      </a:r>
                    </a:p>
                  </a:txBody>
                  <a:tcPr>
                    <a:solidFill>
                      <a:srgbClr val="FFFFFF"/>
                    </a:solidFill>
                  </a:tcPr>
                </a:tc>
                <a:tc>
                  <a:txBody>
                    <a:bodyPr/>
                    <a:lstStyle/>
                    <a:p>
                      <a:pPr algn="r">
                        <a:defRPr sz="900">
                          <a:solidFill>
                            <a:srgbClr val="2D2D3D"/>
                          </a:solidFill>
                          <a:latin typeface="Calibri"/>
                        </a:defRPr>
                      </a:pPr>
                      <a:r>
                        <a:t>0.76</a:t>
                      </a:r>
                    </a:p>
                  </a:txBody>
                  <a:tcPr>
                    <a:solidFill>
                      <a:srgbClr val="FFFFFF"/>
                    </a:solidFill>
                  </a:tcPr>
                </a:tc>
                <a:tc>
                  <a:txBody>
                    <a:bodyPr/>
                    <a:lstStyle/>
                    <a:p>
                      <a:pPr algn="r">
                        <a:defRPr sz="900">
                          <a:solidFill>
                            <a:srgbClr val="2D2D3D"/>
                          </a:solidFill>
                          <a:latin typeface="Calibri"/>
                        </a:defRPr>
                      </a:pPr>
                      <a:r>
                        <a:t>143bp</a:t>
                      </a:r>
                    </a:p>
                  </a:txBody>
                  <a:tcPr>
                    <a:solidFill>
                      <a:srgbClr val="FFFFFF"/>
                    </a:solidFill>
                  </a:tcPr>
                </a:tc>
                <a:tc>
                  <a:txBody>
                    <a:bodyPr/>
                    <a:lstStyle/>
                    <a:p>
                      <a:pPr algn="r">
                        <a:defRPr sz="900">
                          <a:solidFill>
                            <a:srgbClr val="2D2D3D"/>
                          </a:solidFill>
                          <a:latin typeface="Calibri"/>
                        </a:defRPr>
                      </a:pPr>
                      <a:r>
                        <a:t>329bp</a:t>
                      </a:r>
                    </a:p>
                  </a:txBody>
                  <a:tcPr>
                    <a:solidFill>
                      <a:srgbClr val="FFFFFF"/>
                    </a:solidFill>
                  </a:tcPr>
                </a:tc>
                <a:tc>
                  <a:txBody>
                    <a:bodyPr/>
                    <a:lstStyle/>
                    <a:p>
                      <a:pPr algn="r">
                        <a:defRPr sz="900">
                          <a:solidFill>
                            <a:srgbClr val="2D2D3D"/>
                          </a:solidFill>
                          <a:latin typeface="Calibri"/>
                        </a:defRPr>
                      </a:pPr>
                      <a:r>
                        <a:t>2.3×</a:t>
                      </a:r>
                    </a:p>
                  </a:txBody>
                  <a:tcPr>
                    <a:solidFill>
                      <a:srgbClr val="FFFFFF"/>
                    </a:solidFill>
                  </a:tcPr>
                </a:tc>
              </a:tr>
              <a:tr h="320039">
                <a:tc>
                  <a:txBody>
                    <a:bodyPr/>
                    <a:lstStyle/>
                    <a:p>
                      <a:pPr algn="l">
                        <a:defRPr sz="900">
                          <a:solidFill>
                            <a:srgbClr val="2D2D3D"/>
                          </a:solidFill>
                          <a:latin typeface="Calibri"/>
                        </a:defRPr>
                      </a:pPr>
                      <a:r>
                        <a:t>BB−</a:t>
                      </a:r>
                    </a:p>
                  </a:txBody>
                  <a:tcPr>
                    <a:solidFill>
                      <a:srgbClr val="E8EBF5"/>
                    </a:solidFill>
                  </a:tcPr>
                </a:tc>
                <a:tc>
                  <a:txBody>
                    <a:bodyPr/>
                    <a:lstStyle/>
                    <a:p>
                      <a:pPr algn="r">
                        <a:defRPr sz="900">
                          <a:solidFill>
                            <a:srgbClr val="2D2D3D"/>
                          </a:solidFill>
                          <a:latin typeface="Calibri"/>
                        </a:defRPr>
                      </a:pPr>
                      <a:r>
                        <a:t>61%</a:t>
                      </a:r>
                    </a:p>
                  </a:txBody>
                  <a:tcPr>
                    <a:solidFill>
                      <a:srgbClr val="E8EBF5"/>
                    </a:solidFill>
                  </a:tcPr>
                </a:tc>
                <a:tc>
                  <a:txBody>
                    <a:bodyPr/>
                    <a:lstStyle/>
                    <a:p>
                      <a:pPr algn="r">
                        <a:defRPr sz="900">
                          <a:solidFill>
                            <a:srgbClr val="2D2D3D"/>
                          </a:solidFill>
                          <a:latin typeface="Calibri"/>
                        </a:defRPr>
                      </a:pPr>
                      <a:r>
                        <a:t>0.61</a:t>
                      </a:r>
                    </a:p>
                  </a:txBody>
                  <a:tcPr>
                    <a:solidFill>
                      <a:srgbClr val="E8EBF5"/>
                    </a:solidFill>
                  </a:tcPr>
                </a:tc>
                <a:tc>
                  <a:txBody>
                    <a:bodyPr/>
                    <a:lstStyle/>
                    <a:p>
                      <a:pPr algn="r">
                        <a:defRPr sz="900">
                          <a:solidFill>
                            <a:srgbClr val="2D2D3D"/>
                          </a:solidFill>
                          <a:latin typeface="Calibri"/>
                        </a:defRPr>
                      </a:pPr>
                      <a:r>
                        <a:t>0.92</a:t>
                      </a:r>
                    </a:p>
                  </a:txBody>
                  <a:tcPr>
                    <a:solidFill>
                      <a:srgbClr val="E8EBF5"/>
                    </a:solidFill>
                  </a:tcPr>
                </a:tc>
                <a:tc>
                  <a:txBody>
                    <a:bodyPr/>
                    <a:lstStyle/>
                    <a:p>
                      <a:pPr algn="r">
                        <a:defRPr sz="900">
                          <a:solidFill>
                            <a:srgbClr val="2D2D3D"/>
                          </a:solidFill>
                          <a:latin typeface="Calibri"/>
                        </a:defRPr>
                      </a:pPr>
                      <a:r>
                        <a:t>334bp</a:t>
                      </a:r>
                    </a:p>
                  </a:txBody>
                  <a:tcPr>
                    <a:solidFill>
                      <a:srgbClr val="E8EBF5"/>
                    </a:solidFill>
                  </a:tcPr>
                </a:tc>
                <a:tc>
                  <a:txBody>
                    <a:bodyPr/>
                    <a:lstStyle/>
                    <a:p>
                      <a:pPr algn="r">
                        <a:defRPr sz="900">
                          <a:solidFill>
                            <a:srgbClr val="2D2D3D"/>
                          </a:solidFill>
                          <a:latin typeface="Calibri"/>
                        </a:defRPr>
                      </a:pPr>
                      <a:r>
                        <a:t>769bp</a:t>
                      </a:r>
                    </a:p>
                  </a:txBody>
                  <a:tcPr>
                    <a:solidFill>
                      <a:srgbClr val="E8EBF5"/>
                    </a:solidFill>
                  </a:tcPr>
                </a:tc>
                <a:tc>
                  <a:txBody>
                    <a:bodyPr/>
                    <a:lstStyle/>
                    <a:p>
                      <a:pPr algn="r">
                        <a:defRPr sz="900">
                          <a:solidFill>
                            <a:srgbClr val="2D2D3D"/>
                          </a:solidFill>
                          <a:latin typeface="Calibri"/>
                        </a:defRPr>
                      </a:pPr>
                      <a:r>
                        <a:t>2.3×</a:t>
                      </a:r>
                    </a:p>
                  </a:txBody>
                  <a:tcPr>
                    <a:solidFill>
                      <a:srgbClr val="E8EBF5"/>
                    </a:solidFill>
                  </a:tcPr>
                </a:tc>
              </a:tr>
              <a:tr h="320039">
                <a:tc>
                  <a:txBody>
                    <a:bodyPr/>
                    <a:lstStyle/>
                    <a:p>
                      <a:pPr algn="l">
                        <a:defRPr sz="900">
                          <a:solidFill>
                            <a:srgbClr val="2D2D3D"/>
                          </a:solidFill>
                          <a:latin typeface="Calibri"/>
                        </a:defRPr>
                      </a:pPr>
                      <a:r>
                        <a:t>B</a:t>
                      </a:r>
                    </a:p>
                  </a:txBody>
                  <a:tcPr>
                    <a:solidFill>
                      <a:srgbClr val="FFFFFF"/>
                    </a:solidFill>
                  </a:tcPr>
                </a:tc>
                <a:tc>
                  <a:txBody>
                    <a:bodyPr/>
                    <a:lstStyle/>
                    <a:p>
                      <a:pPr algn="r">
                        <a:defRPr sz="900">
                          <a:solidFill>
                            <a:srgbClr val="2D2D3D"/>
                          </a:solidFill>
                          <a:latin typeface="Calibri"/>
                        </a:defRPr>
                      </a:pPr>
                      <a:r>
                        <a:t>71%</a:t>
                      </a:r>
                    </a:p>
                  </a:txBody>
                  <a:tcPr>
                    <a:solidFill>
                      <a:srgbClr val="FFFFFF"/>
                    </a:solidFill>
                  </a:tcPr>
                </a:tc>
                <a:tc>
                  <a:txBody>
                    <a:bodyPr/>
                    <a:lstStyle/>
                    <a:p>
                      <a:pPr algn="r">
                        <a:defRPr sz="900">
                          <a:solidFill>
                            <a:srgbClr val="2D2D3D"/>
                          </a:solidFill>
                          <a:latin typeface="Calibri"/>
                        </a:defRPr>
                      </a:pPr>
                      <a:r>
                        <a:t>0.71</a:t>
                      </a:r>
                    </a:p>
                  </a:txBody>
                  <a:tcPr>
                    <a:solidFill>
                      <a:srgbClr val="FFFFFF"/>
                    </a:solidFill>
                  </a:tcPr>
                </a:tc>
                <a:tc>
                  <a:txBody>
                    <a:bodyPr/>
                    <a:lstStyle/>
                    <a:p>
                      <a:pPr algn="r">
                        <a:defRPr sz="900">
                          <a:solidFill>
                            <a:srgbClr val="2D2D3D"/>
                          </a:solidFill>
                          <a:latin typeface="Calibri"/>
                        </a:defRPr>
                      </a:pPr>
                      <a:r>
                        <a:t>1.08</a:t>
                      </a:r>
                    </a:p>
                  </a:txBody>
                  <a:tcPr>
                    <a:solidFill>
                      <a:srgbClr val="FFFFFF"/>
                    </a:solidFill>
                  </a:tcPr>
                </a:tc>
                <a:tc>
                  <a:txBody>
                    <a:bodyPr/>
                    <a:lstStyle/>
                    <a:p>
                      <a:pPr algn="r">
                        <a:defRPr sz="900">
                          <a:solidFill>
                            <a:srgbClr val="2D2D3D"/>
                          </a:solidFill>
                          <a:latin typeface="Calibri"/>
                        </a:defRPr>
                      </a:pPr>
                      <a:r>
                        <a:t>591bp</a:t>
                      </a:r>
                    </a:p>
                  </a:txBody>
                  <a:tcPr>
                    <a:solidFill>
                      <a:srgbClr val="FFFFFF"/>
                    </a:solidFill>
                  </a:tcPr>
                </a:tc>
                <a:tc>
                  <a:txBody>
                    <a:bodyPr/>
                    <a:lstStyle/>
                    <a:p>
                      <a:pPr algn="r">
                        <a:defRPr sz="900">
                          <a:solidFill>
                            <a:srgbClr val="2D2D3D"/>
                          </a:solidFill>
                          <a:latin typeface="Calibri"/>
                        </a:defRPr>
                      </a:pPr>
                      <a:r>
                        <a:t>1358bp</a:t>
                      </a:r>
                    </a:p>
                  </a:txBody>
                  <a:tcPr>
                    <a:solidFill>
                      <a:srgbClr val="FFFFFF"/>
                    </a:solidFill>
                  </a:tcPr>
                </a:tc>
                <a:tc>
                  <a:txBody>
                    <a:bodyPr/>
                    <a:lstStyle/>
                    <a:p>
                      <a:pPr algn="r">
                        <a:defRPr sz="900">
                          <a:solidFill>
                            <a:srgbClr val="2D2D3D"/>
                          </a:solidFill>
                          <a:latin typeface="Calibri"/>
                        </a:defRPr>
                      </a:pPr>
                      <a:r>
                        <a:t>2.3×</a:t>
                      </a:r>
                    </a:p>
                  </a:txBody>
                  <a:tcPr>
                    <a:solidFill>
                      <a:srgbClr val="FFFFFF"/>
                    </a:solidFill>
                  </a:tcPr>
                </a:tc>
              </a:tr>
              <a:tr h="320039">
                <a:tc>
                  <a:txBody>
                    <a:bodyPr/>
                    <a:lstStyle/>
                    <a:p>
                      <a:pPr algn="l">
                        <a:defRPr sz="900">
                          <a:solidFill>
                            <a:srgbClr val="2D2D3D"/>
                          </a:solidFill>
                          <a:latin typeface="Calibri"/>
                        </a:defRPr>
                      </a:pPr>
                      <a:r>
                        <a:t>B−</a:t>
                      </a:r>
                    </a:p>
                  </a:txBody>
                  <a:tcPr>
                    <a:solidFill>
                      <a:srgbClr val="E8EBF5"/>
                    </a:solidFill>
                  </a:tcPr>
                </a:tc>
                <a:tc>
                  <a:txBody>
                    <a:bodyPr/>
                    <a:lstStyle/>
                    <a:p>
                      <a:pPr algn="r">
                        <a:defRPr sz="900">
                          <a:solidFill>
                            <a:srgbClr val="2D2D3D"/>
                          </a:solidFill>
                          <a:latin typeface="Calibri"/>
                        </a:defRPr>
                      </a:pPr>
                      <a:r>
                        <a:t>80%</a:t>
                      </a:r>
                    </a:p>
                  </a:txBody>
                  <a:tcPr>
                    <a:solidFill>
                      <a:srgbClr val="E8EBF5"/>
                    </a:solidFill>
                  </a:tcPr>
                </a:tc>
                <a:tc>
                  <a:txBody>
                    <a:bodyPr/>
                    <a:lstStyle/>
                    <a:p>
                      <a:pPr algn="r">
                        <a:defRPr sz="900">
                          <a:solidFill>
                            <a:srgbClr val="2D2D3D"/>
                          </a:solidFill>
                          <a:latin typeface="Calibri"/>
                        </a:defRPr>
                      </a:pPr>
                      <a:r>
                        <a:t>0.80</a:t>
                      </a:r>
                    </a:p>
                  </a:txBody>
                  <a:tcPr>
                    <a:solidFill>
                      <a:srgbClr val="E8EBF5"/>
                    </a:solidFill>
                  </a:tcPr>
                </a:tc>
                <a:tc>
                  <a:txBody>
                    <a:bodyPr/>
                    <a:lstStyle/>
                    <a:p>
                      <a:pPr algn="r">
                        <a:defRPr sz="900">
                          <a:solidFill>
                            <a:srgbClr val="2D2D3D"/>
                          </a:solidFill>
                          <a:latin typeface="Calibri"/>
                        </a:defRPr>
                      </a:pPr>
                      <a:r>
                        <a:t>1.21</a:t>
                      </a:r>
                    </a:p>
                  </a:txBody>
                  <a:tcPr>
                    <a:solidFill>
                      <a:srgbClr val="E8EBF5"/>
                    </a:solidFill>
                  </a:tcPr>
                </a:tc>
                <a:tc>
                  <a:txBody>
                    <a:bodyPr/>
                    <a:lstStyle/>
                    <a:p>
                      <a:pPr algn="r">
                        <a:defRPr sz="900">
                          <a:solidFill>
                            <a:srgbClr val="2D2D3D"/>
                          </a:solidFill>
                          <a:latin typeface="Calibri"/>
                        </a:defRPr>
                      </a:pPr>
                      <a:r>
                        <a:t>911bp</a:t>
                      </a:r>
                    </a:p>
                  </a:txBody>
                  <a:tcPr>
                    <a:solidFill>
                      <a:srgbClr val="E8EBF5"/>
                    </a:solidFill>
                  </a:tcPr>
                </a:tc>
                <a:tc>
                  <a:txBody>
                    <a:bodyPr/>
                    <a:lstStyle/>
                    <a:p>
                      <a:pPr algn="r">
                        <a:defRPr sz="900">
                          <a:solidFill>
                            <a:srgbClr val="2D2D3D"/>
                          </a:solidFill>
                          <a:latin typeface="Calibri"/>
                        </a:defRPr>
                      </a:pPr>
                      <a:r>
                        <a:t>2094bp</a:t>
                      </a:r>
                    </a:p>
                  </a:txBody>
                  <a:tcPr>
                    <a:solidFill>
                      <a:srgbClr val="E8EBF5"/>
                    </a:solidFill>
                  </a:tcPr>
                </a:tc>
                <a:tc>
                  <a:txBody>
                    <a:bodyPr/>
                    <a:lstStyle/>
                    <a:p>
                      <a:pPr algn="r">
                        <a:defRPr sz="900">
                          <a:solidFill>
                            <a:srgbClr val="2D2D3D"/>
                          </a:solidFill>
                          <a:latin typeface="Calibri"/>
                        </a:defRPr>
                      </a:pPr>
                      <a:r>
                        <a:t>2.3×</a:t>
                      </a:r>
                    </a:p>
                  </a:txBody>
                  <a:tcPr>
                    <a:solidFill>
                      <a:srgbClr val="E8EBF5"/>
                    </a:solidFill>
                  </a:tcPr>
                </a:tc>
              </a:tr>
              <a:tr h="320044">
                <a:tc>
                  <a:txBody>
                    <a:bodyPr/>
                    <a:lstStyle/>
                    <a:p>
                      <a:pPr algn="l">
                        <a:defRPr sz="900">
                          <a:solidFill>
                            <a:srgbClr val="2D2D3D"/>
                          </a:solidFill>
                          <a:latin typeface="Calibri"/>
                        </a:defRPr>
                      </a:pPr>
                      <a:r>
                        <a:t>CCC</a:t>
                      </a:r>
                    </a:p>
                  </a:txBody>
                  <a:tcPr>
                    <a:solidFill>
                      <a:srgbClr val="FFFFFF"/>
                    </a:solidFill>
                  </a:tcPr>
                </a:tc>
                <a:tc>
                  <a:txBody>
                    <a:bodyPr/>
                    <a:lstStyle/>
                    <a:p>
                      <a:pPr algn="r">
                        <a:defRPr sz="900">
                          <a:solidFill>
                            <a:srgbClr val="2D2D3D"/>
                          </a:solidFill>
                          <a:latin typeface="Calibri"/>
                        </a:defRPr>
                      </a:pPr>
                      <a:r>
                        <a:t>87%</a:t>
                      </a:r>
                    </a:p>
                  </a:txBody>
                  <a:tcPr>
                    <a:solidFill>
                      <a:srgbClr val="FFFFFF"/>
                    </a:solidFill>
                  </a:tcPr>
                </a:tc>
                <a:tc>
                  <a:txBody>
                    <a:bodyPr/>
                    <a:lstStyle/>
                    <a:p>
                      <a:pPr algn="r">
                        <a:defRPr sz="900">
                          <a:solidFill>
                            <a:srgbClr val="2D2D3D"/>
                          </a:solidFill>
                          <a:latin typeface="Calibri"/>
                        </a:defRPr>
                      </a:pPr>
                      <a:r>
                        <a:t>0.87</a:t>
                      </a:r>
                    </a:p>
                  </a:txBody>
                  <a:tcPr>
                    <a:solidFill>
                      <a:srgbClr val="FFFFFF"/>
                    </a:solidFill>
                  </a:tcPr>
                </a:tc>
                <a:tc>
                  <a:txBody>
                    <a:bodyPr/>
                    <a:lstStyle/>
                    <a:p>
                      <a:pPr algn="r">
                        <a:defRPr sz="900">
                          <a:solidFill>
                            <a:srgbClr val="2D2D3D"/>
                          </a:solidFill>
                          <a:latin typeface="Calibri"/>
                        </a:defRPr>
                      </a:pPr>
                      <a:r>
                        <a:t>1.32</a:t>
                      </a:r>
                    </a:p>
                  </a:txBody>
                  <a:tcPr>
                    <a:solidFill>
                      <a:srgbClr val="FFFFFF"/>
                    </a:solidFill>
                  </a:tcPr>
                </a:tc>
                <a:tc>
                  <a:txBody>
                    <a:bodyPr/>
                    <a:lstStyle/>
                    <a:p>
                      <a:pPr algn="r">
                        <a:defRPr sz="900">
                          <a:solidFill>
                            <a:srgbClr val="2D2D3D"/>
                          </a:solidFill>
                          <a:latin typeface="Calibri"/>
                        </a:defRPr>
                      </a:pPr>
                      <a:r>
                        <a:t>1468bp</a:t>
                      </a:r>
                    </a:p>
                  </a:txBody>
                  <a:tcPr>
                    <a:solidFill>
                      <a:srgbClr val="FFFFFF"/>
                    </a:solidFill>
                  </a:tcPr>
                </a:tc>
                <a:tc>
                  <a:txBody>
                    <a:bodyPr/>
                    <a:lstStyle/>
                    <a:p>
                      <a:pPr algn="r">
                        <a:defRPr sz="900">
                          <a:solidFill>
                            <a:srgbClr val="2D2D3D"/>
                          </a:solidFill>
                          <a:latin typeface="Calibri"/>
                        </a:defRPr>
                      </a:pPr>
                      <a:r>
                        <a:t>3376bp</a:t>
                      </a:r>
                    </a:p>
                  </a:txBody>
                  <a:tcPr>
                    <a:solidFill>
                      <a:srgbClr val="FFFFFF"/>
                    </a:solidFill>
                  </a:tcPr>
                </a:tc>
                <a:tc>
                  <a:txBody>
                    <a:bodyPr/>
                    <a:lstStyle/>
                    <a:p>
                      <a:pPr algn="r">
                        <a:defRPr sz="900">
                          <a:solidFill>
                            <a:srgbClr val="2D2D3D"/>
                          </a:solidFill>
                          <a:latin typeface="Calibri"/>
                        </a:defRPr>
                      </a:pPr>
                      <a:r>
                        <a:t>2.3×</a:t>
                      </a:r>
                    </a:p>
                  </a:txBody>
                  <a:tcPr>
                    <a:solidFill>
                      <a:srgbClr val="FFFFFF"/>
                    </a:solidFill>
                  </a:tcPr>
                </a:tc>
              </a:tr>
            </a:tbl>
          </a:graphicData>
        </a:graphic>
      </p:graphicFrame>
      <p:sp>
        <p:nvSpPr>
          <p:cNvPr id="107" name="Rounded Rectangle 106"/>
          <p:cNvSpPr/>
          <p:nvPr/>
        </p:nvSpPr>
        <p:spPr>
          <a:xfrm>
            <a:off x="914400" y="5943600"/>
            <a:ext cx="7315200" cy="502920"/>
          </a:xfrm>
          <a:prstGeom prst="round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100" b="1">
                <a:solidFill>
                  <a:srgbClr val="FFFFFF"/>
                </a:solidFill>
                <a:latin typeface="Calibri"/>
              </a:defRPr>
            </a:pPr>
            <a:r>
              <a:t>For CCC (87% LTV): PIK pushes leverage from 0.87 to 1.32, increasing λ by 2.3×. This is before considering asset value changes.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9</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Dynamic Recovery: R(N) = max(floor, R₀ × N₀/N)</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PIK dilutes recovery per dollar of claim</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10/16</a:t>
            </a:r>
          </a:p>
        </p:txBody>
      </p:sp>
      <p:sp>
        <p:nvSpPr>
          <p:cNvPr id="6" name="TextBox 5"/>
          <p:cNvSpPr txBox="1"/>
          <p:nvPr/>
        </p:nvSpPr>
        <p:spPr>
          <a:xfrm>
            <a:off x="457200" y="1005840"/>
            <a:ext cx="5029200" cy="320040"/>
          </a:xfrm>
          <a:prstGeom prst="rect">
            <a:avLst/>
          </a:prstGeom>
          <a:noFill/>
        </p:spPr>
        <p:txBody>
          <a:bodyPr wrap="square">
            <a:spAutoFit/>
          </a:bodyPr>
          <a:lstStyle/>
          <a:p>
            <a:pPr algn="l">
              <a:defRPr sz="1600" b="1">
                <a:solidFill>
                  <a:srgbClr val="2C3E6B"/>
                </a:solidFill>
                <a:latin typeface="Calibri"/>
              </a:defRPr>
            </a:pPr>
            <a:r>
              <a:t>R(N) = max(floor,  R₀ × N₀ / N)</a:t>
            </a:r>
          </a:p>
        </p:txBody>
      </p:sp>
      <p:sp>
        <p:nvSpPr>
          <p:cNvPr id="7" name="TextBox 6"/>
          <p:cNvSpPr txBox="1"/>
          <p:nvPr/>
        </p:nvSpPr>
        <p:spPr>
          <a:xfrm>
            <a:off x="457200" y="1325880"/>
            <a:ext cx="5029200" cy="228600"/>
          </a:xfrm>
          <a:prstGeom prst="rect">
            <a:avLst/>
          </a:prstGeom>
          <a:noFill/>
        </p:spPr>
        <p:txBody>
          <a:bodyPr wrap="square">
            <a:spAutoFit/>
          </a:bodyPr>
          <a:lstStyle/>
          <a:p>
            <a:pPr algn="l">
              <a:defRPr sz="1100" b="0">
                <a:solidFill>
                  <a:srgbClr val="555570"/>
                </a:solidFill>
                <a:latin typeface="Calibri"/>
              </a:defRPr>
            </a:pPr>
            <a:r>
              <a:t>R₀ = base recovery  |  N₀ = 100 (par)  |  floor = 10%</a:t>
            </a:r>
          </a:p>
        </p:txBody>
      </p:sp>
      <p:sp>
        <p:nvSpPr>
          <p:cNvPr id="8" name="TextBox 7"/>
          <p:cNvSpPr txBox="1"/>
          <p:nvPr/>
        </p:nvSpPr>
        <p:spPr>
          <a:xfrm>
            <a:off x="457200" y="1691640"/>
            <a:ext cx="4572000" cy="1371600"/>
          </a:xfrm>
          <a:prstGeom prst="rect">
            <a:avLst/>
          </a:prstGeom>
          <a:noFill/>
        </p:spPr>
        <p:txBody>
          <a:bodyPr wrap="square">
            <a:spAutoFit/>
          </a:bodyPr>
          <a:lstStyle/>
          <a:p>
            <a:pPr>
              <a:spcAft>
                <a:spcPts val="800"/>
              </a:spcAft>
              <a:defRPr sz="1200">
                <a:solidFill>
                  <a:srgbClr val="2D2D3D"/>
                </a:solidFill>
                <a:latin typeface="Calibri"/>
              </a:defRPr>
            </a:pPr>
            <a:r>
              <a:t>On default, the recovery pool (assets) is fixed but the claim (notional) has grown via PIK accrual</a:t>
            </a:r>
          </a:p>
          <a:p>
            <a:pPr>
              <a:spcAft>
                <a:spcPts val="800"/>
              </a:spcAft>
              <a:defRPr sz="1200">
                <a:solidFill>
                  <a:srgbClr val="2D2D3D"/>
                </a:solidFill>
                <a:latin typeface="Calibri"/>
              </a:defRPr>
            </a:pPr>
            <a:r>
              <a:t>Each dollar of claim gets proportionally less. If notional doubles, recovery per dollar halves</a:t>
            </a:r>
          </a:p>
          <a:p>
            <a:pPr>
              <a:spcAft>
                <a:spcPts val="800"/>
              </a:spcAft>
              <a:defRPr sz="1200">
                <a:solidFill>
                  <a:srgbClr val="2D2D3D"/>
                </a:solidFill>
                <a:latin typeface="Calibri"/>
              </a:defRPr>
            </a:pPr>
            <a:r>
              <a:t>The floor (10%) prevents recovery from going to zero — there is always some residual asset value</a:t>
            </a:r>
          </a:p>
          <a:p>
            <a:pPr>
              <a:spcAft>
                <a:spcPts val="800"/>
              </a:spcAft>
              <a:defRPr sz="1200">
                <a:solidFill>
                  <a:srgbClr val="2D2D3D"/>
                </a:solidFill>
                <a:latin typeface="Calibri"/>
              </a:defRPr>
            </a:pPr>
            <a:r>
              <a:t>This is the second half of the feedback loop: PIK → lower R → higher loss-given-default</a:t>
            </a:r>
          </a:p>
        </p:txBody>
      </p:sp>
      <p:sp>
        <p:nvSpPr>
          <p:cNvPr id="9" name="TextBox 8"/>
          <p:cNvSpPr txBox="1"/>
          <p:nvPr/>
        </p:nvSpPr>
        <p:spPr>
          <a:xfrm>
            <a:off x="5303520" y="1005840"/>
            <a:ext cx="3657600" cy="228600"/>
          </a:xfrm>
          <a:prstGeom prst="rect">
            <a:avLst/>
          </a:prstGeom>
          <a:noFill/>
        </p:spPr>
        <p:txBody>
          <a:bodyPr wrap="square">
            <a:spAutoFit/>
          </a:bodyPr>
          <a:lstStyle/>
          <a:p>
            <a:pPr algn="l">
              <a:defRPr sz="1200" b="1">
                <a:solidFill>
                  <a:srgbClr val="2C3E6B"/>
                </a:solidFill>
                <a:latin typeface="Calibri"/>
              </a:defRPr>
            </a:pPr>
            <a:r>
              <a:t>Recovery Rate vs Accreted Notional</a:t>
            </a:r>
          </a:p>
        </p:txBody>
      </p:sp>
      <p:sp>
        <p:nvSpPr>
          <p:cNvPr id="10" name="Rectangle 9"/>
          <p:cNvSpPr/>
          <p:nvPr/>
        </p:nvSpPr>
        <p:spPr>
          <a:xfrm>
            <a:off x="5303520" y="3474720"/>
            <a:ext cx="3474720" cy="12700"/>
          </a:xfrm>
          <a:prstGeom prst="rect">
            <a:avLst/>
          </a:prstGeom>
          <a:solidFill>
            <a:srgbClr val="555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1371600"/>
            <a:ext cx="12700" cy="2103120"/>
          </a:xfrm>
          <a:prstGeom prst="rect">
            <a:avLst/>
          </a:prstGeom>
          <a:solidFill>
            <a:srgbClr val="555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0" y="3525520"/>
            <a:ext cx="3474720" cy="182880"/>
          </a:xfrm>
          <a:prstGeom prst="rect">
            <a:avLst/>
          </a:prstGeom>
          <a:noFill/>
        </p:spPr>
        <p:txBody>
          <a:bodyPr wrap="square">
            <a:spAutoFit/>
          </a:bodyPr>
          <a:lstStyle/>
          <a:p>
            <a:pPr algn="ctr">
              <a:defRPr sz="800" b="0">
                <a:solidFill>
                  <a:srgbClr val="555570"/>
                </a:solidFill>
                <a:latin typeface="Calibri"/>
              </a:defRPr>
            </a:pPr>
            <a:r>
              <a:t>Notional (100 → 200) →</a:t>
            </a:r>
          </a:p>
        </p:txBody>
      </p:sp>
      <p:sp>
        <p:nvSpPr>
          <p:cNvPr id="13" name="TextBox 12"/>
          <p:cNvSpPr txBox="1"/>
          <p:nvPr/>
        </p:nvSpPr>
        <p:spPr>
          <a:xfrm>
            <a:off x="4754880" y="1371600"/>
            <a:ext cx="457200" cy="182880"/>
          </a:xfrm>
          <a:prstGeom prst="rect">
            <a:avLst/>
          </a:prstGeom>
          <a:noFill/>
        </p:spPr>
        <p:txBody>
          <a:bodyPr wrap="square">
            <a:spAutoFit/>
          </a:bodyPr>
          <a:lstStyle/>
          <a:p>
            <a:pPr algn="r">
              <a:defRPr sz="800" b="0">
                <a:solidFill>
                  <a:srgbClr val="555570"/>
                </a:solidFill>
                <a:latin typeface="Calibri"/>
              </a:defRPr>
            </a:pPr>
            <a:r>
              <a:t>R(N) →</a:t>
            </a:r>
          </a:p>
        </p:txBody>
      </p:sp>
      <p:sp>
        <p:nvSpPr>
          <p:cNvPr id="14" name="Rectangle 13"/>
          <p:cNvSpPr/>
          <p:nvPr/>
        </p:nvSpPr>
        <p:spPr>
          <a:xfrm>
            <a:off x="5303520" y="3054096"/>
            <a:ext cx="3474720" cy="1270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29040" y="2977896"/>
            <a:ext cx="548640" cy="182880"/>
          </a:xfrm>
          <a:prstGeom prst="rect">
            <a:avLst/>
          </a:prstGeom>
          <a:noFill/>
        </p:spPr>
        <p:txBody>
          <a:bodyPr wrap="square">
            <a:spAutoFit/>
          </a:bodyPr>
          <a:lstStyle/>
          <a:p>
            <a:pPr algn="l">
              <a:defRPr sz="700" b="0">
                <a:solidFill>
                  <a:srgbClr val="E04F4F"/>
                </a:solidFill>
                <a:latin typeface="Calibri"/>
              </a:defRPr>
            </a:pPr>
            <a:r>
              <a:t>floor=10%</a:t>
            </a:r>
          </a:p>
        </p:txBody>
      </p:sp>
      <p:sp>
        <p:nvSpPr>
          <p:cNvPr id="16" name="Rectangle 15"/>
          <p:cNvSpPr/>
          <p:nvPr/>
        </p:nvSpPr>
        <p:spPr>
          <a:xfrm>
            <a:off x="5303520" y="1581912"/>
            <a:ext cx="119817" cy="6309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23337" y="1645005"/>
            <a:ext cx="119818" cy="5902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43155" y="1704028"/>
            <a:ext cx="119818" cy="5533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2973" y="1759362"/>
            <a:ext cx="119818" cy="5198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82791" y="1811343"/>
            <a:ext cx="119818" cy="4892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02609" y="1860266"/>
            <a:ext cx="119818" cy="46127"/>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22427" y="1906393"/>
            <a:ext cx="119818" cy="4356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2245" y="1949958"/>
            <a:ext cx="119818" cy="4120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2063" y="1991167"/>
            <a:ext cx="119818" cy="3904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81881" y="2030208"/>
            <a:ext cx="119818" cy="3703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01699" y="2067247"/>
            <a:ext cx="119818" cy="35187"/>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621517" y="2102434"/>
            <a:ext cx="119818" cy="3347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741335" y="2135904"/>
            <a:ext cx="119818" cy="31877"/>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61153" y="2167781"/>
            <a:ext cx="119818" cy="30394"/>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980971" y="2198175"/>
            <a:ext cx="119817" cy="2901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00788" y="2227187"/>
            <a:ext cx="119818" cy="27723"/>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20606" y="2254910"/>
            <a:ext cx="119818" cy="2651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40424" y="2281428"/>
            <a:ext cx="119818" cy="25389"/>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60242" y="2306817"/>
            <a:ext cx="119818" cy="24331"/>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580060" y="2331148"/>
            <a:ext cx="119818" cy="2333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99878" y="2354486"/>
            <a:ext cx="119818" cy="22405"/>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819696" y="2376891"/>
            <a:ext cx="119818" cy="21526"/>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39514" y="2398417"/>
            <a:ext cx="119818" cy="20698"/>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59332" y="2419115"/>
            <a:ext cx="119818" cy="19917"/>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179150" y="2439032"/>
            <a:ext cx="119818" cy="1918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98968" y="2458212"/>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418786" y="2476693"/>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538604" y="2494515"/>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658422" y="2511712"/>
            <a:ext cx="119818" cy="1905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29040" y="2452116"/>
            <a:ext cx="822960" cy="182880"/>
          </a:xfrm>
          <a:prstGeom prst="rect">
            <a:avLst/>
          </a:prstGeom>
          <a:noFill/>
        </p:spPr>
        <p:txBody>
          <a:bodyPr wrap="square">
            <a:spAutoFit/>
          </a:bodyPr>
          <a:lstStyle/>
          <a:p>
            <a:pPr algn="l">
              <a:defRPr sz="700" b="0">
                <a:solidFill>
                  <a:srgbClr val="5CB85C"/>
                </a:solidFill>
                <a:latin typeface="Calibri"/>
              </a:defRPr>
            </a:pPr>
            <a:r>
              <a:t>BB+ (R₀=45%)</a:t>
            </a:r>
          </a:p>
        </p:txBody>
      </p:sp>
      <p:sp>
        <p:nvSpPr>
          <p:cNvPr id="46" name="Rectangle 45"/>
          <p:cNvSpPr/>
          <p:nvPr/>
        </p:nvSpPr>
        <p:spPr>
          <a:xfrm>
            <a:off x="5303520" y="2002536"/>
            <a:ext cx="119817" cy="49072"/>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23337" y="2051608"/>
            <a:ext cx="119818" cy="45907"/>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543155" y="2097515"/>
            <a:ext cx="119818" cy="43038"/>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662973" y="2140553"/>
            <a:ext cx="119818" cy="40429"/>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82791" y="2180982"/>
            <a:ext cx="119818" cy="38051"/>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902609" y="2219033"/>
            <a:ext cx="119818" cy="35877"/>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022427" y="2254910"/>
            <a:ext cx="119818" cy="33884"/>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42245" y="2288794"/>
            <a:ext cx="119818" cy="32052"/>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262063" y="2320846"/>
            <a:ext cx="119818" cy="30365"/>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381881" y="2351211"/>
            <a:ext cx="119818" cy="28808"/>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501699" y="2380019"/>
            <a:ext cx="119818" cy="27367"/>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621517" y="2407386"/>
            <a:ext cx="119818" cy="26033"/>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741335" y="2433419"/>
            <a:ext cx="119818" cy="24793"/>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861153" y="2458212"/>
            <a:ext cx="119818" cy="23639"/>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980971" y="2481851"/>
            <a:ext cx="119817" cy="22565"/>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00788" y="2504416"/>
            <a:ext cx="119818" cy="21563"/>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220606" y="2525979"/>
            <a:ext cx="119818" cy="20625"/>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340424" y="2546604"/>
            <a:ext cx="119818" cy="19747"/>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460242" y="2566351"/>
            <a:ext cx="119818"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580060" y="2585275"/>
            <a:ext cx="119818"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699878" y="2603427"/>
            <a:ext cx="119818"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819696" y="2620853"/>
            <a:ext cx="119818"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939514" y="2637595"/>
            <a:ext cx="119818"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059332" y="2653694"/>
            <a:ext cx="119818"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179150" y="2669185"/>
            <a:ext cx="119818"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298968" y="2684102"/>
            <a:ext cx="119818"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418786" y="2698477"/>
            <a:ext cx="119818"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538604" y="2712339"/>
            <a:ext cx="119818"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658422" y="2725714"/>
            <a:ext cx="119818" cy="1905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829040" y="2662428"/>
            <a:ext cx="822960" cy="182880"/>
          </a:xfrm>
          <a:prstGeom prst="rect">
            <a:avLst/>
          </a:prstGeom>
          <a:noFill/>
        </p:spPr>
        <p:txBody>
          <a:bodyPr wrap="square">
            <a:spAutoFit/>
          </a:bodyPr>
          <a:lstStyle/>
          <a:p>
            <a:pPr algn="l">
              <a:defRPr sz="700" b="0">
                <a:solidFill>
                  <a:srgbClr val="E88D3F"/>
                </a:solidFill>
                <a:latin typeface="Calibri"/>
              </a:defRPr>
            </a:pPr>
            <a:r>
              <a:t>B (R₀=35%)</a:t>
            </a:r>
          </a:p>
        </p:txBody>
      </p:sp>
      <p:sp>
        <p:nvSpPr>
          <p:cNvPr id="76" name="Rectangle 75"/>
          <p:cNvSpPr/>
          <p:nvPr/>
        </p:nvSpPr>
        <p:spPr>
          <a:xfrm>
            <a:off x="5303520" y="2423160"/>
            <a:ext cx="119817" cy="35052"/>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423337" y="2458212"/>
            <a:ext cx="119818" cy="3279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5543155" y="2491002"/>
            <a:ext cx="119818" cy="30741"/>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5662973" y="2521743"/>
            <a:ext cx="119818" cy="28878"/>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782791" y="2550621"/>
            <a:ext cx="119818" cy="2718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902609" y="2577801"/>
            <a:ext cx="119818" cy="25626"/>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022427" y="2603427"/>
            <a:ext cx="119818" cy="24203"/>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142245" y="2627630"/>
            <a:ext cx="119818" cy="22894"/>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262063" y="2650524"/>
            <a:ext cx="119818" cy="2168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381881" y="2672213"/>
            <a:ext cx="119818" cy="20577"/>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501699" y="2692790"/>
            <a:ext cx="119818" cy="1954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621517" y="2712339"/>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741335" y="2730933"/>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861153" y="2748642"/>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980971" y="2765528"/>
            <a:ext cx="119817"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100788" y="2781646"/>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220606" y="2797048"/>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340424" y="2811780"/>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7460242" y="2825885"/>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580060" y="2839402"/>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7699878" y="2852368"/>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7819696" y="2864815"/>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7939514" y="2876774"/>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059332" y="2888273"/>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8179150" y="2899338"/>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298968" y="2909993"/>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418786" y="2920261"/>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538604" y="2930162"/>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8658422" y="2939715"/>
            <a:ext cx="119818" cy="190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829040" y="2872740"/>
            <a:ext cx="822960" cy="182880"/>
          </a:xfrm>
          <a:prstGeom prst="rect">
            <a:avLst/>
          </a:prstGeom>
          <a:noFill/>
        </p:spPr>
        <p:txBody>
          <a:bodyPr wrap="square">
            <a:spAutoFit/>
          </a:bodyPr>
          <a:lstStyle/>
          <a:p>
            <a:pPr algn="l">
              <a:defRPr sz="700" b="0">
                <a:solidFill>
                  <a:srgbClr val="E04F4F"/>
                </a:solidFill>
                <a:latin typeface="Calibri"/>
              </a:defRPr>
            </a:pPr>
            <a:r>
              <a:t>CCC (R₀=25%)</a:t>
            </a:r>
          </a:p>
        </p:txBody>
      </p:sp>
      <p:sp>
        <p:nvSpPr>
          <p:cNvPr id="106" name="TextBox 105"/>
          <p:cNvSpPr txBox="1"/>
          <p:nvPr/>
        </p:nvSpPr>
        <p:spPr>
          <a:xfrm>
            <a:off x="457200" y="3840480"/>
            <a:ext cx="8229600" cy="228600"/>
          </a:xfrm>
          <a:prstGeom prst="rect">
            <a:avLst/>
          </a:prstGeom>
          <a:noFill/>
        </p:spPr>
        <p:txBody>
          <a:bodyPr wrap="square">
            <a:spAutoFit/>
          </a:bodyPr>
          <a:lstStyle/>
          <a:p>
            <a:pPr algn="l">
              <a:defRPr sz="1200" b="1">
                <a:solidFill>
                  <a:srgbClr val="2C3E6B"/>
                </a:solidFill>
                <a:latin typeface="Calibri"/>
              </a:defRPr>
            </a:pPr>
            <a:r>
              <a:t>Combined Feedback: Hazard × Recovery Impact at Maturity</a:t>
            </a:r>
          </a:p>
        </p:txBody>
      </p:sp>
      <p:graphicFrame>
        <p:nvGraphicFramePr>
          <p:cNvPr id="107" name="Table 106"/>
          <p:cNvGraphicFramePr>
            <a:graphicFrameLocks noGrp="1"/>
          </p:cNvGraphicFramePr>
          <p:nvPr/>
        </p:nvGraphicFramePr>
        <p:xfrm>
          <a:off x="274320" y="4160520"/>
          <a:ext cx="5577840" cy="1920239"/>
        </p:xfrm>
        <a:graphic>
          <a:graphicData uri="http://schemas.openxmlformats.org/drawingml/2006/table">
            <a:tbl>
              <a:tblPr firstRow="1" bandRow="1">
                <a:tableStyleId>{5C22544A-7EE6-4342-B048-85BDC9FD1C3A}</a:tableStyleId>
              </a:tblPr>
              <a:tblGrid>
                <a:gridCol w="822960"/>
                <a:gridCol w="457200"/>
                <a:gridCol w="457200"/>
                <a:gridCol w="822960"/>
                <a:gridCol w="548640"/>
                <a:gridCol w="640080"/>
                <a:gridCol w="914400"/>
                <a:gridCol w="914400"/>
              </a:tblGrid>
              <a:tr h="320039">
                <a:tc>
                  <a:txBody>
                    <a:bodyPr/>
                    <a:lstStyle/>
                    <a:p>
                      <a:pPr algn="ctr">
                        <a:defRPr sz="900" b="1">
                          <a:solidFill>
                            <a:srgbClr val="FFFFFF"/>
                          </a:solidFill>
                          <a:latin typeface="Calibri"/>
                        </a:defRPr>
                      </a:pPr>
                      <a:r>
                        <a:t>Issuer</a:t>
                      </a:r>
                    </a:p>
                  </a:txBody>
                  <a:tcPr>
                    <a:solidFill>
                      <a:srgbClr val="2C3E6B"/>
                    </a:solidFill>
                  </a:tcPr>
                </a:tc>
                <a:tc>
                  <a:txBody>
                    <a:bodyPr/>
                    <a:lstStyle/>
                    <a:p>
                      <a:pPr algn="ctr">
                        <a:defRPr sz="900" b="1">
                          <a:solidFill>
                            <a:srgbClr val="FFFFFF"/>
                          </a:solidFill>
                          <a:latin typeface="Calibri"/>
                        </a:defRPr>
                      </a:pPr>
                      <a:r>
                        <a:t>LTV</a:t>
                      </a:r>
                    </a:p>
                  </a:txBody>
                  <a:tcPr>
                    <a:solidFill>
                      <a:srgbClr val="2C3E6B"/>
                    </a:solidFill>
                  </a:tcPr>
                </a:tc>
                <a:tc>
                  <a:txBody>
                    <a:bodyPr/>
                    <a:lstStyle/>
                    <a:p>
                      <a:pPr algn="ctr">
                        <a:defRPr sz="900" b="1">
                          <a:solidFill>
                            <a:srgbClr val="FFFFFF"/>
                          </a:solidFill>
                          <a:latin typeface="Calibri"/>
                        </a:defRPr>
                      </a:pPr>
                      <a:r>
                        <a:t>R₀</a:t>
                      </a:r>
                    </a:p>
                  </a:txBody>
                  <a:tcPr>
                    <a:solidFill>
                      <a:srgbClr val="2C3E6B"/>
                    </a:solidFill>
                  </a:tcPr>
                </a:tc>
                <a:tc>
                  <a:txBody>
                    <a:bodyPr/>
                    <a:lstStyle/>
                    <a:p>
                      <a:pPr algn="ctr">
                        <a:defRPr sz="900" b="1">
                          <a:solidFill>
                            <a:srgbClr val="FFFFFF"/>
                          </a:solidFill>
                          <a:latin typeface="Calibri"/>
                        </a:defRPr>
                      </a:pPr>
                      <a:r>
                        <a:t>R at 5Y (PIK)</a:t>
                      </a:r>
                    </a:p>
                  </a:txBody>
                  <a:tcPr>
                    <a:solidFill>
                      <a:srgbClr val="2C3E6B"/>
                    </a:solidFill>
                  </a:tcPr>
                </a:tc>
                <a:tc>
                  <a:txBody>
                    <a:bodyPr/>
                    <a:lstStyle/>
                    <a:p>
                      <a:pPr algn="ctr">
                        <a:defRPr sz="900" b="1">
                          <a:solidFill>
                            <a:srgbClr val="FFFFFF"/>
                          </a:solidFill>
                          <a:latin typeface="Calibri"/>
                        </a:defRPr>
                      </a:pPr>
                      <a:r>
                        <a:t>ΔR</a:t>
                      </a:r>
                    </a:p>
                  </a:txBody>
                  <a:tcPr>
                    <a:solidFill>
                      <a:srgbClr val="2C3E6B"/>
                    </a:solidFill>
                  </a:tcPr>
                </a:tc>
                <a:tc>
                  <a:txBody>
                    <a:bodyPr/>
                    <a:lstStyle/>
                    <a:p>
                      <a:pPr algn="ctr">
                        <a:defRPr sz="900" b="1">
                          <a:solidFill>
                            <a:srgbClr val="FFFFFF"/>
                          </a:solidFill>
                          <a:latin typeface="Calibri"/>
                        </a:defRPr>
                      </a:pPr>
                      <a:r>
                        <a:t>λ₀</a:t>
                      </a:r>
                    </a:p>
                  </a:txBody>
                  <a:tcPr>
                    <a:solidFill>
                      <a:srgbClr val="2C3E6B"/>
                    </a:solidFill>
                  </a:tcPr>
                </a:tc>
                <a:tc>
                  <a:txBody>
                    <a:bodyPr/>
                    <a:lstStyle/>
                    <a:p>
                      <a:pPr algn="ctr">
                        <a:defRPr sz="900" b="1">
                          <a:solidFill>
                            <a:srgbClr val="FFFFFF"/>
                          </a:solidFill>
                          <a:latin typeface="Calibri"/>
                        </a:defRPr>
                      </a:pPr>
                      <a:r>
                        <a:t>λ at 5Y (PIK)</a:t>
                      </a:r>
                    </a:p>
                  </a:txBody>
                  <a:tcPr>
                    <a:solidFill>
                      <a:srgbClr val="2C3E6B"/>
                    </a:solidFill>
                  </a:tcPr>
                </a:tc>
                <a:tc>
                  <a:txBody>
                    <a:bodyPr/>
                    <a:lstStyle/>
                    <a:p>
                      <a:pPr algn="ctr">
                        <a:defRPr sz="900" b="1">
                          <a:solidFill>
                            <a:srgbClr val="FFFFFF"/>
                          </a:solidFill>
                          <a:latin typeface="Calibri"/>
                        </a:defRPr>
                      </a:pPr>
                      <a:r>
                        <a:t>Net LGD increase</a:t>
                      </a:r>
                    </a:p>
                  </a:txBody>
                  <a:tcPr>
                    <a:solidFill>
                      <a:srgbClr val="2C3E6B"/>
                    </a:solidFill>
                  </a:tcPr>
                </a:tc>
              </a:tr>
              <a:tr h="320039">
                <a:tc>
                  <a:txBody>
                    <a:bodyPr/>
                    <a:lstStyle/>
                    <a:p>
                      <a:pPr algn="l">
                        <a:defRPr sz="900">
                          <a:solidFill>
                            <a:srgbClr val="2D2D3D"/>
                          </a:solidFill>
                          <a:latin typeface="Calibri"/>
                        </a:defRPr>
                      </a:pPr>
                      <a:r>
                        <a:t>BB+</a:t>
                      </a:r>
                    </a:p>
                  </a:txBody>
                  <a:tcPr>
                    <a:solidFill>
                      <a:srgbClr val="FFFFFF"/>
                    </a:solidFill>
                  </a:tcPr>
                </a:tc>
                <a:tc>
                  <a:txBody>
                    <a:bodyPr/>
                    <a:lstStyle/>
                    <a:p>
                      <a:pPr algn="r">
                        <a:defRPr sz="900">
                          <a:solidFill>
                            <a:srgbClr val="2D2D3D"/>
                          </a:solidFill>
                          <a:latin typeface="Calibri"/>
                        </a:defRPr>
                      </a:pPr>
                      <a:r>
                        <a:t>50%</a:t>
                      </a:r>
                    </a:p>
                  </a:txBody>
                  <a:tcPr>
                    <a:solidFill>
                      <a:srgbClr val="FFFFFF"/>
                    </a:solidFill>
                  </a:tcPr>
                </a:tc>
                <a:tc>
                  <a:txBody>
                    <a:bodyPr/>
                    <a:lstStyle/>
                    <a:p>
                      <a:pPr algn="r">
                        <a:defRPr sz="900">
                          <a:solidFill>
                            <a:srgbClr val="2D2D3D"/>
                          </a:solidFill>
                          <a:latin typeface="Calibri"/>
                        </a:defRPr>
                      </a:pPr>
                      <a:r>
                        <a:t>45%</a:t>
                      </a:r>
                    </a:p>
                  </a:txBody>
                  <a:tcPr>
                    <a:solidFill>
                      <a:srgbClr val="FFFFFF"/>
                    </a:solidFill>
                  </a:tcPr>
                </a:tc>
                <a:tc>
                  <a:txBody>
                    <a:bodyPr/>
                    <a:lstStyle/>
                    <a:p>
                      <a:pPr algn="r">
                        <a:defRPr sz="900">
                          <a:solidFill>
                            <a:srgbClr val="2D2D3D"/>
                          </a:solidFill>
                          <a:latin typeface="Calibri"/>
                        </a:defRPr>
                      </a:pPr>
                      <a:r>
                        <a:t>30%</a:t>
                      </a:r>
                    </a:p>
                  </a:txBody>
                  <a:tcPr>
                    <a:solidFill>
                      <a:srgbClr val="FFFFFF"/>
                    </a:solidFill>
                  </a:tcPr>
                </a:tc>
                <a:tc>
                  <a:txBody>
                    <a:bodyPr/>
                    <a:lstStyle/>
                    <a:p>
                      <a:pPr algn="r">
                        <a:defRPr sz="900">
                          <a:solidFill>
                            <a:srgbClr val="2D2D3D"/>
                          </a:solidFill>
                          <a:latin typeface="Calibri"/>
                        </a:defRPr>
                      </a:pPr>
                      <a:r>
                        <a:t>-15pp</a:t>
                      </a:r>
                    </a:p>
                  </a:txBody>
                  <a:tcPr>
                    <a:solidFill>
                      <a:srgbClr val="FFFFFF"/>
                    </a:solidFill>
                  </a:tcPr>
                </a:tc>
                <a:tc>
                  <a:txBody>
                    <a:bodyPr/>
                    <a:lstStyle/>
                    <a:p>
                      <a:pPr algn="r">
                        <a:defRPr sz="900">
                          <a:solidFill>
                            <a:srgbClr val="2D2D3D"/>
                          </a:solidFill>
                          <a:latin typeface="Calibri"/>
                        </a:defRPr>
                      </a:pPr>
                      <a:r>
                        <a:t>143bp</a:t>
                      </a:r>
                    </a:p>
                  </a:txBody>
                  <a:tcPr>
                    <a:solidFill>
                      <a:srgbClr val="FFFFFF"/>
                    </a:solidFill>
                  </a:tcPr>
                </a:tc>
                <a:tc>
                  <a:txBody>
                    <a:bodyPr/>
                    <a:lstStyle/>
                    <a:p>
                      <a:pPr algn="r">
                        <a:defRPr sz="900">
                          <a:solidFill>
                            <a:srgbClr val="2D2D3D"/>
                          </a:solidFill>
                          <a:latin typeface="Calibri"/>
                        </a:defRPr>
                      </a:pPr>
                      <a:r>
                        <a:t>329bp</a:t>
                      </a:r>
                    </a:p>
                  </a:txBody>
                  <a:tcPr>
                    <a:solidFill>
                      <a:srgbClr val="FFFFFF"/>
                    </a:solidFill>
                  </a:tcPr>
                </a:tc>
                <a:tc>
                  <a:txBody>
                    <a:bodyPr/>
                    <a:lstStyle/>
                    <a:p>
                      <a:pPr algn="r">
                        <a:defRPr sz="900">
                          <a:solidFill>
                            <a:srgbClr val="2D2D3D"/>
                          </a:solidFill>
                          <a:latin typeface="Calibri"/>
                        </a:defRPr>
                      </a:pPr>
                      <a:r>
                        <a:t>2.9×</a:t>
                      </a:r>
                    </a:p>
                  </a:txBody>
                  <a:tcPr>
                    <a:solidFill>
                      <a:srgbClr val="FFFFFF"/>
                    </a:solidFill>
                  </a:tcPr>
                </a:tc>
              </a:tr>
              <a:tr h="320039">
                <a:tc>
                  <a:txBody>
                    <a:bodyPr/>
                    <a:lstStyle/>
                    <a:p>
                      <a:pPr algn="l">
                        <a:defRPr sz="900">
                          <a:solidFill>
                            <a:srgbClr val="2D2D3D"/>
                          </a:solidFill>
                          <a:latin typeface="Calibri"/>
                        </a:defRPr>
                      </a:pPr>
                      <a:r>
                        <a:t>BB−</a:t>
                      </a:r>
                    </a:p>
                  </a:txBody>
                  <a:tcPr>
                    <a:solidFill>
                      <a:srgbClr val="E8EBF5"/>
                    </a:solidFill>
                  </a:tcPr>
                </a:tc>
                <a:tc>
                  <a:txBody>
                    <a:bodyPr/>
                    <a:lstStyle/>
                    <a:p>
                      <a:pPr algn="r">
                        <a:defRPr sz="900">
                          <a:solidFill>
                            <a:srgbClr val="2D2D3D"/>
                          </a:solidFill>
                          <a:latin typeface="Calibri"/>
                        </a:defRPr>
                      </a:pPr>
                      <a:r>
                        <a:t>61%</a:t>
                      </a:r>
                    </a:p>
                  </a:txBody>
                  <a:tcPr>
                    <a:solidFill>
                      <a:srgbClr val="E8EBF5"/>
                    </a:solidFill>
                  </a:tcPr>
                </a:tc>
                <a:tc>
                  <a:txBody>
                    <a:bodyPr/>
                    <a:lstStyle/>
                    <a:p>
                      <a:pPr algn="r">
                        <a:defRPr sz="900">
                          <a:solidFill>
                            <a:srgbClr val="2D2D3D"/>
                          </a:solidFill>
                          <a:latin typeface="Calibri"/>
                        </a:defRPr>
                      </a:pPr>
                      <a:r>
                        <a:t>40%</a:t>
                      </a:r>
                    </a:p>
                  </a:txBody>
                  <a:tcPr>
                    <a:solidFill>
                      <a:srgbClr val="E8EBF5"/>
                    </a:solidFill>
                  </a:tcPr>
                </a:tc>
                <a:tc>
                  <a:txBody>
                    <a:bodyPr/>
                    <a:lstStyle/>
                    <a:p>
                      <a:pPr algn="r">
                        <a:defRPr sz="900">
                          <a:solidFill>
                            <a:srgbClr val="2D2D3D"/>
                          </a:solidFill>
                          <a:latin typeface="Calibri"/>
                        </a:defRPr>
                      </a:pPr>
                      <a:r>
                        <a:t>26%</a:t>
                      </a:r>
                    </a:p>
                  </a:txBody>
                  <a:tcPr>
                    <a:solidFill>
                      <a:srgbClr val="E8EBF5"/>
                    </a:solidFill>
                  </a:tcPr>
                </a:tc>
                <a:tc>
                  <a:txBody>
                    <a:bodyPr/>
                    <a:lstStyle/>
                    <a:p>
                      <a:pPr algn="r">
                        <a:defRPr sz="900">
                          <a:solidFill>
                            <a:srgbClr val="2D2D3D"/>
                          </a:solidFill>
                          <a:latin typeface="Calibri"/>
                        </a:defRPr>
                      </a:pPr>
                      <a:r>
                        <a:t>-14pp</a:t>
                      </a:r>
                    </a:p>
                  </a:txBody>
                  <a:tcPr>
                    <a:solidFill>
                      <a:srgbClr val="E8EBF5"/>
                    </a:solidFill>
                  </a:tcPr>
                </a:tc>
                <a:tc>
                  <a:txBody>
                    <a:bodyPr/>
                    <a:lstStyle/>
                    <a:p>
                      <a:pPr algn="r">
                        <a:defRPr sz="900">
                          <a:solidFill>
                            <a:srgbClr val="2D2D3D"/>
                          </a:solidFill>
                          <a:latin typeface="Calibri"/>
                        </a:defRPr>
                      </a:pPr>
                      <a:r>
                        <a:t>334bp</a:t>
                      </a:r>
                    </a:p>
                  </a:txBody>
                  <a:tcPr>
                    <a:solidFill>
                      <a:srgbClr val="E8EBF5"/>
                    </a:solidFill>
                  </a:tcPr>
                </a:tc>
                <a:tc>
                  <a:txBody>
                    <a:bodyPr/>
                    <a:lstStyle/>
                    <a:p>
                      <a:pPr algn="r">
                        <a:defRPr sz="900">
                          <a:solidFill>
                            <a:srgbClr val="2D2D3D"/>
                          </a:solidFill>
                          <a:latin typeface="Calibri"/>
                        </a:defRPr>
                      </a:pPr>
                      <a:r>
                        <a:t>769bp</a:t>
                      </a:r>
                    </a:p>
                  </a:txBody>
                  <a:tcPr>
                    <a:solidFill>
                      <a:srgbClr val="E8EBF5"/>
                    </a:solidFill>
                  </a:tcPr>
                </a:tc>
                <a:tc>
                  <a:txBody>
                    <a:bodyPr/>
                    <a:lstStyle/>
                    <a:p>
                      <a:pPr algn="r">
                        <a:defRPr sz="900">
                          <a:solidFill>
                            <a:srgbClr val="2D2D3D"/>
                          </a:solidFill>
                          <a:latin typeface="Calibri"/>
                        </a:defRPr>
                      </a:pPr>
                      <a:r>
                        <a:t>2.8×</a:t>
                      </a:r>
                    </a:p>
                  </a:txBody>
                  <a:tcPr>
                    <a:solidFill>
                      <a:srgbClr val="E8EBF5"/>
                    </a:solidFill>
                  </a:tcPr>
                </a:tc>
              </a:tr>
              <a:tr h="320039">
                <a:tc>
                  <a:txBody>
                    <a:bodyPr/>
                    <a:lstStyle/>
                    <a:p>
                      <a:pPr algn="l">
                        <a:defRPr sz="900">
                          <a:solidFill>
                            <a:srgbClr val="2D2D3D"/>
                          </a:solidFill>
                          <a:latin typeface="Calibri"/>
                        </a:defRPr>
                      </a:pPr>
                      <a:r>
                        <a:t>B</a:t>
                      </a:r>
                    </a:p>
                  </a:txBody>
                  <a:tcPr>
                    <a:solidFill>
                      <a:srgbClr val="FFFFFF"/>
                    </a:solidFill>
                  </a:tcPr>
                </a:tc>
                <a:tc>
                  <a:txBody>
                    <a:bodyPr/>
                    <a:lstStyle/>
                    <a:p>
                      <a:pPr algn="r">
                        <a:defRPr sz="900">
                          <a:solidFill>
                            <a:srgbClr val="2D2D3D"/>
                          </a:solidFill>
                          <a:latin typeface="Calibri"/>
                        </a:defRPr>
                      </a:pPr>
                      <a:r>
                        <a:t>71%</a:t>
                      </a:r>
                    </a:p>
                  </a:txBody>
                  <a:tcPr>
                    <a:solidFill>
                      <a:srgbClr val="FFFFFF"/>
                    </a:solidFill>
                  </a:tcPr>
                </a:tc>
                <a:tc>
                  <a:txBody>
                    <a:bodyPr/>
                    <a:lstStyle/>
                    <a:p>
                      <a:pPr algn="r">
                        <a:defRPr sz="900">
                          <a:solidFill>
                            <a:srgbClr val="2D2D3D"/>
                          </a:solidFill>
                          <a:latin typeface="Calibri"/>
                        </a:defRPr>
                      </a:pPr>
                      <a:r>
                        <a:t>35%</a:t>
                      </a:r>
                    </a:p>
                  </a:txBody>
                  <a:tcPr>
                    <a:solidFill>
                      <a:srgbClr val="FFFFFF"/>
                    </a:solidFill>
                  </a:tcPr>
                </a:tc>
                <a:tc>
                  <a:txBody>
                    <a:bodyPr/>
                    <a:lstStyle/>
                    <a:p>
                      <a:pPr algn="r">
                        <a:defRPr sz="900">
                          <a:solidFill>
                            <a:srgbClr val="2D2D3D"/>
                          </a:solidFill>
                          <a:latin typeface="Calibri"/>
                        </a:defRPr>
                      </a:pPr>
                      <a:r>
                        <a:t>23%</a:t>
                      </a:r>
                    </a:p>
                  </a:txBody>
                  <a:tcPr>
                    <a:solidFill>
                      <a:srgbClr val="FFFFFF"/>
                    </a:solidFill>
                  </a:tcPr>
                </a:tc>
                <a:tc>
                  <a:txBody>
                    <a:bodyPr/>
                    <a:lstStyle/>
                    <a:p>
                      <a:pPr algn="r">
                        <a:defRPr sz="900">
                          <a:solidFill>
                            <a:srgbClr val="2D2D3D"/>
                          </a:solidFill>
                          <a:latin typeface="Calibri"/>
                        </a:defRPr>
                      </a:pPr>
                      <a:r>
                        <a:t>-12pp</a:t>
                      </a:r>
                    </a:p>
                  </a:txBody>
                  <a:tcPr>
                    <a:solidFill>
                      <a:srgbClr val="FFFFFF"/>
                    </a:solidFill>
                  </a:tcPr>
                </a:tc>
                <a:tc>
                  <a:txBody>
                    <a:bodyPr/>
                    <a:lstStyle/>
                    <a:p>
                      <a:pPr algn="r">
                        <a:defRPr sz="900">
                          <a:solidFill>
                            <a:srgbClr val="2D2D3D"/>
                          </a:solidFill>
                          <a:latin typeface="Calibri"/>
                        </a:defRPr>
                      </a:pPr>
                      <a:r>
                        <a:t>591bp</a:t>
                      </a:r>
                    </a:p>
                  </a:txBody>
                  <a:tcPr>
                    <a:solidFill>
                      <a:srgbClr val="FFFFFF"/>
                    </a:solidFill>
                  </a:tcPr>
                </a:tc>
                <a:tc>
                  <a:txBody>
                    <a:bodyPr/>
                    <a:lstStyle/>
                    <a:p>
                      <a:pPr algn="r">
                        <a:defRPr sz="900">
                          <a:solidFill>
                            <a:srgbClr val="2D2D3D"/>
                          </a:solidFill>
                          <a:latin typeface="Calibri"/>
                        </a:defRPr>
                      </a:pPr>
                      <a:r>
                        <a:t>1358bp</a:t>
                      </a:r>
                    </a:p>
                  </a:txBody>
                  <a:tcPr>
                    <a:solidFill>
                      <a:srgbClr val="FFFFFF"/>
                    </a:solidFill>
                  </a:tcPr>
                </a:tc>
                <a:tc>
                  <a:txBody>
                    <a:bodyPr/>
                    <a:lstStyle/>
                    <a:p>
                      <a:pPr algn="r">
                        <a:defRPr sz="900">
                          <a:solidFill>
                            <a:srgbClr val="2D2D3D"/>
                          </a:solidFill>
                          <a:latin typeface="Calibri"/>
                        </a:defRPr>
                      </a:pPr>
                      <a:r>
                        <a:t>2.7×</a:t>
                      </a:r>
                    </a:p>
                  </a:txBody>
                  <a:tcPr>
                    <a:solidFill>
                      <a:srgbClr val="FFFFFF"/>
                    </a:solidFill>
                  </a:tcPr>
                </a:tc>
              </a:tr>
              <a:tr h="320039">
                <a:tc>
                  <a:txBody>
                    <a:bodyPr/>
                    <a:lstStyle/>
                    <a:p>
                      <a:pPr algn="l">
                        <a:defRPr sz="900">
                          <a:solidFill>
                            <a:srgbClr val="2D2D3D"/>
                          </a:solidFill>
                          <a:latin typeface="Calibri"/>
                        </a:defRPr>
                      </a:pPr>
                      <a:r>
                        <a:t>B−</a:t>
                      </a:r>
                    </a:p>
                  </a:txBody>
                  <a:tcPr>
                    <a:solidFill>
                      <a:srgbClr val="E8EBF5"/>
                    </a:solidFill>
                  </a:tcPr>
                </a:tc>
                <a:tc>
                  <a:txBody>
                    <a:bodyPr/>
                    <a:lstStyle/>
                    <a:p>
                      <a:pPr algn="r">
                        <a:defRPr sz="900">
                          <a:solidFill>
                            <a:srgbClr val="2D2D3D"/>
                          </a:solidFill>
                          <a:latin typeface="Calibri"/>
                        </a:defRPr>
                      </a:pPr>
                      <a:r>
                        <a:t>80%</a:t>
                      </a:r>
                    </a:p>
                  </a:txBody>
                  <a:tcPr>
                    <a:solidFill>
                      <a:srgbClr val="E8EBF5"/>
                    </a:solidFill>
                  </a:tcPr>
                </a:tc>
                <a:tc>
                  <a:txBody>
                    <a:bodyPr/>
                    <a:lstStyle/>
                    <a:p>
                      <a:pPr algn="r">
                        <a:defRPr sz="900">
                          <a:solidFill>
                            <a:srgbClr val="2D2D3D"/>
                          </a:solidFill>
                          <a:latin typeface="Calibri"/>
                        </a:defRPr>
                      </a:pPr>
                      <a:r>
                        <a:t>30%</a:t>
                      </a:r>
                    </a:p>
                  </a:txBody>
                  <a:tcPr>
                    <a:solidFill>
                      <a:srgbClr val="E8EBF5"/>
                    </a:solidFill>
                  </a:tcPr>
                </a:tc>
                <a:tc>
                  <a:txBody>
                    <a:bodyPr/>
                    <a:lstStyle/>
                    <a:p>
                      <a:pPr algn="r">
                        <a:defRPr sz="900">
                          <a:solidFill>
                            <a:srgbClr val="2D2D3D"/>
                          </a:solidFill>
                          <a:latin typeface="Calibri"/>
                        </a:defRPr>
                      </a:pPr>
                      <a:r>
                        <a:t>20%</a:t>
                      </a:r>
                    </a:p>
                  </a:txBody>
                  <a:tcPr>
                    <a:solidFill>
                      <a:srgbClr val="E8EBF5"/>
                    </a:solidFill>
                  </a:tcPr>
                </a:tc>
                <a:tc>
                  <a:txBody>
                    <a:bodyPr/>
                    <a:lstStyle/>
                    <a:p>
                      <a:pPr algn="r">
                        <a:defRPr sz="900">
                          <a:solidFill>
                            <a:srgbClr val="2D2D3D"/>
                          </a:solidFill>
                          <a:latin typeface="Calibri"/>
                        </a:defRPr>
                      </a:pPr>
                      <a:r>
                        <a:t>-10pp</a:t>
                      </a:r>
                    </a:p>
                  </a:txBody>
                  <a:tcPr>
                    <a:solidFill>
                      <a:srgbClr val="E8EBF5"/>
                    </a:solidFill>
                  </a:tcPr>
                </a:tc>
                <a:tc>
                  <a:txBody>
                    <a:bodyPr/>
                    <a:lstStyle/>
                    <a:p>
                      <a:pPr algn="r">
                        <a:defRPr sz="900">
                          <a:solidFill>
                            <a:srgbClr val="2D2D3D"/>
                          </a:solidFill>
                          <a:latin typeface="Calibri"/>
                        </a:defRPr>
                      </a:pPr>
                      <a:r>
                        <a:t>911bp</a:t>
                      </a:r>
                    </a:p>
                  </a:txBody>
                  <a:tcPr>
                    <a:solidFill>
                      <a:srgbClr val="E8EBF5"/>
                    </a:solidFill>
                  </a:tcPr>
                </a:tc>
                <a:tc>
                  <a:txBody>
                    <a:bodyPr/>
                    <a:lstStyle/>
                    <a:p>
                      <a:pPr algn="r">
                        <a:defRPr sz="900">
                          <a:solidFill>
                            <a:srgbClr val="2D2D3D"/>
                          </a:solidFill>
                          <a:latin typeface="Calibri"/>
                        </a:defRPr>
                      </a:pPr>
                      <a:r>
                        <a:t>2094bp</a:t>
                      </a:r>
                    </a:p>
                  </a:txBody>
                  <a:tcPr>
                    <a:solidFill>
                      <a:srgbClr val="E8EBF5"/>
                    </a:solidFill>
                  </a:tcPr>
                </a:tc>
                <a:tc>
                  <a:txBody>
                    <a:bodyPr/>
                    <a:lstStyle/>
                    <a:p>
                      <a:pPr algn="r">
                        <a:defRPr sz="900">
                          <a:solidFill>
                            <a:srgbClr val="2D2D3D"/>
                          </a:solidFill>
                          <a:latin typeface="Calibri"/>
                        </a:defRPr>
                      </a:pPr>
                      <a:r>
                        <a:t>2.6×</a:t>
                      </a:r>
                    </a:p>
                  </a:txBody>
                  <a:tcPr>
                    <a:solidFill>
                      <a:srgbClr val="E8EBF5"/>
                    </a:solidFill>
                  </a:tcPr>
                </a:tc>
              </a:tr>
              <a:tr h="320044">
                <a:tc>
                  <a:txBody>
                    <a:bodyPr/>
                    <a:lstStyle/>
                    <a:p>
                      <a:pPr algn="l">
                        <a:defRPr sz="900">
                          <a:solidFill>
                            <a:srgbClr val="2D2D3D"/>
                          </a:solidFill>
                          <a:latin typeface="Calibri"/>
                        </a:defRPr>
                      </a:pPr>
                      <a:r>
                        <a:t>CCC</a:t>
                      </a:r>
                    </a:p>
                  </a:txBody>
                  <a:tcPr>
                    <a:solidFill>
                      <a:srgbClr val="FFFFFF"/>
                    </a:solidFill>
                  </a:tcPr>
                </a:tc>
                <a:tc>
                  <a:txBody>
                    <a:bodyPr/>
                    <a:lstStyle/>
                    <a:p>
                      <a:pPr algn="r">
                        <a:defRPr sz="900">
                          <a:solidFill>
                            <a:srgbClr val="2D2D3D"/>
                          </a:solidFill>
                          <a:latin typeface="Calibri"/>
                        </a:defRPr>
                      </a:pPr>
                      <a:r>
                        <a:t>87%</a:t>
                      </a:r>
                    </a:p>
                  </a:txBody>
                  <a:tcPr>
                    <a:solidFill>
                      <a:srgbClr val="FFFFFF"/>
                    </a:solidFill>
                  </a:tcPr>
                </a:tc>
                <a:tc>
                  <a:txBody>
                    <a:bodyPr/>
                    <a:lstStyle/>
                    <a:p>
                      <a:pPr algn="r">
                        <a:defRPr sz="900">
                          <a:solidFill>
                            <a:srgbClr val="2D2D3D"/>
                          </a:solidFill>
                          <a:latin typeface="Calibri"/>
                        </a:defRPr>
                      </a:pPr>
                      <a:r>
                        <a:t>25%</a:t>
                      </a:r>
                    </a:p>
                  </a:txBody>
                  <a:tcPr>
                    <a:solidFill>
                      <a:srgbClr val="FFFFFF"/>
                    </a:solidFill>
                  </a:tcPr>
                </a:tc>
                <a:tc>
                  <a:txBody>
                    <a:bodyPr/>
                    <a:lstStyle/>
                    <a:p>
                      <a:pPr algn="r">
                        <a:defRPr sz="900">
                          <a:solidFill>
                            <a:srgbClr val="2D2D3D"/>
                          </a:solidFill>
                          <a:latin typeface="Calibri"/>
                        </a:defRPr>
                      </a:pPr>
                      <a:r>
                        <a:t>16%</a:t>
                      </a:r>
                    </a:p>
                  </a:txBody>
                  <a:tcPr>
                    <a:solidFill>
                      <a:srgbClr val="FFFFFF"/>
                    </a:solidFill>
                  </a:tcPr>
                </a:tc>
                <a:tc>
                  <a:txBody>
                    <a:bodyPr/>
                    <a:lstStyle/>
                    <a:p>
                      <a:pPr algn="r">
                        <a:defRPr sz="900">
                          <a:solidFill>
                            <a:srgbClr val="2D2D3D"/>
                          </a:solidFill>
                          <a:latin typeface="Calibri"/>
                        </a:defRPr>
                      </a:pPr>
                      <a:r>
                        <a:t>-9pp</a:t>
                      </a:r>
                    </a:p>
                  </a:txBody>
                  <a:tcPr>
                    <a:solidFill>
                      <a:srgbClr val="FFFFFF"/>
                    </a:solidFill>
                  </a:tcPr>
                </a:tc>
                <a:tc>
                  <a:txBody>
                    <a:bodyPr/>
                    <a:lstStyle/>
                    <a:p>
                      <a:pPr algn="r">
                        <a:defRPr sz="900">
                          <a:solidFill>
                            <a:srgbClr val="2D2D3D"/>
                          </a:solidFill>
                          <a:latin typeface="Calibri"/>
                        </a:defRPr>
                      </a:pPr>
                      <a:r>
                        <a:t>1468bp</a:t>
                      </a:r>
                    </a:p>
                  </a:txBody>
                  <a:tcPr>
                    <a:solidFill>
                      <a:srgbClr val="FFFFFF"/>
                    </a:solidFill>
                  </a:tcPr>
                </a:tc>
                <a:tc>
                  <a:txBody>
                    <a:bodyPr/>
                    <a:lstStyle/>
                    <a:p>
                      <a:pPr algn="r">
                        <a:defRPr sz="900">
                          <a:solidFill>
                            <a:srgbClr val="2D2D3D"/>
                          </a:solidFill>
                          <a:latin typeface="Calibri"/>
                        </a:defRPr>
                      </a:pPr>
                      <a:r>
                        <a:t>3376bp</a:t>
                      </a:r>
                    </a:p>
                  </a:txBody>
                  <a:tcPr>
                    <a:solidFill>
                      <a:srgbClr val="FFFFFF"/>
                    </a:solidFill>
                  </a:tcPr>
                </a:tc>
                <a:tc>
                  <a:txBody>
                    <a:bodyPr/>
                    <a:lstStyle/>
                    <a:p>
                      <a:pPr algn="r">
                        <a:defRPr sz="900">
                          <a:solidFill>
                            <a:srgbClr val="2D2D3D"/>
                          </a:solidFill>
                          <a:latin typeface="Calibri"/>
                        </a:defRPr>
                      </a:pPr>
                      <a:r>
                        <a:t>2.6×</a:t>
                      </a:r>
                    </a:p>
                  </a:txBody>
                  <a:tcPr>
                    <a:solidFill>
                      <a:srgbClr val="FFFFFF"/>
                    </a:solidFill>
                  </a:tcPr>
                </a:tc>
              </a:tr>
            </a:tbl>
          </a:graphicData>
        </a:graphic>
      </p:graphicFrame>
      <p:sp>
        <p:nvSpPr>
          <p:cNvPr id="108" name="Rounded Rectangle 107"/>
          <p:cNvSpPr/>
          <p:nvPr/>
        </p:nvSpPr>
        <p:spPr>
          <a:xfrm>
            <a:off x="914400" y="5943600"/>
            <a:ext cx="7315200" cy="502920"/>
          </a:xfrm>
          <a:prstGeom prst="round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100" b="1">
                <a:solidFill>
                  <a:srgbClr val="FFFFFF"/>
                </a:solidFill>
                <a:latin typeface="Calibri"/>
              </a:defRPr>
            </a:pPr>
            <a:r>
              <a:t>The double whammy: PIK simultaneously increases the probability of default (λ↑) AND reduces recovery per dollar (R↓). These compound multiplicatively, not additively.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10</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Monte Carlo Paths: What the Simulation Looks Like</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50 sample GBM paths for B− (Stressed, 80% LTV)</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11/16</a:t>
            </a:r>
          </a:p>
        </p:txBody>
      </p:sp>
      <p:sp>
        <p:nvSpPr>
          <p:cNvPr id="6" name="Rectangle 5"/>
          <p:cNvSpPr/>
          <p:nvPr/>
        </p:nvSpPr>
        <p:spPr>
          <a:xfrm>
            <a:off x="457200" y="4297680"/>
            <a:ext cx="5029200" cy="12700"/>
          </a:xfrm>
          <a:prstGeom prst="rect">
            <a:avLst/>
          </a:prstGeom>
          <a:solidFill>
            <a:srgbClr val="555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97280"/>
            <a:ext cx="12700" cy="3200400"/>
          </a:xfrm>
          <a:prstGeom prst="rect">
            <a:avLst/>
          </a:prstGeom>
          <a:solidFill>
            <a:srgbClr val="555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348480"/>
            <a:ext cx="5029200" cy="182880"/>
          </a:xfrm>
          <a:prstGeom prst="rect">
            <a:avLst/>
          </a:prstGeom>
          <a:noFill/>
        </p:spPr>
        <p:txBody>
          <a:bodyPr wrap="square">
            <a:spAutoFit/>
          </a:bodyPr>
          <a:lstStyle/>
          <a:p>
            <a:pPr algn="ctr">
              <a:defRPr sz="900" b="0">
                <a:solidFill>
                  <a:srgbClr val="555570"/>
                </a:solidFill>
                <a:latin typeface="Calibri"/>
              </a:defRPr>
            </a:pPr>
            <a:r>
              <a:t>Time (years) →</a:t>
            </a:r>
          </a:p>
        </p:txBody>
      </p:sp>
      <p:sp>
        <p:nvSpPr>
          <p:cNvPr id="9" name="TextBox 8"/>
          <p:cNvSpPr txBox="1"/>
          <p:nvPr/>
        </p:nvSpPr>
        <p:spPr>
          <a:xfrm>
            <a:off x="0" y="1071880"/>
            <a:ext cx="457200" cy="182880"/>
          </a:xfrm>
          <a:prstGeom prst="rect">
            <a:avLst/>
          </a:prstGeom>
          <a:noFill/>
        </p:spPr>
        <p:txBody>
          <a:bodyPr wrap="square">
            <a:spAutoFit/>
          </a:bodyPr>
          <a:lstStyle/>
          <a:p>
            <a:pPr algn="r">
              <a:defRPr sz="800" b="0">
                <a:solidFill>
                  <a:srgbClr val="555570"/>
                </a:solidFill>
                <a:latin typeface="Calibri"/>
              </a:defRPr>
            </a:pPr>
            <a:r>
              <a:t>Asset</a:t>
            </a:r>
            <a:br/>
            <a:r>
              <a:t>Value</a:t>
            </a:r>
          </a:p>
        </p:txBody>
      </p:sp>
      <p:sp>
        <p:nvSpPr>
          <p:cNvPr id="10" name="Rectangle 9"/>
          <p:cNvSpPr/>
          <p:nvPr/>
        </p:nvSpPr>
        <p:spPr>
          <a:xfrm>
            <a:off x="457200" y="-79976"/>
            <a:ext cx="5029200" cy="2540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37200" y="-181576"/>
            <a:ext cx="914400" cy="182880"/>
          </a:xfrm>
          <a:prstGeom prst="rect">
            <a:avLst/>
          </a:prstGeom>
          <a:noFill/>
        </p:spPr>
        <p:txBody>
          <a:bodyPr wrap="square">
            <a:spAutoFit/>
          </a:bodyPr>
          <a:lstStyle/>
          <a:p>
            <a:pPr algn="l">
              <a:defRPr sz="900" b="1">
                <a:solidFill>
                  <a:srgbClr val="E04F4F"/>
                </a:solidFill>
                <a:latin typeface="Calibri"/>
              </a:defRPr>
            </a:pPr>
            <a:r>
              <a:t>B = 274</a:t>
            </a:r>
          </a:p>
        </p:txBody>
      </p:sp>
      <p:sp>
        <p:nvSpPr>
          <p:cNvPr id="12" name="TextBox 11"/>
          <p:cNvSpPr txBox="1"/>
          <p:nvPr/>
        </p:nvSpPr>
        <p:spPr>
          <a:xfrm>
            <a:off x="-182880" y="2221230"/>
            <a:ext cx="548640" cy="182880"/>
          </a:xfrm>
          <a:prstGeom prst="rect">
            <a:avLst/>
          </a:prstGeom>
          <a:noFill/>
        </p:spPr>
        <p:txBody>
          <a:bodyPr wrap="square">
            <a:spAutoFit/>
          </a:bodyPr>
          <a:lstStyle/>
          <a:p>
            <a:pPr algn="r">
              <a:defRPr sz="800" b="1">
                <a:solidFill>
                  <a:srgbClr val="2C3E6B"/>
                </a:solidFill>
                <a:latin typeface="Calibri"/>
              </a:defRPr>
            </a:pPr>
            <a:r>
              <a:t>V₀=125</a:t>
            </a:r>
          </a:p>
        </p:txBody>
      </p:sp>
      <p:sp>
        <p:nvSpPr>
          <p:cNvPr id="13" name="Rectangle 12"/>
          <p:cNvSpPr/>
          <p:nvPr/>
        </p:nvSpPr>
        <p:spPr>
          <a:xfrm>
            <a:off x="457200" y="2297430"/>
            <a:ext cx="83820" cy="210224"/>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088357"/>
            <a:ext cx="83820" cy="209073"/>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242200"/>
            <a:ext cx="83820" cy="5523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297430"/>
            <a:ext cx="83820" cy="28471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297430"/>
            <a:ext cx="83820" cy="116134"/>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937417"/>
            <a:ext cx="83820" cy="360013"/>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297430"/>
            <a:ext cx="83820" cy="43704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2297430"/>
            <a:ext cx="83820" cy="87422"/>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027580"/>
            <a:ext cx="83820" cy="26985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297430"/>
            <a:ext cx="83820" cy="170195"/>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297430"/>
            <a:ext cx="83820" cy="13512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297430"/>
            <a:ext cx="83820" cy="2173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1975276"/>
            <a:ext cx="83820" cy="322154"/>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2297430"/>
            <a:ext cx="83820" cy="12757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2297430"/>
            <a:ext cx="83820" cy="90333"/>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2297430"/>
            <a:ext cx="83820" cy="88473"/>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1801411"/>
            <a:ext cx="83820" cy="49601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1806235"/>
            <a:ext cx="83820" cy="491195"/>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2086859"/>
            <a:ext cx="83820" cy="210571"/>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2220654"/>
            <a:ext cx="83820" cy="76776"/>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2145634"/>
            <a:ext cx="83820" cy="151796"/>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1975431"/>
            <a:ext cx="83820" cy="32199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2297430"/>
            <a:ext cx="83820" cy="182926"/>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 y="2048154"/>
            <a:ext cx="83820" cy="249276"/>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2297430"/>
            <a:ext cx="83820" cy="240396"/>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7200" y="2297430"/>
            <a:ext cx="83820" cy="127361"/>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2108409"/>
            <a:ext cx="83820" cy="189021"/>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2297430"/>
            <a:ext cx="83820" cy="271204"/>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2297430"/>
            <a:ext cx="83820" cy="30777"/>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2297430"/>
            <a:ext cx="83820" cy="169273"/>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2297430"/>
            <a:ext cx="83820" cy="53636"/>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2297430"/>
            <a:ext cx="83820" cy="49469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7200" y="2297430"/>
            <a:ext cx="83820" cy="330074"/>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2297430"/>
            <a:ext cx="83820" cy="13908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7200" y="2103901"/>
            <a:ext cx="83820" cy="19352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57200" y="2297430"/>
            <a:ext cx="83820" cy="37445"/>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2297430"/>
            <a:ext cx="83820" cy="1270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7200" y="2156293"/>
            <a:ext cx="83820" cy="141137"/>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57200" y="2297430"/>
            <a:ext cx="83820" cy="172559"/>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200" y="2242065"/>
            <a:ext cx="83820" cy="55365"/>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57200" y="2297430"/>
            <a:ext cx="83820" cy="158812"/>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57200" y="2297430"/>
            <a:ext cx="83820" cy="322655"/>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 y="2297430"/>
            <a:ext cx="83820" cy="80062"/>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57200" y="2180906"/>
            <a:ext cx="83820" cy="116524"/>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57200" y="2230619"/>
            <a:ext cx="83820" cy="66811"/>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 y="2297430"/>
            <a:ext cx="83820" cy="12700"/>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57200" y="1753944"/>
            <a:ext cx="83820" cy="543486"/>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57200" y="2215038"/>
            <a:ext cx="83820" cy="82392"/>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57200" y="2092507"/>
            <a:ext cx="83820" cy="204923"/>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57200" y="1793273"/>
            <a:ext cx="83820" cy="504157"/>
          </a:xfrm>
          <a:prstGeom prst="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4434840"/>
            <a:ext cx="5029200" cy="274320"/>
          </a:xfrm>
          <a:prstGeom prst="rect">
            <a:avLst/>
          </a:prstGeom>
          <a:noFill/>
        </p:spPr>
        <p:txBody>
          <a:bodyPr wrap="square">
            <a:spAutoFit/>
          </a:bodyPr>
          <a:lstStyle/>
          <a:p>
            <a:pPr algn="l">
              <a:defRPr sz="1000" b="0">
                <a:solidFill>
                  <a:srgbClr val="555570"/>
                </a:solidFill>
                <a:latin typeface="Calibri"/>
              </a:defRPr>
            </a:pPr>
            <a:r>
              <a:t>50 paths: 0 survived (green), 50 defaulted (red)  |  Sample default rate = 100%  |  Historical 5Y PD = 24.0%</a:t>
            </a:r>
          </a:p>
        </p:txBody>
      </p:sp>
      <p:sp>
        <p:nvSpPr>
          <p:cNvPr id="64" name="TextBox 63"/>
          <p:cNvSpPr txBox="1"/>
          <p:nvPr/>
        </p:nvSpPr>
        <p:spPr>
          <a:xfrm>
            <a:off x="5760720" y="1097280"/>
            <a:ext cx="3200400" cy="228600"/>
          </a:xfrm>
          <a:prstGeom prst="rect">
            <a:avLst/>
          </a:prstGeom>
          <a:noFill/>
        </p:spPr>
        <p:txBody>
          <a:bodyPr wrap="square">
            <a:spAutoFit/>
          </a:bodyPr>
          <a:lstStyle/>
          <a:p>
            <a:pPr algn="l">
              <a:defRPr sz="1300" b="1">
                <a:solidFill>
                  <a:srgbClr val="2C3E6B"/>
                </a:solidFill>
                <a:latin typeface="Calibri"/>
              </a:defRPr>
            </a:pPr>
            <a:r>
              <a:t>MC Algorithm (per path)</a:t>
            </a:r>
          </a:p>
        </p:txBody>
      </p:sp>
      <p:sp>
        <p:nvSpPr>
          <p:cNvPr id="65" name="TextBox 64"/>
          <p:cNvSpPr txBox="1"/>
          <p:nvPr/>
        </p:nvSpPr>
        <p:spPr>
          <a:xfrm>
            <a:off x="5760720" y="1417320"/>
            <a:ext cx="3200400" cy="182880"/>
          </a:xfrm>
          <a:prstGeom prst="rect">
            <a:avLst/>
          </a:prstGeom>
          <a:noFill/>
        </p:spPr>
        <p:txBody>
          <a:bodyPr wrap="square">
            <a:spAutoFit/>
          </a:bodyPr>
          <a:lstStyle/>
          <a:p>
            <a:pPr algn="l">
              <a:defRPr sz="1000" b="1">
                <a:solidFill>
                  <a:srgbClr val="2C3E6B"/>
                </a:solidFill>
                <a:latin typeface="Calibri"/>
              </a:defRPr>
            </a:pPr>
            <a:r>
              <a:t>1. Evolve assets</a:t>
            </a:r>
          </a:p>
        </p:txBody>
      </p:sp>
      <p:sp>
        <p:nvSpPr>
          <p:cNvPr id="66" name="TextBox 65"/>
          <p:cNvSpPr txBox="1"/>
          <p:nvPr/>
        </p:nvSpPr>
        <p:spPr>
          <a:xfrm>
            <a:off x="5760720" y="1581912"/>
            <a:ext cx="3200400" cy="365760"/>
          </a:xfrm>
          <a:prstGeom prst="rect">
            <a:avLst/>
          </a:prstGeom>
          <a:noFill/>
        </p:spPr>
        <p:txBody>
          <a:bodyPr wrap="square">
            <a:spAutoFit/>
          </a:bodyPr>
          <a:lstStyle/>
          <a:p>
            <a:pPr algn="l">
              <a:defRPr sz="900" b="0">
                <a:solidFill>
                  <a:srgbClr val="2D2D3D"/>
                </a:solidFill>
                <a:latin typeface="Calibri"/>
              </a:defRPr>
            </a:pPr>
            <a:r>
              <a:t>V(t+dt) = V(t) × exp[(r−σ²/2)dt + σ√dt·Z]</a:t>
            </a:r>
          </a:p>
        </p:txBody>
      </p:sp>
      <p:sp>
        <p:nvSpPr>
          <p:cNvPr id="67" name="TextBox 66"/>
          <p:cNvSpPr txBox="1"/>
          <p:nvPr/>
        </p:nvSpPr>
        <p:spPr>
          <a:xfrm>
            <a:off x="5760720" y="2011680"/>
            <a:ext cx="3200400" cy="182880"/>
          </a:xfrm>
          <a:prstGeom prst="rect">
            <a:avLst/>
          </a:prstGeom>
          <a:noFill/>
        </p:spPr>
        <p:txBody>
          <a:bodyPr wrap="square">
            <a:spAutoFit/>
          </a:bodyPr>
          <a:lstStyle/>
          <a:p>
            <a:pPr algn="l">
              <a:defRPr sz="1000" b="1">
                <a:solidFill>
                  <a:srgbClr val="2C3E6B"/>
                </a:solidFill>
                <a:latin typeface="Calibri"/>
              </a:defRPr>
            </a:pPr>
            <a:r>
              <a:t>2. At each coupon date:</a:t>
            </a:r>
          </a:p>
        </p:txBody>
      </p:sp>
      <p:sp>
        <p:nvSpPr>
          <p:cNvPr id="68" name="TextBox 67"/>
          <p:cNvSpPr txBox="1"/>
          <p:nvPr/>
        </p:nvSpPr>
        <p:spPr>
          <a:xfrm>
            <a:off x="5760720" y="2176272"/>
            <a:ext cx="3200400" cy="365760"/>
          </a:xfrm>
          <a:prstGeom prst="rect">
            <a:avLst/>
          </a:prstGeom>
          <a:noFill/>
        </p:spPr>
        <p:txBody>
          <a:bodyPr wrap="square">
            <a:spAutoFit/>
          </a:bodyPr>
          <a:lstStyle/>
          <a:p>
            <a:pPr algn="l">
              <a:defRPr sz="900" b="0">
                <a:solidFill>
                  <a:srgbClr val="2D2D3D"/>
                </a:solidFill>
                <a:latin typeface="Calibri"/>
              </a:defRPr>
            </a:pPr>
            <a:r>
              <a:t>Cash: pay coupon, discount</a:t>
            </a:r>
            <a:br/>
            <a:r>
              <a:t>PIK: accrete N → N×(1+c/2)</a:t>
            </a:r>
          </a:p>
        </p:txBody>
      </p:sp>
      <p:sp>
        <p:nvSpPr>
          <p:cNvPr id="69" name="TextBox 68"/>
          <p:cNvSpPr txBox="1"/>
          <p:nvPr/>
        </p:nvSpPr>
        <p:spPr>
          <a:xfrm>
            <a:off x="5760720" y="2606040"/>
            <a:ext cx="3200400" cy="182880"/>
          </a:xfrm>
          <a:prstGeom prst="rect">
            <a:avLst/>
          </a:prstGeom>
          <a:noFill/>
        </p:spPr>
        <p:txBody>
          <a:bodyPr wrap="square">
            <a:spAutoFit/>
          </a:bodyPr>
          <a:lstStyle/>
          <a:p>
            <a:pPr algn="l">
              <a:defRPr sz="1000" b="1">
                <a:solidFill>
                  <a:srgbClr val="2C3E6B"/>
                </a:solidFill>
                <a:latin typeface="Calibri"/>
              </a:defRPr>
            </a:pPr>
            <a:r>
              <a:t>3. Update credit state</a:t>
            </a:r>
          </a:p>
        </p:txBody>
      </p:sp>
      <p:sp>
        <p:nvSpPr>
          <p:cNvPr id="70" name="TextBox 69"/>
          <p:cNvSpPr txBox="1"/>
          <p:nvPr/>
        </p:nvSpPr>
        <p:spPr>
          <a:xfrm>
            <a:off x="5760720" y="2770632"/>
            <a:ext cx="3200400" cy="365760"/>
          </a:xfrm>
          <a:prstGeom prst="rect">
            <a:avLst/>
          </a:prstGeom>
          <a:noFill/>
        </p:spPr>
        <p:txBody>
          <a:bodyPr wrap="square">
            <a:spAutoFit/>
          </a:bodyPr>
          <a:lstStyle/>
          <a:p>
            <a:pPr algn="l">
              <a:defRPr sz="900" b="0">
                <a:solidFill>
                  <a:srgbClr val="2D2D3D"/>
                </a:solidFill>
                <a:latin typeface="Calibri"/>
              </a:defRPr>
            </a:pPr>
            <a:r>
              <a:t>L = N/V, recompute λ(L), DD</a:t>
            </a:r>
          </a:p>
        </p:txBody>
      </p:sp>
      <p:sp>
        <p:nvSpPr>
          <p:cNvPr id="71" name="TextBox 70"/>
          <p:cNvSpPr txBox="1"/>
          <p:nvPr/>
        </p:nvSpPr>
        <p:spPr>
          <a:xfrm>
            <a:off x="5760720" y="3200400"/>
            <a:ext cx="3200400" cy="182880"/>
          </a:xfrm>
          <a:prstGeom prst="rect">
            <a:avLst/>
          </a:prstGeom>
          <a:noFill/>
        </p:spPr>
        <p:txBody>
          <a:bodyPr wrap="square">
            <a:spAutoFit/>
          </a:bodyPr>
          <a:lstStyle/>
          <a:p>
            <a:pPr algn="l">
              <a:defRPr sz="1000" b="1">
                <a:solidFill>
                  <a:srgbClr val="2C3E6B"/>
                </a:solidFill>
                <a:latin typeface="Calibri"/>
              </a:defRPr>
            </a:pPr>
            <a:r>
              <a:t>4. Check default</a:t>
            </a:r>
          </a:p>
        </p:txBody>
      </p:sp>
      <p:sp>
        <p:nvSpPr>
          <p:cNvPr id="72" name="TextBox 71"/>
          <p:cNvSpPr txBox="1"/>
          <p:nvPr/>
        </p:nvSpPr>
        <p:spPr>
          <a:xfrm>
            <a:off x="5760720" y="3364992"/>
            <a:ext cx="3200400" cy="365760"/>
          </a:xfrm>
          <a:prstGeom prst="rect">
            <a:avLst/>
          </a:prstGeom>
          <a:noFill/>
        </p:spPr>
        <p:txBody>
          <a:bodyPr wrap="square">
            <a:spAutoFit/>
          </a:bodyPr>
          <a:lstStyle/>
          <a:p>
            <a:pPr algn="l">
              <a:defRPr sz="900" b="0">
                <a:solidFill>
                  <a:srgbClr val="2D2D3D"/>
                </a:solidFill>
                <a:latin typeface="Calibri"/>
              </a:defRPr>
            </a:pPr>
            <a:r>
              <a:t>V &lt; B? If yes: recovery = R(N)×N</a:t>
            </a:r>
          </a:p>
        </p:txBody>
      </p:sp>
      <p:sp>
        <p:nvSpPr>
          <p:cNvPr id="73" name="TextBox 72"/>
          <p:cNvSpPr txBox="1"/>
          <p:nvPr/>
        </p:nvSpPr>
        <p:spPr>
          <a:xfrm>
            <a:off x="5760720" y="3794760"/>
            <a:ext cx="3200400" cy="182880"/>
          </a:xfrm>
          <a:prstGeom prst="rect">
            <a:avLst/>
          </a:prstGeom>
          <a:noFill/>
        </p:spPr>
        <p:txBody>
          <a:bodyPr wrap="square">
            <a:spAutoFit/>
          </a:bodyPr>
          <a:lstStyle/>
          <a:p>
            <a:pPr algn="l">
              <a:defRPr sz="1000" b="1">
                <a:solidFill>
                  <a:srgbClr val="2C3E6B"/>
                </a:solidFill>
                <a:latin typeface="Calibri"/>
              </a:defRPr>
            </a:pPr>
            <a:r>
              <a:t>5. If survived to T:</a:t>
            </a:r>
          </a:p>
        </p:txBody>
      </p:sp>
      <p:sp>
        <p:nvSpPr>
          <p:cNvPr id="74" name="TextBox 73"/>
          <p:cNvSpPr txBox="1"/>
          <p:nvPr/>
        </p:nvSpPr>
        <p:spPr>
          <a:xfrm>
            <a:off x="5760720" y="3959352"/>
            <a:ext cx="3200400" cy="365760"/>
          </a:xfrm>
          <a:prstGeom prst="rect">
            <a:avLst/>
          </a:prstGeom>
          <a:noFill/>
        </p:spPr>
        <p:txBody>
          <a:bodyPr wrap="square">
            <a:spAutoFit/>
          </a:bodyPr>
          <a:lstStyle/>
          <a:p>
            <a:pPr algn="l">
              <a:defRPr sz="900" b="0">
                <a:solidFill>
                  <a:srgbClr val="2D2D3D"/>
                </a:solidFill>
                <a:latin typeface="Calibri"/>
              </a:defRPr>
            </a:pPr>
            <a:r>
              <a:t>PV += N(T) × D(T)</a:t>
            </a:r>
          </a:p>
        </p:txBody>
      </p:sp>
      <p:sp>
        <p:nvSpPr>
          <p:cNvPr id="75" name="TextBox 74"/>
          <p:cNvSpPr txBox="1"/>
          <p:nvPr/>
        </p:nvSpPr>
        <p:spPr>
          <a:xfrm>
            <a:off x="5760720" y="4389120"/>
            <a:ext cx="3200400" cy="182880"/>
          </a:xfrm>
          <a:prstGeom prst="rect">
            <a:avLst/>
          </a:prstGeom>
          <a:noFill/>
        </p:spPr>
        <p:txBody>
          <a:bodyPr wrap="square">
            <a:spAutoFit/>
          </a:bodyPr>
          <a:lstStyle/>
          <a:p>
            <a:pPr algn="l">
              <a:defRPr sz="1000" b="1">
                <a:solidFill>
                  <a:srgbClr val="2C3E6B"/>
                </a:solidFill>
                <a:latin typeface="Calibri"/>
              </a:defRPr>
            </a:pPr>
            <a:r>
              <a:t>6. Aggregate paths</a:t>
            </a:r>
          </a:p>
        </p:txBody>
      </p:sp>
      <p:sp>
        <p:nvSpPr>
          <p:cNvPr id="76" name="TextBox 75"/>
          <p:cNvSpPr txBox="1"/>
          <p:nvPr/>
        </p:nvSpPr>
        <p:spPr>
          <a:xfrm>
            <a:off x="5760720" y="4553712"/>
            <a:ext cx="3200400" cy="365760"/>
          </a:xfrm>
          <a:prstGeom prst="rect">
            <a:avLst/>
          </a:prstGeom>
          <a:noFill/>
        </p:spPr>
        <p:txBody>
          <a:bodyPr wrap="square">
            <a:spAutoFit/>
          </a:bodyPr>
          <a:lstStyle/>
          <a:p>
            <a:pPr algn="l">
              <a:defRPr sz="900" b="0">
                <a:solidFill>
                  <a:srgbClr val="2D2D3D"/>
                </a:solidFill>
                <a:latin typeface="Calibri"/>
              </a:defRPr>
            </a:pPr>
            <a:r>
              <a:t>Price = mean(path PVs)</a:t>
            </a:r>
            <a:br/>
            <a:r>
              <a:t>SE = std(path PVs) / √n</a:t>
            </a:r>
          </a:p>
        </p:txBody>
      </p:sp>
      <p:sp>
        <p:nvSpPr>
          <p:cNvPr id="77" name="Rounded Rectangle 76"/>
          <p:cNvSpPr/>
          <p:nvPr/>
        </p:nvSpPr>
        <p:spPr>
          <a:xfrm>
            <a:off x="457200" y="4846320"/>
            <a:ext cx="8412480" cy="457200"/>
          </a:xfrm>
          <a:prstGeom prst="roundRect">
            <a:avLst/>
          </a:prstGeom>
          <a:solidFill>
            <a:srgbClr val="2C3E6B"/>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100" b="1">
                <a:solidFill>
                  <a:srgbClr val="FFFFFF"/>
                </a:solidFill>
                <a:latin typeface="Calibri"/>
              </a:defRPr>
            </a:pPr>
            <a:r>
              <a:t>Key: the MC engine runs 25,000 paths with antithetic variates (variance reduction). At each coupon date, the toggle decision, hazard update, and recovery adjustment are all path-dependent.</a:t>
            </a:r>
          </a:p>
        </p:txBody>
      </p:sp>
      <p:sp>
        <p:nvSpPr>
          <p:cNvPr id="78" name="TextBox 77"/>
          <p:cNvSpPr txBox="1"/>
          <p:nvPr/>
        </p:nvSpPr>
        <p:spPr>
          <a:xfrm>
            <a:off x="457200" y="5486400"/>
            <a:ext cx="8229600" cy="228600"/>
          </a:xfrm>
          <a:prstGeom prst="rect">
            <a:avLst/>
          </a:prstGeom>
          <a:noFill/>
        </p:spPr>
        <p:txBody>
          <a:bodyPr wrap="square">
            <a:spAutoFit/>
          </a:bodyPr>
          <a:lstStyle/>
          <a:p>
            <a:pPr algn="l">
              <a:defRPr sz="1100" b="1">
                <a:solidFill>
                  <a:srgbClr val="2C3E6B"/>
                </a:solidFill>
                <a:latin typeface="Calibri"/>
              </a:defRPr>
            </a:pPr>
            <a:r>
              <a:t>Terminal Notional: Cash vs PIK on Surviving Paths</a:t>
            </a:r>
          </a:p>
        </p:txBody>
      </p:sp>
      <p:sp>
        <p:nvSpPr>
          <p:cNvPr id="79" name="TextBox 78"/>
          <p:cNvSpPr txBox="1"/>
          <p:nvPr/>
        </p:nvSpPr>
        <p:spPr>
          <a:xfrm>
            <a:off x="457200" y="5760720"/>
            <a:ext cx="8229600" cy="457200"/>
          </a:xfrm>
          <a:prstGeom prst="rect">
            <a:avLst/>
          </a:prstGeom>
          <a:noFill/>
        </p:spPr>
        <p:txBody>
          <a:bodyPr wrap="square">
            <a:spAutoFit/>
          </a:bodyPr>
          <a:lstStyle/>
          <a:p>
            <a:pPr algn="l">
              <a:defRPr sz="1100" b="0">
                <a:solidFill>
                  <a:srgbClr val="2D2D3D"/>
                </a:solidFill>
                <a:latin typeface="Calibri"/>
              </a:defRPr>
            </a:pPr>
            <a:r>
              <a:t>Cash-pay: always N = 100 at maturity  |  Full PIK: N = 151.62 (+51.6%)  |  Toggle: N varies by path (PIK only on stressed paths)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11</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The Feedback Spiral: A Single Path Walkthrough</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B− issuer — asset value declining, PIK accreting</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12/16</a:t>
            </a:r>
          </a:p>
        </p:txBody>
      </p:sp>
      <p:graphicFrame>
        <p:nvGraphicFramePr>
          <p:cNvPr id="6" name="Table 5"/>
          <p:cNvGraphicFramePr>
            <a:graphicFrameLocks noGrp="1"/>
          </p:cNvGraphicFramePr>
          <p:nvPr/>
        </p:nvGraphicFramePr>
        <p:xfrm>
          <a:off x="274320" y="1005840"/>
          <a:ext cx="5212080" cy="3840479"/>
        </p:xfrm>
        <a:graphic>
          <a:graphicData uri="http://schemas.openxmlformats.org/drawingml/2006/table">
            <a:tbl>
              <a:tblPr firstRow="1" bandRow="1">
                <a:tableStyleId>{5C22544A-7EE6-4342-B048-85BDC9FD1C3A}</a:tableStyleId>
              </a:tblPr>
              <a:tblGrid>
                <a:gridCol w="548640"/>
                <a:gridCol w="640080"/>
                <a:gridCol w="731520"/>
                <a:gridCol w="731520"/>
                <a:gridCol w="640080"/>
                <a:gridCol w="731520"/>
                <a:gridCol w="640080"/>
                <a:gridCol w="548640"/>
              </a:tblGrid>
              <a:tr h="320039">
                <a:tc>
                  <a:txBody>
                    <a:bodyPr/>
                    <a:lstStyle/>
                    <a:p>
                      <a:pPr algn="ctr">
                        <a:defRPr sz="900" b="1">
                          <a:solidFill>
                            <a:srgbClr val="FFFFFF"/>
                          </a:solidFill>
                          <a:latin typeface="Calibri"/>
                        </a:defRPr>
                      </a:pPr>
                      <a:r>
                        <a:t>Period</a:t>
                      </a:r>
                    </a:p>
                  </a:txBody>
                  <a:tcPr>
                    <a:solidFill>
                      <a:srgbClr val="2C3E6B"/>
                    </a:solidFill>
                  </a:tcPr>
                </a:tc>
                <a:tc>
                  <a:txBody>
                    <a:bodyPr/>
                    <a:lstStyle/>
                    <a:p>
                      <a:pPr algn="ctr">
                        <a:defRPr sz="900" b="1">
                          <a:solidFill>
                            <a:srgbClr val="FFFFFF"/>
                          </a:solidFill>
                          <a:latin typeface="Calibri"/>
                        </a:defRPr>
                      </a:pPr>
                      <a:r>
                        <a:t>V(t)</a:t>
                      </a:r>
                    </a:p>
                  </a:txBody>
                  <a:tcPr>
                    <a:solidFill>
                      <a:srgbClr val="2C3E6B"/>
                    </a:solidFill>
                  </a:tcPr>
                </a:tc>
                <a:tc>
                  <a:txBody>
                    <a:bodyPr/>
                    <a:lstStyle/>
                    <a:p>
                      <a:pPr algn="ctr">
                        <a:defRPr sz="900" b="1">
                          <a:solidFill>
                            <a:srgbClr val="FFFFFF"/>
                          </a:solidFill>
                          <a:latin typeface="Calibri"/>
                        </a:defRPr>
                      </a:pPr>
                      <a:r>
                        <a:t>N (Cash)</a:t>
                      </a:r>
                    </a:p>
                  </a:txBody>
                  <a:tcPr>
                    <a:solidFill>
                      <a:srgbClr val="2C3E6B"/>
                    </a:solidFill>
                  </a:tcPr>
                </a:tc>
                <a:tc>
                  <a:txBody>
                    <a:bodyPr/>
                    <a:lstStyle/>
                    <a:p>
                      <a:pPr algn="ctr">
                        <a:defRPr sz="900" b="1">
                          <a:solidFill>
                            <a:srgbClr val="FFFFFF"/>
                          </a:solidFill>
                          <a:latin typeface="Calibri"/>
                        </a:defRPr>
                      </a:pPr>
                      <a:r>
                        <a:t>N (PIK)</a:t>
                      </a:r>
                    </a:p>
                  </a:txBody>
                  <a:tcPr>
                    <a:solidFill>
                      <a:srgbClr val="2C3E6B"/>
                    </a:solidFill>
                  </a:tcPr>
                </a:tc>
                <a:tc>
                  <a:txBody>
                    <a:bodyPr/>
                    <a:lstStyle/>
                    <a:p>
                      <a:pPr algn="ctr">
                        <a:defRPr sz="900" b="1">
                          <a:solidFill>
                            <a:srgbClr val="FFFFFF"/>
                          </a:solidFill>
                          <a:latin typeface="Calibri"/>
                        </a:defRPr>
                      </a:pPr>
                      <a:r>
                        <a:t>L (PIK)</a:t>
                      </a:r>
                    </a:p>
                  </a:txBody>
                  <a:tcPr>
                    <a:solidFill>
                      <a:srgbClr val="2C3E6B"/>
                    </a:solidFill>
                  </a:tcPr>
                </a:tc>
                <a:tc>
                  <a:txBody>
                    <a:bodyPr/>
                    <a:lstStyle/>
                    <a:p>
                      <a:pPr algn="ctr">
                        <a:defRPr sz="900" b="1">
                          <a:solidFill>
                            <a:srgbClr val="FFFFFF"/>
                          </a:solidFill>
                          <a:latin typeface="Calibri"/>
                        </a:defRPr>
                      </a:pPr>
                      <a:r>
                        <a:t>λ (PIK)</a:t>
                      </a:r>
                    </a:p>
                  </a:txBody>
                  <a:tcPr>
                    <a:solidFill>
                      <a:srgbClr val="2C3E6B"/>
                    </a:solidFill>
                  </a:tcPr>
                </a:tc>
                <a:tc>
                  <a:txBody>
                    <a:bodyPr/>
                    <a:lstStyle/>
                    <a:p>
                      <a:pPr algn="ctr">
                        <a:defRPr sz="900" b="1">
                          <a:solidFill>
                            <a:srgbClr val="FFFFFF"/>
                          </a:solidFill>
                          <a:latin typeface="Calibri"/>
                        </a:defRPr>
                      </a:pPr>
                      <a:r>
                        <a:t>R (PIK)</a:t>
                      </a:r>
                    </a:p>
                  </a:txBody>
                  <a:tcPr>
                    <a:solidFill>
                      <a:srgbClr val="2C3E6B"/>
                    </a:solidFill>
                  </a:tcPr>
                </a:tc>
                <a:tc>
                  <a:txBody>
                    <a:bodyPr/>
                    <a:lstStyle/>
                    <a:p>
                      <a:pPr algn="ctr">
                        <a:defRPr sz="900" b="1">
                          <a:solidFill>
                            <a:srgbClr val="FFFFFF"/>
                          </a:solidFill>
                          <a:latin typeface="Calibri"/>
                        </a:defRPr>
                      </a:pPr>
                      <a:r>
                        <a:t>DD</a:t>
                      </a:r>
                    </a:p>
                  </a:txBody>
                  <a:tcPr>
                    <a:solidFill>
                      <a:srgbClr val="2C3E6B"/>
                    </a:solidFill>
                  </a:tcPr>
                </a:tc>
              </a:tr>
              <a:tr h="320039">
                <a:tc>
                  <a:txBody>
                    <a:bodyPr/>
                    <a:lstStyle/>
                    <a:p>
                      <a:pPr algn="l">
                        <a:defRPr sz="900">
                          <a:solidFill>
                            <a:srgbClr val="2D2D3D"/>
                          </a:solidFill>
                          <a:latin typeface="Calibri"/>
                        </a:defRPr>
                      </a:pPr>
                      <a:r>
                        <a:t>t=0</a:t>
                      </a:r>
                    </a:p>
                  </a:txBody>
                  <a:tcPr>
                    <a:solidFill>
                      <a:srgbClr val="FFFFFF"/>
                    </a:solidFill>
                  </a:tcPr>
                </a:tc>
                <a:tc>
                  <a:txBody>
                    <a:bodyPr/>
                    <a:lstStyle/>
                    <a:p>
                      <a:pPr algn="r">
                        <a:defRPr sz="900">
                          <a:solidFill>
                            <a:srgbClr val="2D2D3D"/>
                          </a:solidFill>
                          <a:latin typeface="Calibri"/>
                        </a:defRPr>
                      </a:pPr>
                      <a:r>
                        <a:t>125.0</a:t>
                      </a:r>
                    </a:p>
                  </a:txBody>
                  <a:tcPr>
                    <a:solidFill>
                      <a:srgbClr val="FFFFFF"/>
                    </a:solidFill>
                  </a:tcPr>
                </a:tc>
                <a:tc>
                  <a:txBody>
                    <a:bodyPr/>
                    <a:lstStyle/>
                    <a:p>
                      <a:pPr algn="r">
                        <a:defRPr sz="900">
                          <a:solidFill>
                            <a:srgbClr val="2D2D3D"/>
                          </a:solidFill>
                          <a:latin typeface="Calibri"/>
                        </a:defRPr>
                      </a:pPr>
                      <a:r>
                        <a:t>100.0</a:t>
                      </a:r>
                    </a:p>
                  </a:txBody>
                  <a:tcPr>
                    <a:solidFill>
                      <a:srgbClr val="FFFFFF"/>
                    </a:solidFill>
                  </a:tcPr>
                </a:tc>
                <a:tc>
                  <a:txBody>
                    <a:bodyPr/>
                    <a:lstStyle/>
                    <a:p>
                      <a:pPr algn="r">
                        <a:defRPr sz="900">
                          <a:solidFill>
                            <a:srgbClr val="2D2D3D"/>
                          </a:solidFill>
                          <a:latin typeface="Calibri"/>
                        </a:defRPr>
                      </a:pPr>
                      <a:r>
                        <a:t>100.0</a:t>
                      </a:r>
                    </a:p>
                  </a:txBody>
                  <a:tcPr>
                    <a:solidFill>
                      <a:srgbClr val="FFFFFF"/>
                    </a:solidFill>
                  </a:tcPr>
                </a:tc>
                <a:tc>
                  <a:txBody>
                    <a:bodyPr/>
                    <a:lstStyle/>
                    <a:p>
                      <a:pPr algn="r">
                        <a:defRPr sz="900">
                          <a:solidFill>
                            <a:srgbClr val="2D2D3D"/>
                          </a:solidFill>
                          <a:latin typeface="Calibri"/>
                        </a:defRPr>
                      </a:pPr>
                      <a:r>
                        <a:t>0.80</a:t>
                      </a:r>
                    </a:p>
                  </a:txBody>
                  <a:tcPr>
                    <a:solidFill>
                      <a:srgbClr val="FFFFFF"/>
                    </a:solidFill>
                  </a:tcPr>
                </a:tc>
                <a:tc>
                  <a:txBody>
                    <a:bodyPr/>
                    <a:lstStyle/>
                    <a:p>
                      <a:pPr algn="r">
                        <a:defRPr sz="900">
                          <a:solidFill>
                            <a:srgbClr val="2D2D3D"/>
                          </a:solidFill>
                          <a:latin typeface="Calibri"/>
                        </a:defRPr>
                      </a:pPr>
                      <a:r>
                        <a:t>911bp</a:t>
                      </a:r>
                    </a:p>
                  </a:txBody>
                  <a:tcPr>
                    <a:solidFill>
                      <a:srgbClr val="FFFFFF"/>
                    </a:solidFill>
                  </a:tcPr>
                </a:tc>
                <a:tc>
                  <a:txBody>
                    <a:bodyPr/>
                    <a:lstStyle/>
                    <a:p>
                      <a:pPr algn="r">
                        <a:defRPr sz="900">
                          <a:solidFill>
                            <a:srgbClr val="2D2D3D"/>
                          </a:solidFill>
                          <a:latin typeface="Calibri"/>
                        </a:defRPr>
                      </a:pPr>
                      <a:r>
                        <a:t>30%</a:t>
                      </a:r>
                    </a:p>
                  </a:txBody>
                  <a:tcPr>
                    <a:solidFill>
                      <a:srgbClr val="FFFFFF"/>
                    </a:solidFill>
                  </a:tcPr>
                </a:tc>
                <a:tc>
                  <a:txBody>
                    <a:bodyPr/>
                    <a:lstStyle/>
                    <a:p>
                      <a:pPr algn="r">
                        <a:defRPr sz="900">
                          <a:solidFill>
                            <a:srgbClr val="2D2D3D"/>
                          </a:solidFill>
                          <a:latin typeface="Calibri"/>
                        </a:defRPr>
                      </a:pPr>
                      <a:r>
                        <a:t>-1.10</a:t>
                      </a:r>
                    </a:p>
                  </a:txBody>
                  <a:tcPr>
                    <a:solidFill>
                      <a:srgbClr val="FFFFFF"/>
                    </a:solidFill>
                  </a:tcPr>
                </a:tc>
              </a:tr>
              <a:tr h="320039">
                <a:tc>
                  <a:txBody>
                    <a:bodyPr/>
                    <a:lstStyle/>
                    <a:p>
                      <a:pPr algn="l">
                        <a:defRPr sz="900">
                          <a:solidFill>
                            <a:srgbClr val="2D2D3D"/>
                          </a:solidFill>
                          <a:latin typeface="Calibri"/>
                        </a:defRPr>
                      </a:pPr>
                      <a:r>
                        <a:t>t=0.5</a:t>
                      </a:r>
                    </a:p>
                  </a:txBody>
                  <a:tcPr>
                    <a:solidFill>
                      <a:srgbClr val="E8EBF5"/>
                    </a:solidFill>
                  </a:tcPr>
                </a:tc>
                <a:tc>
                  <a:txBody>
                    <a:bodyPr/>
                    <a:lstStyle/>
                    <a:p>
                      <a:pPr algn="r">
                        <a:defRPr sz="900">
                          <a:solidFill>
                            <a:srgbClr val="2D2D3D"/>
                          </a:solidFill>
                          <a:latin typeface="Calibri"/>
                        </a:defRPr>
                      </a:pPr>
                      <a:r>
                        <a:t>112.4</a:t>
                      </a:r>
                    </a:p>
                  </a:txBody>
                  <a:tcPr>
                    <a:solidFill>
                      <a:srgbClr val="E8EBF5"/>
                    </a:solidFill>
                  </a:tcPr>
                </a:tc>
                <a:tc>
                  <a:txBody>
                    <a:bodyPr/>
                    <a:lstStyle/>
                    <a:p>
                      <a:pPr algn="r">
                        <a:defRPr sz="900">
                          <a:solidFill>
                            <a:srgbClr val="2D2D3D"/>
                          </a:solidFill>
                          <a:latin typeface="Calibri"/>
                        </a:defRPr>
                      </a:pPr>
                      <a:r>
                        <a:t>100.0</a:t>
                      </a:r>
                    </a:p>
                  </a:txBody>
                  <a:tcPr>
                    <a:solidFill>
                      <a:srgbClr val="E8EBF5"/>
                    </a:solidFill>
                  </a:tcPr>
                </a:tc>
                <a:tc>
                  <a:txBody>
                    <a:bodyPr/>
                    <a:lstStyle/>
                    <a:p>
                      <a:pPr algn="r">
                        <a:defRPr sz="900">
                          <a:solidFill>
                            <a:srgbClr val="2D2D3D"/>
                          </a:solidFill>
                          <a:latin typeface="Calibri"/>
                        </a:defRPr>
                      </a:pPr>
                      <a:r>
                        <a:t>104.2</a:t>
                      </a:r>
                    </a:p>
                  </a:txBody>
                  <a:tcPr>
                    <a:solidFill>
                      <a:srgbClr val="E8EBF5"/>
                    </a:solidFill>
                  </a:tcPr>
                </a:tc>
                <a:tc>
                  <a:txBody>
                    <a:bodyPr/>
                    <a:lstStyle/>
                    <a:p>
                      <a:pPr algn="r">
                        <a:defRPr sz="900">
                          <a:solidFill>
                            <a:srgbClr val="2D2D3D"/>
                          </a:solidFill>
                          <a:latin typeface="Calibri"/>
                        </a:defRPr>
                      </a:pPr>
                      <a:r>
                        <a:t>0.93</a:t>
                      </a:r>
                    </a:p>
                  </a:txBody>
                  <a:tcPr>
                    <a:solidFill>
                      <a:srgbClr val="E8EBF5"/>
                    </a:solidFill>
                  </a:tcPr>
                </a:tc>
                <a:tc>
                  <a:txBody>
                    <a:bodyPr/>
                    <a:lstStyle/>
                    <a:p>
                      <a:pPr algn="r">
                        <a:defRPr sz="900">
                          <a:solidFill>
                            <a:srgbClr val="2D2D3D"/>
                          </a:solidFill>
                          <a:latin typeface="Calibri"/>
                        </a:defRPr>
                      </a:pPr>
                      <a:r>
                        <a:t>1225bp</a:t>
                      </a:r>
                    </a:p>
                  </a:txBody>
                  <a:tcPr>
                    <a:solidFill>
                      <a:srgbClr val="E8EBF5"/>
                    </a:solidFill>
                  </a:tcPr>
                </a:tc>
                <a:tc>
                  <a:txBody>
                    <a:bodyPr/>
                    <a:lstStyle/>
                    <a:p>
                      <a:pPr algn="r">
                        <a:defRPr sz="900">
                          <a:solidFill>
                            <a:srgbClr val="2D2D3D"/>
                          </a:solidFill>
                          <a:latin typeface="Calibri"/>
                        </a:defRPr>
                      </a:pPr>
                      <a:r>
                        <a:t>29%</a:t>
                      </a:r>
                    </a:p>
                  </a:txBody>
                  <a:tcPr>
                    <a:solidFill>
                      <a:srgbClr val="E8EBF5"/>
                    </a:solidFill>
                  </a:tcPr>
                </a:tc>
                <a:tc>
                  <a:txBody>
                    <a:bodyPr/>
                    <a:lstStyle/>
                    <a:p>
                      <a:pPr algn="r">
                        <a:defRPr sz="900">
                          <a:solidFill>
                            <a:srgbClr val="2D2D3D"/>
                          </a:solidFill>
                          <a:latin typeface="Calibri"/>
                        </a:defRPr>
                      </a:pPr>
                      <a:r>
                        <a:t>-1.30</a:t>
                      </a:r>
                    </a:p>
                  </a:txBody>
                  <a:tcPr>
                    <a:solidFill>
                      <a:srgbClr val="E8EBF5"/>
                    </a:solidFill>
                  </a:tcPr>
                </a:tc>
              </a:tr>
              <a:tr h="320039">
                <a:tc>
                  <a:txBody>
                    <a:bodyPr/>
                    <a:lstStyle/>
                    <a:p>
                      <a:pPr algn="l">
                        <a:defRPr sz="900">
                          <a:solidFill>
                            <a:srgbClr val="2D2D3D"/>
                          </a:solidFill>
                          <a:latin typeface="Calibri"/>
                        </a:defRPr>
                      </a:pPr>
                      <a:r>
                        <a:t>t=1.0</a:t>
                      </a:r>
                    </a:p>
                  </a:txBody>
                  <a:tcPr>
                    <a:solidFill>
                      <a:srgbClr val="FFFFFF"/>
                    </a:solidFill>
                  </a:tcPr>
                </a:tc>
                <a:tc>
                  <a:txBody>
                    <a:bodyPr/>
                    <a:lstStyle/>
                    <a:p>
                      <a:pPr algn="r">
                        <a:defRPr sz="900">
                          <a:solidFill>
                            <a:srgbClr val="2D2D3D"/>
                          </a:solidFill>
                          <a:latin typeface="Calibri"/>
                        </a:defRPr>
                      </a:pPr>
                      <a:r>
                        <a:t>121.3</a:t>
                      </a:r>
                    </a:p>
                  </a:txBody>
                  <a:tcPr>
                    <a:solidFill>
                      <a:srgbClr val="FFFFFF"/>
                    </a:solidFill>
                  </a:tcPr>
                </a:tc>
                <a:tc>
                  <a:txBody>
                    <a:bodyPr/>
                    <a:lstStyle/>
                    <a:p>
                      <a:pPr algn="r">
                        <a:defRPr sz="900">
                          <a:solidFill>
                            <a:srgbClr val="2D2D3D"/>
                          </a:solidFill>
                          <a:latin typeface="Calibri"/>
                        </a:defRPr>
                      </a:pPr>
                      <a:r>
                        <a:t>100.0</a:t>
                      </a:r>
                    </a:p>
                  </a:txBody>
                  <a:tcPr>
                    <a:solidFill>
                      <a:srgbClr val="FFFFFF"/>
                    </a:solidFill>
                  </a:tcPr>
                </a:tc>
                <a:tc>
                  <a:txBody>
                    <a:bodyPr/>
                    <a:lstStyle/>
                    <a:p>
                      <a:pPr algn="r">
                        <a:defRPr sz="900">
                          <a:solidFill>
                            <a:srgbClr val="2D2D3D"/>
                          </a:solidFill>
                          <a:latin typeface="Calibri"/>
                        </a:defRPr>
                      </a:pPr>
                      <a:r>
                        <a:t>108.7</a:t>
                      </a:r>
                    </a:p>
                  </a:txBody>
                  <a:tcPr>
                    <a:solidFill>
                      <a:srgbClr val="FFFFFF"/>
                    </a:solidFill>
                  </a:tcPr>
                </a:tc>
                <a:tc>
                  <a:txBody>
                    <a:bodyPr/>
                    <a:lstStyle/>
                    <a:p>
                      <a:pPr algn="r">
                        <a:defRPr sz="900">
                          <a:solidFill>
                            <a:srgbClr val="2D2D3D"/>
                          </a:solidFill>
                          <a:latin typeface="Calibri"/>
                        </a:defRPr>
                      </a:pPr>
                      <a:r>
                        <a:t>0.90</a:t>
                      </a:r>
                    </a:p>
                  </a:txBody>
                  <a:tcPr>
                    <a:solidFill>
                      <a:srgbClr val="FFFFFF"/>
                    </a:solidFill>
                  </a:tcPr>
                </a:tc>
                <a:tc>
                  <a:txBody>
                    <a:bodyPr/>
                    <a:lstStyle/>
                    <a:p>
                      <a:pPr algn="r">
                        <a:defRPr sz="900">
                          <a:solidFill>
                            <a:srgbClr val="2D2D3D"/>
                          </a:solidFill>
                          <a:latin typeface="Calibri"/>
                        </a:defRPr>
                      </a:pPr>
                      <a:r>
                        <a:t>1143bp</a:t>
                      </a:r>
                    </a:p>
                  </a:txBody>
                  <a:tcPr>
                    <a:solidFill>
                      <a:srgbClr val="FFFFFF"/>
                    </a:solidFill>
                  </a:tcPr>
                </a:tc>
                <a:tc>
                  <a:txBody>
                    <a:bodyPr/>
                    <a:lstStyle/>
                    <a:p>
                      <a:pPr algn="r">
                        <a:defRPr sz="900">
                          <a:solidFill>
                            <a:srgbClr val="2D2D3D"/>
                          </a:solidFill>
                          <a:latin typeface="Calibri"/>
                        </a:defRPr>
                      </a:pPr>
                      <a:r>
                        <a:t>28%</a:t>
                      </a:r>
                    </a:p>
                  </a:txBody>
                  <a:tcPr>
                    <a:solidFill>
                      <a:srgbClr val="FFFFFF"/>
                    </a:solidFill>
                  </a:tcPr>
                </a:tc>
                <a:tc>
                  <a:txBody>
                    <a:bodyPr/>
                    <a:lstStyle/>
                    <a:p>
                      <a:pPr algn="r">
                        <a:defRPr sz="900">
                          <a:solidFill>
                            <a:srgbClr val="2D2D3D"/>
                          </a:solidFill>
                          <a:latin typeface="Calibri"/>
                        </a:defRPr>
                      </a:pPr>
                      <a:r>
                        <a:t>-1.25</a:t>
                      </a:r>
                    </a:p>
                  </a:txBody>
                  <a:tcPr>
                    <a:solidFill>
                      <a:srgbClr val="FFFFFF"/>
                    </a:solidFill>
                  </a:tcPr>
                </a:tc>
              </a:tr>
              <a:tr h="320039">
                <a:tc>
                  <a:txBody>
                    <a:bodyPr/>
                    <a:lstStyle/>
                    <a:p>
                      <a:pPr algn="l">
                        <a:defRPr sz="900">
                          <a:solidFill>
                            <a:srgbClr val="2D2D3D"/>
                          </a:solidFill>
                          <a:latin typeface="Calibri"/>
                        </a:defRPr>
                      </a:pPr>
                      <a:r>
                        <a:t>t=1.5</a:t>
                      </a:r>
                    </a:p>
                  </a:txBody>
                  <a:tcPr>
                    <a:solidFill>
                      <a:srgbClr val="E8EBF5"/>
                    </a:solidFill>
                  </a:tcPr>
                </a:tc>
                <a:tc>
                  <a:txBody>
                    <a:bodyPr/>
                    <a:lstStyle/>
                    <a:p>
                      <a:pPr algn="r">
                        <a:defRPr sz="900">
                          <a:solidFill>
                            <a:srgbClr val="2D2D3D"/>
                          </a:solidFill>
                          <a:latin typeface="Calibri"/>
                        </a:defRPr>
                      </a:pPr>
                      <a:r>
                        <a:t>92.3</a:t>
                      </a:r>
                    </a:p>
                  </a:txBody>
                  <a:tcPr>
                    <a:solidFill>
                      <a:srgbClr val="E8EBF5"/>
                    </a:solidFill>
                  </a:tcPr>
                </a:tc>
                <a:tc>
                  <a:txBody>
                    <a:bodyPr/>
                    <a:lstStyle/>
                    <a:p>
                      <a:pPr algn="r">
                        <a:defRPr sz="900">
                          <a:solidFill>
                            <a:srgbClr val="2D2D3D"/>
                          </a:solidFill>
                          <a:latin typeface="Calibri"/>
                        </a:defRPr>
                      </a:pPr>
                      <a:r>
                        <a:t>100.0</a:t>
                      </a:r>
                    </a:p>
                  </a:txBody>
                  <a:tcPr>
                    <a:solidFill>
                      <a:srgbClr val="E8EBF5"/>
                    </a:solidFill>
                  </a:tcPr>
                </a:tc>
                <a:tc>
                  <a:txBody>
                    <a:bodyPr/>
                    <a:lstStyle/>
                    <a:p>
                      <a:pPr algn="r">
                        <a:defRPr sz="900">
                          <a:solidFill>
                            <a:srgbClr val="2D2D3D"/>
                          </a:solidFill>
                          <a:latin typeface="Calibri"/>
                        </a:defRPr>
                      </a:pPr>
                      <a:r>
                        <a:t>113.3</a:t>
                      </a:r>
                    </a:p>
                  </a:txBody>
                  <a:tcPr>
                    <a:solidFill>
                      <a:srgbClr val="E8EBF5"/>
                    </a:solidFill>
                  </a:tcPr>
                </a:tc>
                <a:tc>
                  <a:txBody>
                    <a:bodyPr/>
                    <a:lstStyle/>
                    <a:p>
                      <a:pPr algn="r">
                        <a:defRPr sz="900">
                          <a:solidFill>
                            <a:srgbClr val="2D2D3D"/>
                          </a:solidFill>
                          <a:latin typeface="Calibri"/>
                        </a:defRPr>
                      </a:pPr>
                      <a:r>
                        <a:t>1.23</a:t>
                      </a:r>
                    </a:p>
                  </a:txBody>
                  <a:tcPr>
                    <a:solidFill>
                      <a:srgbClr val="E8EBF5"/>
                    </a:solidFill>
                  </a:tcPr>
                </a:tc>
                <a:tc>
                  <a:txBody>
                    <a:bodyPr/>
                    <a:lstStyle/>
                    <a:p>
                      <a:pPr algn="r">
                        <a:defRPr sz="900">
                          <a:solidFill>
                            <a:srgbClr val="2D2D3D"/>
                          </a:solidFill>
                          <a:latin typeface="Calibri"/>
                        </a:defRPr>
                      </a:pPr>
                      <a:r>
                        <a:t>2144bp</a:t>
                      </a:r>
                    </a:p>
                  </a:txBody>
                  <a:tcPr>
                    <a:solidFill>
                      <a:srgbClr val="E8EBF5"/>
                    </a:solidFill>
                  </a:tcPr>
                </a:tc>
                <a:tc>
                  <a:txBody>
                    <a:bodyPr/>
                    <a:lstStyle/>
                    <a:p>
                      <a:pPr algn="r">
                        <a:defRPr sz="900">
                          <a:solidFill>
                            <a:srgbClr val="2D2D3D"/>
                          </a:solidFill>
                          <a:latin typeface="Calibri"/>
                        </a:defRPr>
                      </a:pPr>
                      <a:r>
                        <a:t>26%</a:t>
                      </a:r>
                    </a:p>
                  </a:txBody>
                  <a:tcPr>
                    <a:solidFill>
                      <a:srgbClr val="E8EBF5"/>
                    </a:solidFill>
                  </a:tcPr>
                </a:tc>
                <a:tc>
                  <a:txBody>
                    <a:bodyPr/>
                    <a:lstStyle/>
                    <a:p>
                      <a:pPr algn="r">
                        <a:defRPr sz="900">
                          <a:solidFill>
                            <a:srgbClr val="2D2D3D"/>
                          </a:solidFill>
                          <a:latin typeface="Calibri"/>
                        </a:defRPr>
                      </a:pPr>
                      <a:r>
                        <a:t>-1.75</a:t>
                      </a:r>
                    </a:p>
                  </a:txBody>
                  <a:tcPr>
                    <a:solidFill>
                      <a:srgbClr val="E8EBF5"/>
                    </a:solidFill>
                  </a:tcPr>
                </a:tc>
              </a:tr>
              <a:tr h="320039">
                <a:tc>
                  <a:txBody>
                    <a:bodyPr/>
                    <a:lstStyle/>
                    <a:p>
                      <a:pPr algn="l">
                        <a:defRPr sz="900">
                          <a:solidFill>
                            <a:srgbClr val="2D2D3D"/>
                          </a:solidFill>
                          <a:latin typeface="Calibri"/>
                        </a:defRPr>
                      </a:pPr>
                      <a:r>
                        <a:t>t=2.0</a:t>
                      </a:r>
                    </a:p>
                  </a:txBody>
                  <a:tcPr>
                    <a:solidFill>
                      <a:srgbClr val="FFFFFF"/>
                    </a:solidFill>
                  </a:tcPr>
                </a:tc>
                <a:tc>
                  <a:txBody>
                    <a:bodyPr/>
                    <a:lstStyle/>
                    <a:p>
                      <a:pPr algn="r">
                        <a:defRPr sz="900">
                          <a:solidFill>
                            <a:srgbClr val="2D2D3D"/>
                          </a:solidFill>
                          <a:latin typeface="Calibri"/>
                        </a:defRPr>
                      </a:pPr>
                      <a:r>
                        <a:t>70.3</a:t>
                      </a:r>
                    </a:p>
                  </a:txBody>
                  <a:tcPr>
                    <a:solidFill>
                      <a:srgbClr val="FFFFFF"/>
                    </a:solidFill>
                  </a:tcPr>
                </a:tc>
                <a:tc>
                  <a:txBody>
                    <a:bodyPr/>
                    <a:lstStyle/>
                    <a:p>
                      <a:pPr algn="r">
                        <a:defRPr sz="900">
                          <a:solidFill>
                            <a:srgbClr val="2D2D3D"/>
                          </a:solidFill>
                          <a:latin typeface="Calibri"/>
                        </a:defRPr>
                      </a:pPr>
                      <a:r>
                        <a:t>100.0</a:t>
                      </a:r>
                    </a:p>
                  </a:txBody>
                  <a:tcPr>
                    <a:solidFill>
                      <a:srgbClr val="FFFFFF"/>
                    </a:solidFill>
                  </a:tcPr>
                </a:tc>
                <a:tc>
                  <a:txBody>
                    <a:bodyPr/>
                    <a:lstStyle/>
                    <a:p>
                      <a:pPr algn="r">
                        <a:defRPr sz="900">
                          <a:solidFill>
                            <a:srgbClr val="2D2D3D"/>
                          </a:solidFill>
                          <a:latin typeface="Calibri"/>
                        </a:defRPr>
                      </a:pPr>
                      <a:r>
                        <a:t>118.1</a:t>
                      </a:r>
                    </a:p>
                  </a:txBody>
                  <a:tcPr>
                    <a:solidFill>
                      <a:srgbClr val="FFFFFF"/>
                    </a:solidFill>
                  </a:tcPr>
                </a:tc>
                <a:tc>
                  <a:txBody>
                    <a:bodyPr/>
                    <a:lstStyle/>
                    <a:p>
                      <a:pPr algn="r">
                        <a:defRPr sz="900">
                          <a:solidFill>
                            <a:srgbClr val="2D2D3D"/>
                          </a:solidFill>
                          <a:latin typeface="Calibri"/>
                        </a:defRPr>
                      </a:pPr>
                      <a:r>
                        <a:t>1.68</a:t>
                      </a:r>
                    </a:p>
                  </a:txBody>
                  <a:tcPr>
                    <a:solidFill>
                      <a:srgbClr val="FFFFFF"/>
                    </a:solidFill>
                  </a:tcPr>
                </a:tc>
                <a:tc>
                  <a:txBody>
                    <a:bodyPr/>
                    <a:lstStyle/>
                    <a:p>
                      <a:pPr algn="r">
                        <a:defRPr sz="900">
                          <a:solidFill>
                            <a:srgbClr val="2D2D3D"/>
                          </a:solidFill>
                          <a:latin typeface="Calibri"/>
                        </a:defRPr>
                      </a:pPr>
                      <a:r>
                        <a:t>4018bp</a:t>
                      </a:r>
                    </a:p>
                  </a:txBody>
                  <a:tcPr>
                    <a:solidFill>
                      <a:srgbClr val="FFFFFF"/>
                    </a:solidFill>
                  </a:tcPr>
                </a:tc>
                <a:tc>
                  <a:txBody>
                    <a:bodyPr/>
                    <a:lstStyle/>
                    <a:p>
                      <a:pPr algn="r">
                        <a:defRPr sz="900">
                          <a:solidFill>
                            <a:srgbClr val="2D2D3D"/>
                          </a:solidFill>
                          <a:latin typeface="Calibri"/>
                        </a:defRPr>
                      </a:pPr>
                      <a:r>
                        <a:t>25%</a:t>
                      </a:r>
                    </a:p>
                  </a:txBody>
                  <a:tcPr>
                    <a:solidFill>
                      <a:srgbClr val="FFFFFF"/>
                    </a:solidFill>
                  </a:tcPr>
                </a:tc>
                <a:tc>
                  <a:txBody>
                    <a:bodyPr/>
                    <a:lstStyle/>
                    <a:p>
                      <a:pPr algn="r">
                        <a:defRPr sz="900">
                          <a:solidFill>
                            <a:srgbClr val="2D2D3D"/>
                          </a:solidFill>
                          <a:latin typeface="Calibri"/>
                        </a:defRPr>
                      </a:pPr>
                      <a:r>
                        <a:t>-2.32</a:t>
                      </a:r>
                    </a:p>
                  </a:txBody>
                  <a:tcPr>
                    <a:solidFill>
                      <a:srgbClr val="FFFFFF"/>
                    </a:solidFill>
                  </a:tcPr>
                </a:tc>
              </a:tr>
              <a:tr h="320039">
                <a:tc>
                  <a:txBody>
                    <a:bodyPr/>
                    <a:lstStyle/>
                    <a:p>
                      <a:pPr algn="l">
                        <a:defRPr sz="900">
                          <a:solidFill>
                            <a:srgbClr val="2D2D3D"/>
                          </a:solidFill>
                          <a:latin typeface="Calibri"/>
                        </a:defRPr>
                      </a:pPr>
                      <a:r>
                        <a:t>t=2.5</a:t>
                      </a:r>
                    </a:p>
                  </a:txBody>
                  <a:tcPr>
                    <a:solidFill>
                      <a:srgbClr val="E8EBF5"/>
                    </a:solidFill>
                  </a:tcPr>
                </a:tc>
                <a:tc>
                  <a:txBody>
                    <a:bodyPr/>
                    <a:lstStyle/>
                    <a:p>
                      <a:pPr algn="r">
                        <a:defRPr sz="900">
                          <a:solidFill>
                            <a:srgbClr val="2D2D3D"/>
                          </a:solidFill>
                          <a:latin typeface="Calibri"/>
                        </a:defRPr>
                      </a:pPr>
                      <a:r>
                        <a:t>54.9</a:t>
                      </a:r>
                    </a:p>
                  </a:txBody>
                  <a:tcPr>
                    <a:solidFill>
                      <a:srgbClr val="E8EBF5"/>
                    </a:solidFill>
                  </a:tcPr>
                </a:tc>
                <a:tc>
                  <a:txBody>
                    <a:bodyPr/>
                    <a:lstStyle/>
                    <a:p>
                      <a:pPr algn="r">
                        <a:defRPr sz="900">
                          <a:solidFill>
                            <a:srgbClr val="2D2D3D"/>
                          </a:solidFill>
                          <a:latin typeface="Calibri"/>
                        </a:defRPr>
                      </a:pPr>
                      <a:r>
                        <a:t>100.0</a:t>
                      </a:r>
                    </a:p>
                  </a:txBody>
                  <a:tcPr>
                    <a:solidFill>
                      <a:srgbClr val="E8EBF5"/>
                    </a:solidFill>
                  </a:tcPr>
                </a:tc>
                <a:tc>
                  <a:txBody>
                    <a:bodyPr/>
                    <a:lstStyle/>
                    <a:p>
                      <a:pPr algn="r">
                        <a:defRPr sz="900">
                          <a:solidFill>
                            <a:srgbClr val="2D2D3D"/>
                          </a:solidFill>
                          <a:latin typeface="Calibri"/>
                        </a:defRPr>
                      </a:pPr>
                      <a:r>
                        <a:t>123.1</a:t>
                      </a:r>
                    </a:p>
                  </a:txBody>
                  <a:tcPr>
                    <a:solidFill>
                      <a:srgbClr val="E8EBF5"/>
                    </a:solidFill>
                  </a:tcPr>
                </a:tc>
                <a:tc>
                  <a:txBody>
                    <a:bodyPr/>
                    <a:lstStyle/>
                    <a:p>
                      <a:pPr algn="r">
                        <a:defRPr sz="900">
                          <a:solidFill>
                            <a:srgbClr val="2D2D3D"/>
                          </a:solidFill>
                          <a:latin typeface="Calibri"/>
                        </a:defRPr>
                      </a:pPr>
                      <a:r>
                        <a:t>2.24</a:t>
                      </a:r>
                    </a:p>
                  </a:txBody>
                  <a:tcPr>
                    <a:solidFill>
                      <a:srgbClr val="E8EBF5"/>
                    </a:solidFill>
                  </a:tcPr>
                </a:tc>
                <a:tc>
                  <a:txBody>
                    <a:bodyPr/>
                    <a:lstStyle/>
                    <a:p>
                      <a:pPr algn="r">
                        <a:defRPr sz="900">
                          <a:solidFill>
                            <a:srgbClr val="2D2D3D"/>
                          </a:solidFill>
                          <a:latin typeface="Calibri"/>
                        </a:defRPr>
                      </a:pPr>
                      <a:r>
                        <a:t>7152bp</a:t>
                      </a:r>
                    </a:p>
                  </a:txBody>
                  <a:tcPr>
                    <a:solidFill>
                      <a:srgbClr val="E8EBF5"/>
                    </a:solidFill>
                  </a:tcPr>
                </a:tc>
                <a:tc>
                  <a:txBody>
                    <a:bodyPr/>
                    <a:lstStyle/>
                    <a:p>
                      <a:pPr algn="r">
                        <a:defRPr sz="900">
                          <a:solidFill>
                            <a:srgbClr val="2D2D3D"/>
                          </a:solidFill>
                          <a:latin typeface="Calibri"/>
                        </a:defRPr>
                      </a:pPr>
                      <a:r>
                        <a:t>24%</a:t>
                      </a:r>
                    </a:p>
                  </a:txBody>
                  <a:tcPr>
                    <a:solidFill>
                      <a:srgbClr val="E8EBF5"/>
                    </a:solidFill>
                  </a:tcPr>
                </a:tc>
                <a:tc>
                  <a:txBody>
                    <a:bodyPr/>
                    <a:lstStyle/>
                    <a:p>
                      <a:pPr algn="r">
                        <a:defRPr sz="900">
                          <a:solidFill>
                            <a:srgbClr val="2D2D3D"/>
                          </a:solidFill>
                          <a:latin typeface="Calibri"/>
                        </a:defRPr>
                      </a:pPr>
                      <a:r>
                        <a:t>-2.97</a:t>
                      </a:r>
                    </a:p>
                  </a:txBody>
                  <a:tcPr>
                    <a:solidFill>
                      <a:srgbClr val="E8EBF5"/>
                    </a:solidFill>
                  </a:tcPr>
                </a:tc>
              </a:tr>
              <a:tr h="320039">
                <a:tc>
                  <a:txBody>
                    <a:bodyPr/>
                    <a:lstStyle/>
                    <a:p>
                      <a:pPr algn="l">
                        <a:defRPr sz="900">
                          <a:solidFill>
                            <a:srgbClr val="2D2D3D"/>
                          </a:solidFill>
                          <a:latin typeface="Calibri"/>
                        </a:defRPr>
                      </a:pPr>
                      <a:r>
                        <a:t>t=3.0</a:t>
                      </a:r>
                    </a:p>
                  </a:txBody>
                  <a:tcPr>
                    <a:solidFill>
                      <a:srgbClr val="FFFFFF"/>
                    </a:solidFill>
                  </a:tcPr>
                </a:tc>
                <a:tc>
                  <a:txBody>
                    <a:bodyPr/>
                    <a:lstStyle/>
                    <a:p>
                      <a:pPr algn="r">
                        <a:defRPr sz="900">
                          <a:solidFill>
                            <a:srgbClr val="2D2D3D"/>
                          </a:solidFill>
                          <a:latin typeface="Calibri"/>
                        </a:defRPr>
                      </a:pPr>
                      <a:r>
                        <a:t>42.7</a:t>
                      </a:r>
                    </a:p>
                  </a:txBody>
                  <a:tcPr>
                    <a:solidFill>
                      <a:srgbClr val="FFFFFF"/>
                    </a:solidFill>
                  </a:tcPr>
                </a:tc>
                <a:tc>
                  <a:txBody>
                    <a:bodyPr/>
                    <a:lstStyle/>
                    <a:p>
                      <a:pPr algn="r">
                        <a:defRPr sz="900">
                          <a:solidFill>
                            <a:srgbClr val="2D2D3D"/>
                          </a:solidFill>
                          <a:latin typeface="Calibri"/>
                        </a:defRPr>
                      </a:pPr>
                      <a:r>
                        <a:t>100.0</a:t>
                      </a:r>
                    </a:p>
                  </a:txBody>
                  <a:tcPr>
                    <a:solidFill>
                      <a:srgbClr val="FFFFFF"/>
                    </a:solidFill>
                  </a:tcPr>
                </a:tc>
                <a:tc>
                  <a:txBody>
                    <a:bodyPr/>
                    <a:lstStyle/>
                    <a:p>
                      <a:pPr algn="r">
                        <a:defRPr sz="900">
                          <a:solidFill>
                            <a:srgbClr val="2D2D3D"/>
                          </a:solidFill>
                          <a:latin typeface="Calibri"/>
                        </a:defRPr>
                      </a:pPr>
                      <a:r>
                        <a:t>128.4</a:t>
                      </a:r>
                    </a:p>
                  </a:txBody>
                  <a:tcPr>
                    <a:solidFill>
                      <a:srgbClr val="FFFFFF"/>
                    </a:solidFill>
                  </a:tcPr>
                </a:tc>
                <a:tc>
                  <a:txBody>
                    <a:bodyPr/>
                    <a:lstStyle/>
                    <a:p>
                      <a:pPr algn="r">
                        <a:defRPr sz="900">
                          <a:solidFill>
                            <a:srgbClr val="2D2D3D"/>
                          </a:solidFill>
                          <a:latin typeface="Calibri"/>
                        </a:defRPr>
                      </a:pPr>
                      <a:r>
                        <a:t>3.01</a:t>
                      </a:r>
                    </a:p>
                  </a:txBody>
                  <a:tcPr>
                    <a:solidFill>
                      <a:srgbClr val="FFFFFF"/>
                    </a:solidFill>
                  </a:tcPr>
                </a:tc>
                <a:tc>
                  <a:txBody>
                    <a:bodyPr/>
                    <a:lstStyle/>
                    <a:p>
                      <a:pPr algn="r">
                        <a:defRPr sz="900">
                          <a:solidFill>
                            <a:srgbClr val="2D2D3D"/>
                          </a:solidFill>
                          <a:latin typeface="Calibri"/>
                        </a:defRPr>
                      </a:pPr>
                      <a:r>
                        <a:t>12863bp</a:t>
                      </a:r>
                    </a:p>
                  </a:txBody>
                  <a:tcPr>
                    <a:solidFill>
                      <a:srgbClr val="FFFFFF"/>
                    </a:solidFill>
                  </a:tcPr>
                </a:tc>
                <a:tc>
                  <a:txBody>
                    <a:bodyPr/>
                    <a:lstStyle/>
                    <a:p>
                      <a:pPr algn="r">
                        <a:defRPr sz="900">
                          <a:solidFill>
                            <a:srgbClr val="2D2D3D"/>
                          </a:solidFill>
                          <a:latin typeface="Calibri"/>
                        </a:defRPr>
                      </a:pPr>
                      <a:r>
                        <a:t>23%</a:t>
                      </a:r>
                    </a:p>
                  </a:txBody>
                  <a:tcPr>
                    <a:solidFill>
                      <a:srgbClr val="FFFFFF"/>
                    </a:solidFill>
                  </a:tcPr>
                </a:tc>
                <a:tc>
                  <a:txBody>
                    <a:bodyPr/>
                    <a:lstStyle/>
                    <a:p>
                      <a:pPr algn="r">
                        <a:defRPr sz="900">
                          <a:solidFill>
                            <a:srgbClr val="2D2D3D"/>
                          </a:solidFill>
                          <a:latin typeface="Calibri"/>
                        </a:defRPr>
                      </a:pPr>
                      <a:r>
                        <a:t>-3.82</a:t>
                      </a:r>
                    </a:p>
                  </a:txBody>
                  <a:tcPr>
                    <a:solidFill>
                      <a:srgbClr val="FFFFFF"/>
                    </a:solidFill>
                  </a:tcPr>
                </a:tc>
              </a:tr>
              <a:tr h="320039">
                <a:tc>
                  <a:txBody>
                    <a:bodyPr/>
                    <a:lstStyle/>
                    <a:p>
                      <a:pPr algn="l">
                        <a:defRPr sz="900">
                          <a:solidFill>
                            <a:srgbClr val="2D2D3D"/>
                          </a:solidFill>
                          <a:latin typeface="Calibri"/>
                        </a:defRPr>
                      </a:pPr>
                      <a:r>
                        <a:t>t=3.5</a:t>
                      </a:r>
                    </a:p>
                  </a:txBody>
                  <a:tcPr>
                    <a:solidFill>
                      <a:srgbClr val="E8EBF5"/>
                    </a:solidFill>
                  </a:tcPr>
                </a:tc>
                <a:tc>
                  <a:txBody>
                    <a:bodyPr/>
                    <a:lstStyle/>
                    <a:p>
                      <a:pPr algn="r">
                        <a:defRPr sz="900">
                          <a:solidFill>
                            <a:srgbClr val="2D2D3D"/>
                          </a:solidFill>
                          <a:latin typeface="Calibri"/>
                        </a:defRPr>
                      </a:pPr>
                      <a:r>
                        <a:t>31.5</a:t>
                      </a:r>
                    </a:p>
                  </a:txBody>
                  <a:tcPr>
                    <a:solidFill>
                      <a:srgbClr val="E8EBF5"/>
                    </a:solidFill>
                  </a:tcPr>
                </a:tc>
                <a:tc>
                  <a:txBody>
                    <a:bodyPr/>
                    <a:lstStyle/>
                    <a:p>
                      <a:pPr algn="r">
                        <a:defRPr sz="900">
                          <a:solidFill>
                            <a:srgbClr val="2D2D3D"/>
                          </a:solidFill>
                          <a:latin typeface="Calibri"/>
                        </a:defRPr>
                      </a:pPr>
                      <a:r>
                        <a:t>100.0</a:t>
                      </a:r>
                    </a:p>
                  </a:txBody>
                  <a:tcPr>
                    <a:solidFill>
                      <a:srgbClr val="E8EBF5"/>
                    </a:solidFill>
                  </a:tcPr>
                </a:tc>
                <a:tc>
                  <a:txBody>
                    <a:bodyPr/>
                    <a:lstStyle/>
                    <a:p>
                      <a:pPr algn="r">
                        <a:defRPr sz="900">
                          <a:solidFill>
                            <a:srgbClr val="2D2D3D"/>
                          </a:solidFill>
                          <a:latin typeface="Calibri"/>
                        </a:defRPr>
                      </a:pPr>
                      <a:r>
                        <a:t>133.8</a:t>
                      </a:r>
                    </a:p>
                  </a:txBody>
                  <a:tcPr>
                    <a:solidFill>
                      <a:srgbClr val="E8EBF5"/>
                    </a:solidFill>
                  </a:tcPr>
                </a:tc>
                <a:tc>
                  <a:txBody>
                    <a:bodyPr/>
                    <a:lstStyle/>
                    <a:p>
                      <a:pPr algn="r">
                        <a:defRPr sz="900">
                          <a:solidFill>
                            <a:srgbClr val="2D2D3D"/>
                          </a:solidFill>
                          <a:latin typeface="Calibri"/>
                        </a:defRPr>
                      </a:pPr>
                      <a:r>
                        <a:t>4.25</a:t>
                      </a:r>
                    </a:p>
                  </a:txBody>
                  <a:tcPr>
                    <a:solidFill>
                      <a:srgbClr val="E8EBF5"/>
                    </a:solidFill>
                  </a:tcPr>
                </a:tc>
                <a:tc>
                  <a:txBody>
                    <a:bodyPr/>
                    <a:lstStyle/>
                    <a:p>
                      <a:pPr algn="r">
                        <a:defRPr sz="900">
                          <a:solidFill>
                            <a:srgbClr val="2D2D3D"/>
                          </a:solidFill>
                          <a:latin typeface="Calibri"/>
                        </a:defRPr>
                      </a:pPr>
                      <a:r>
                        <a:t>25697bp</a:t>
                      </a:r>
                    </a:p>
                  </a:txBody>
                  <a:tcPr>
                    <a:solidFill>
                      <a:srgbClr val="E8EBF5"/>
                    </a:solidFill>
                  </a:tcPr>
                </a:tc>
                <a:tc>
                  <a:txBody>
                    <a:bodyPr/>
                    <a:lstStyle/>
                    <a:p>
                      <a:pPr algn="r">
                        <a:defRPr sz="900">
                          <a:solidFill>
                            <a:srgbClr val="2D2D3D"/>
                          </a:solidFill>
                          <a:latin typeface="Calibri"/>
                        </a:defRPr>
                      </a:pPr>
                      <a:r>
                        <a:t>22%</a:t>
                      </a:r>
                    </a:p>
                  </a:txBody>
                  <a:tcPr>
                    <a:solidFill>
                      <a:srgbClr val="E8EBF5"/>
                    </a:solidFill>
                  </a:tcPr>
                </a:tc>
                <a:tc>
                  <a:txBody>
                    <a:bodyPr/>
                    <a:lstStyle/>
                    <a:p>
                      <a:pPr algn="r">
                        <a:defRPr sz="900">
                          <a:solidFill>
                            <a:srgbClr val="2D2D3D"/>
                          </a:solidFill>
                          <a:latin typeface="Calibri"/>
                        </a:defRPr>
                      </a:pPr>
                      <a:r>
                        <a:t>-5.10</a:t>
                      </a:r>
                    </a:p>
                  </a:txBody>
                  <a:tcPr>
                    <a:solidFill>
                      <a:srgbClr val="E8EBF5"/>
                    </a:solidFill>
                  </a:tcPr>
                </a:tc>
              </a:tr>
              <a:tr h="320039">
                <a:tc>
                  <a:txBody>
                    <a:bodyPr/>
                    <a:lstStyle/>
                    <a:p>
                      <a:pPr algn="l">
                        <a:defRPr sz="900">
                          <a:solidFill>
                            <a:srgbClr val="2D2D3D"/>
                          </a:solidFill>
                          <a:latin typeface="Calibri"/>
                        </a:defRPr>
                      </a:pPr>
                      <a:r>
                        <a:t>t=4.0</a:t>
                      </a:r>
                    </a:p>
                  </a:txBody>
                  <a:tcPr>
                    <a:solidFill>
                      <a:srgbClr val="FFFFFF"/>
                    </a:solidFill>
                  </a:tcPr>
                </a:tc>
                <a:tc>
                  <a:txBody>
                    <a:bodyPr/>
                    <a:lstStyle/>
                    <a:p>
                      <a:pPr algn="r">
                        <a:defRPr sz="900">
                          <a:solidFill>
                            <a:srgbClr val="2D2D3D"/>
                          </a:solidFill>
                          <a:latin typeface="Calibri"/>
                        </a:defRPr>
                      </a:pPr>
                      <a:r>
                        <a:t>33.9</a:t>
                      </a:r>
                    </a:p>
                  </a:txBody>
                  <a:tcPr>
                    <a:solidFill>
                      <a:srgbClr val="FFFFFF"/>
                    </a:solidFill>
                  </a:tcPr>
                </a:tc>
                <a:tc>
                  <a:txBody>
                    <a:bodyPr/>
                    <a:lstStyle/>
                    <a:p>
                      <a:pPr algn="r">
                        <a:defRPr sz="900">
                          <a:solidFill>
                            <a:srgbClr val="2D2D3D"/>
                          </a:solidFill>
                          <a:latin typeface="Calibri"/>
                        </a:defRPr>
                      </a:pPr>
                      <a:r>
                        <a:t>100.0</a:t>
                      </a:r>
                    </a:p>
                  </a:txBody>
                  <a:tcPr>
                    <a:solidFill>
                      <a:srgbClr val="FFFFFF"/>
                    </a:solidFill>
                  </a:tcPr>
                </a:tc>
                <a:tc>
                  <a:txBody>
                    <a:bodyPr/>
                    <a:lstStyle/>
                    <a:p>
                      <a:pPr algn="r">
                        <a:defRPr sz="900">
                          <a:solidFill>
                            <a:srgbClr val="2D2D3D"/>
                          </a:solidFill>
                          <a:latin typeface="Calibri"/>
                        </a:defRPr>
                      </a:pPr>
                      <a:r>
                        <a:t>139.5</a:t>
                      </a:r>
                    </a:p>
                  </a:txBody>
                  <a:tcPr>
                    <a:solidFill>
                      <a:srgbClr val="FFFFFF"/>
                    </a:solidFill>
                  </a:tcPr>
                </a:tc>
                <a:tc>
                  <a:txBody>
                    <a:bodyPr/>
                    <a:lstStyle/>
                    <a:p>
                      <a:pPr algn="r">
                        <a:defRPr sz="900">
                          <a:solidFill>
                            <a:srgbClr val="2D2D3D"/>
                          </a:solidFill>
                          <a:latin typeface="Calibri"/>
                        </a:defRPr>
                      </a:pPr>
                      <a:r>
                        <a:t>4.11</a:t>
                      </a:r>
                    </a:p>
                  </a:txBody>
                  <a:tcPr>
                    <a:solidFill>
                      <a:srgbClr val="FFFFFF"/>
                    </a:solidFill>
                  </a:tcPr>
                </a:tc>
                <a:tc>
                  <a:txBody>
                    <a:bodyPr/>
                    <a:lstStyle/>
                    <a:p>
                      <a:pPr algn="r">
                        <a:defRPr sz="900">
                          <a:solidFill>
                            <a:srgbClr val="2D2D3D"/>
                          </a:solidFill>
                          <a:latin typeface="Calibri"/>
                        </a:defRPr>
                      </a:pPr>
                      <a:r>
                        <a:t>24077bp</a:t>
                      </a:r>
                    </a:p>
                  </a:txBody>
                  <a:tcPr>
                    <a:solidFill>
                      <a:srgbClr val="FFFFFF"/>
                    </a:solidFill>
                  </a:tcPr>
                </a:tc>
                <a:tc>
                  <a:txBody>
                    <a:bodyPr/>
                    <a:lstStyle/>
                    <a:p>
                      <a:pPr algn="r">
                        <a:defRPr sz="900">
                          <a:solidFill>
                            <a:srgbClr val="2D2D3D"/>
                          </a:solidFill>
                          <a:latin typeface="Calibri"/>
                        </a:defRPr>
                      </a:pPr>
                      <a:r>
                        <a:t>22%</a:t>
                      </a:r>
                    </a:p>
                  </a:txBody>
                  <a:tcPr>
                    <a:solidFill>
                      <a:srgbClr val="FFFFFF"/>
                    </a:solidFill>
                  </a:tcPr>
                </a:tc>
                <a:tc>
                  <a:txBody>
                    <a:bodyPr/>
                    <a:lstStyle/>
                    <a:p>
                      <a:pPr algn="r">
                        <a:defRPr sz="900">
                          <a:solidFill>
                            <a:srgbClr val="2D2D3D"/>
                          </a:solidFill>
                          <a:latin typeface="Calibri"/>
                        </a:defRPr>
                      </a:pPr>
                      <a:r>
                        <a:t>-6.01</a:t>
                      </a:r>
                    </a:p>
                  </a:txBody>
                  <a:tcPr>
                    <a:solidFill>
                      <a:srgbClr val="FFFFFF"/>
                    </a:solidFill>
                  </a:tcPr>
                </a:tc>
              </a:tr>
              <a:tr h="320039">
                <a:tc>
                  <a:txBody>
                    <a:bodyPr/>
                    <a:lstStyle/>
                    <a:p>
                      <a:pPr algn="l">
                        <a:defRPr sz="900">
                          <a:solidFill>
                            <a:srgbClr val="2D2D3D"/>
                          </a:solidFill>
                          <a:latin typeface="Calibri"/>
                        </a:defRPr>
                      </a:pPr>
                      <a:r>
                        <a:t>t=4.5</a:t>
                      </a:r>
                    </a:p>
                  </a:txBody>
                  <a:tcPr>
                    <a:solidFill>
                      <a:srgbClr val="E8EBF5"/>
                    </a:solidFill>
                  </a:tcPr>
                </a:tc>
                <a:tc>
                  <a:txBody>
                    <a:bodyPr/>
                    <a:lstStyle/>
                    <a:p>
                      <a:pPr algn="r">
                        <a:defRPr sz="900">
                          <a:solidFill>
                            <a:srgbClr val="2D2D3D"/>
                          </a:solidFill>
                          <a:latin typeface="Calibri"/>
                        </a:defRPr>
                      </a:pPr>
                      <a:r>
                        <a:t>24.4</a:t>
                      </a:r>
                    </a:p>
                  </a:txBody>
                  <a:tcPr>
                    <a:solidFill>
                      <a:srgbClr val="E8EBF5"/>
                    </a:solidFill>
                  </a:tcPr>
                </a:tc>
                <a:tc>
                  <a:txBody>
                    <a:bodyPr/>
                    <a:lstStyle/>
                    <a:p>
                      <a:pPr algn="r">
                        <a:defRPr sz="900">
                          <a:solidFill>
                            <a:srgbClr val="2D2D3D"/>
                          </a:solidFill>
                          <a:latin typeface="Calibri"/>
                        </a:defRPr>
                      </a:pPr>
                      <a:r>
                        <a:t>100.0</a:t>
                      </a:r>
                    </a:p>
                  </a:txBody>
                  <a:tcPr>
                    <a:solidFill>
                      <a:srgbClr val="E8EBF5"/>
                    </a:solidFill>
                  </a:tcPr>
                </a:tc>
                <a:tc>
                  <a:txBody>
                    <a:bodyPr/>
                    <a:lstStyle/>
                    <a:p>
                      <a:pPr algn="r">
                        <a:defRPr sz="900">
                          <a:solidFill>
                            <a:srgbClr val="2D2D3D"/>
                          </a:solidFill>
                          <a:latin typeface="Calibri"/>
                        </a:defRPr>
                      </a:pPr>
                      <a:r>
                        <a:t>145.4</a:t>
                      </a:r>
                    </a:p>
                  </a:txBody>
                  <a:tcPr>
                    <a:solidFill>
                      <a:srgbClr val="E8EBF5"/>
                    </a:solidFill>
                  </a:tcPr>
                </a:tc>
                <a:tc>
                  <a:txBody>
                    <a:bodyPr/>
                    <a:lstStyle/>
                    <a:p>
                      <a:pPr algn="r">
                        <a:defRPr sz="900">
                          <a:solidFill>
                            <a:srgbClr val="2D2D3D"/>
                          </a:solidFill>
                          <a:latin typeface="Calibri"/>
                        </a:defRPr>
                      </a:pPr>
                      <a:r>
                        <a:t>5.97</a:t>
                      </a:r>
                    </a:p>
                  </a:txBody>
                  <a:tcPr>
                    <a:solidFill>
                      <a:srgbClr val="E8EBF5"/>
                    </a:solidFill>
                  </a:tcPr>
                </a:tc>
                <a:tc>
                  <a:txBody>
                    <a:bodyPr/>
                    <a:lstStyle/>
                    <a:p>
                      <a:pPr algn="r">
                        <a:defRPr sz="900">
                          <a:solidFill>
                            <a:srgbClr val="2D2D3D"/>
                          </a:solidFill>
                          <a:latin typeface="Calibri"/>
                        </a:defRPr>
                      </a:pPr>
                      <a:r>
                        <a:t>50740bp</a:t>
                      </a:r>
                    </a:p>
                  </a:txBody>
                  <a:tcPr>
                    <a:solidFill>
                      <a:srgbClr val="E8EBF5"/>
                    </a:solidFill>
                  </a:tcPr>
                </a:tc>
                <a:tc>
                  <a:txBody>
                    <a:bodyPr/>
                    <a:lstStyle/>
                    <a:p>
                      <a:pPr algn="r">
                        <a:defRPr sz="900">
                          <a:solidFill>
                            <a:srgbClr val="2D2D3D"/>
                          </a:solidFill>
                          <a:latin typeface="Calibri"/>
                        </a:defRPr>
                      </a:pPr>
                      <a:r>
                        <a:t>21%</a:t>
                      </a:r>
                    </a:p>
                  </a:txBody>
                  <a:tcPr>
                    <a:solidFill>
                      <a:srgbClr val="E8EBF5"/>
                    </a:solidFill>
                  </a:tcPr>
                </a:tc>
                <a:tc>
                  <a:txBody>
                    <a:bodyPr/>
                    <a:lstStyle/>
                    <a:p>
                      <a:pPr algn="r">
                        <a:defRPr sz="900">
                          <a:solidFill>
                            <a:srgbClr val="2D2D3D"/>
                          </a:solidFill>
                          <a:latin typeface="Calibri"/>
                        </a:defRPr>
                      </a:pPr>
                      <a:r>
                        <a:t>-9.81</a:t>
                      </a:r>
                    </a:p>
                  </a:txBody>
                  <a:tcPr>
                    <a:solidFill>
                      <a:srgbClr val="E8EBF5"/>
                    </a:solidFill>
                  </a:tcPr>
                </a:tc>
              </a:tr>
              <a:tr h="320050">
                <a:tc>
                  <a:txBody>
                    <a:bodyPr/>
                    <a:lstStyle/>
                    <a:p>
                      <a:pPr algn="l">
                        <a:defRPr sz="900">
                          <a:solidFill>
                            <a:srgbClr val="2D2D3D"/>
                          </a:solidFill>
                          <a:latin typeface="Calibri"/>
                        </a:defRPr>
                      </a:pPr>
                      <a:r>
                        <a:t>t=5.0</a:t>
                      </a:r>
                    </a:p>
                  </a:txBody>
                  <a:tcPr>
                    <a:solidFill>
                      <a:srgbClr val="FFFFFF"/>
                    </a:solidFill>
                  </a:tcPr>
                </a:tc>
                <a:tc>
                  <a:txBody>
                    <a:bodyPr/>
                    <a:lstStyle/>
                    <a:p>
                      <a:pPr algn="r">
                        <a:defRPr sz="900">
                          <a:solidFill>
                            <a:srgbClr val="2D2D3D"/>
                          </a:solidFill>
                          <a:latin typeface="Calibri"/>
                        </a:defRPr>
                      </a:pPr>
                      <a:r>
                        <a:t>28.9</a:t>
                      </a:r>
                    </a:p>
                  </a:txBody>
                  <a:tcPr>
                    <a:solidFill>
                      <a:srgbClr val="FFFFFF"/>
                    </a:solidFill>
                  </a:tcPr>
                </a:tc>
                <a:tc>
                  <a:txBody>
                    <a:bodyPr/>
                    <a:lstStyle/>
                    <a:p>
                      <a:pPr algn="r">
                        <a:defRPr sz="900">
                          <a:solidFill>
                            <a:srgbClr val="2D2D3D"/>
                          </a:solidFill>
                          <a:latin typeface="Calibri"/>
                        </a:defRPr>
                      </a:pPr>
                      <a:r>
                        <a:t>100.0</a:t>
                      </a:r>
                    </a:p>
                  </a:txBody>
                  <a:tcPr>
                    <a:solidFill>
                      <a:srgbClr val="FFFFFF"/>
                    </a:solidFill>
                  </a:tcPr>
                </a:tc>
                <a:tc>
                  <a:txBody>
                    <a:bodyPr/>
                    <a:lstStyle/>
                    <a:p>
                      <a:pPr algn="r">
                        <a:defRPr sz="900">
                          <a:solidFill>
                            <a:srgbClr val="2D2D3D"/>
                          </a:solidFill>
                          <a:latin typeface="Calibri"/>
                        </a:defRPr>
                      </a:pPr>
                      <a:r>
                        <a:t>151.6</a:t>
                      </a:r>
                    </a:p>
                  </a:txBody>
                  <a:tcPr>
                    <a:solidFill>
                      <a:srgbClr val="FFFFFF"/>
                    </a:solidFill>
                  </a:tcPr>
                </a:tc>
                <a:tc>
                  <a:txBody>
                    <a:bodyPr/>
                    <a:lstStyle/>
                    <a:p>
                      <a:pPr algn="r">
                        <a:defRPr sz="900">
                          <a:solidFill>
                            <a:srgbClr val="2D2D3D"/>
                          </a:solidFill>
                          <a:latin typeface="Calibri"/>
                        </a:defRPr>
                      </a:pPr>
                      <a:r>
                        <a:t>5.24</a:t>
                      </a:r>
                    </a:p>
                  </a:txBody>
                  <a:tcPr>
                    <a:solidFill>
                      <a:srgbClr val="FFFFFF"/>
                    </a:solidFill>
                  </a:tcPr>
                </a:tc>
                <a:tc>
                  <a:txBody>
                    <a:bodyPr/>
                    <a:lstStyle/>
                    <a:p>
                      <a:pPr algn="r">
                        <a:defRPr sz="900">
                          <a:solidFill>
                            <a:srgbClr val="2D2D3D"/>
                          </a:solidFill>
                          <a:latin typeface="Calibri"/>
                        </a:defRPr>
                      </a:pPr>
                      <a:r>
                        <a:t>39113bp</a:t>
                      </a:r>
                    </a:p>
                  </a:txBody>
                  <a:tcPr>
                    <a:solidFill>
                      <a:srgbClr val="FFFFFF"/>
                    </a:solidFill>
                  </a:tcPr>
                </a:tc>
                <a:tc>
                  <a:txBody>
                    <a:bodyPr/>
                    <a:lstStyle/>
                    <a:p>
                      <a:pPr algn="r">
                        <a:defRPr sz="900">
                          <a:solidFill>
                            <a:srgbClr val="2D2D3D"/>
                          </a:solidFill>
                          <a:latin typeface="Calibri"/>
                        </a:defRPr>
                      </a:pPr>
                      <a:r>
                        <a:t>20%</a:t>
                      </a:r>
                    </a:p>
                  </a:txBody>
                  <a:tcPr>
                    <a:solidFill>
                      <a:srgbClr val="FFFFFF"/>
                    </a:solidFill>
                  </a:tcPr>
                </a:tc>
                <a:tc>
                  <a:txBody>
                    <a:bodyPr/>
                    <a:lstStyle/>
                    <a:p>
                      <a:pPr algn="r">
                        <a:defRPr sz="900">
                          <a:solidFill>
                            <a:srgbClr val="2D2D3D"/>
                          </a:solidFill>
                          <a:latin typeface="Calibri"/>
                        </a:defRPr>
                      </a:pPr>
                      <a:r>
                        <a:t>-64.20</a:t>
                      </a:r>
                    </a:p>
                  </a:txBody>
                  <a:tcPr>
                    <a:solidFill>
                      <a:srgbClr val="FFFFFF"/>
                    </a:solidFill>
                  </a:tcPr>
                </a:tc>
              </a:tr>
            </a:tbl>
          </a:graphicData>
        </a:graphic>
      </p:graphicFrame>
      <p:sp>
        <p:nvSpPr>
          <p:cNvPr id="7" name="TextBox 6"/>
          <p:cNvSpPr txBox="1"/>
          <p:nvPr/>
        </p:nvSpPr>
        <p:spPr>
          <a:xfrm>
            <a:off x="457200" y="4754880"/>
            <a:ext cx="8229600" cy="1371600"/>
          </a:xfrm>
          <a:prstGeom prst="rect">
            <a:avLst/>
          </a:prstGeom>
          <a:noFill/>
        </p:spPr>
        <p:txBody>
          <a:bodyPr wrap="square">
            <a:spAutoFit/>
          </a:bodyPr>
          <a:lstStyle/>
          <a:p>
            <a:pPr>
              <a:spcAft>
                <a:spcPts val="800"/>
              </a:spcAft>
              <a:defRPr sz="1200">
                <a:solidFill>
                  <a:srgbClr val="2D2D3D"/>
                </a:solidFill>
                <a:latin typeface="Calibri"/>
              </a:defRPr>
            </a:pPr>
            <a:r>
              <a:t>Over 5 years: PIK notional grew from 100 to 152 while assets declined to 29</a:t>
            </a:r>
          </a:p>
          <a:p>
            <a:pPr>
              <a:spcAft>
                <a:spcPts val="800"/>
              </a:spcAft>
              <a:defRPr sz="1200">
                <a:solidFill>
                  <a:srgbClr val="2D2D3D"/>
                </a:solidFill>
                <a:latin typeface="Calibri"/>
              </a:defRPr>
            </a:pPr>
            <a:r>
              <a:t>Leverage rose from 0.80 to 5.24 — hazard rate rose from 911bp to 39113bp</a:t>
            </a:r>
          </a:p>
          <a:p>
            <a:pPr>
              <a:spcAft>
                <a:spcPts val="800"/>
              </a:spcAft>
              <a:defRPr sz="1200">
                <a:solidFill>
                  <a:srgbClr val="2D2D3D"/>
                </a:solidFill>
                <a:latin typeface="Calibri"/>
              </a:defRPr>
            </a:pPr>
            <a:r>
              <a:t>Recovery fell from 30% to 20% — distance-to-default collapsed to -64.20</a:t>
            </a:r>
          </a:p>
          <a:p>
            <a:pPr>
              <a:spcAft>
                <a:spcPts val="800"/>
              </a:spcAft>
              <a:defRPr sz="1200">
                <a:solidFill>
                  <a:srgbClr val="2D2D3D"/>
                </a:solidFill>
                <a:latin typeface="Calibri"/>
              </a:defRPr>
            </a:pPr>
            <a:r>
              <a:t>This is one path. Across 25,000 paths the average captures the expected cost of this spiral</a:t>
            </a:r>
          </a:p>
        </p:txBody>
      </p:sp>
      <p:sp>
        <p:nvSpPr>
          <p:cNvPr id="8" name="Rounded Rectangle 7"/>
          <p:cNvSpPr/>
          <p:nvPr/>
        </p:nvSpPr>
        <p:spPr>
          <a:xfrm>
            <a:off x="914400" y="6217920"/>
            <a:ext cx="7315200" cy="411480"/>
          </a:xfrm>
          <a:prstGeom prst="round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100" b="1">
                <a:solidFill>
                  <a:srgbClr val="FFFFFF"/>
                </a:solidFill>
                <a:latin typeface="Calibri"/>
              </a:defRPr>
            </a:pPr>
            <a:r>
              <a:t>The spiral is self-reinforcing: PIK raises notional → leverage rises → λ rises → more defaults → recovery falls → higher loss. Cash-pay avoids this entirely.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12</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Toggle Mechanics &amp; Adverse Selection</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Why the toggle option fails to protect investors</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13/16</a:t>
            </a:r>
          </a:p>
        </p:txBody>
      </p:sp>
      <p:sp>
        <p:nvSpPr>
          <p:cNvPr id="6" name="TextBox 5"/>
          <p:cNvSpPr txBox="1"/>
          <p:nvPr/>
        </p:nvSpPr>
        <p:spPr>
          <a:xfrm>
            <a:off x="457200" y="1005840"/>
            <a:ext cx="4572000" cy="320040"/>
          </a:xfrm>
          <a:prstGeom prst="rect">
            <a:avLst/>
          </a:prstGeom>
          <a:noFill/>
        </p:spPr>
        <p:txBody>
          <a:bodyPr wrap="square">
            <a:spAutoFit/>
          </a:bodyPr>
          <a:lstStyle/>
          <a:p>
            <a:pPr algn="l">
              <a:defRPr sz="1600" b="1">
                <a:solidFill>
                  <a:srgbClr val="2C3E6B"/>
                </a:solidFill>
                <a:latin typeface="Calibri"/>
              </a:defRPr>
            </a:pPr>
            <a:r>
              <a:t>PIK if λ(t) &gt; 10%,  else Cash</a:t>
            </a:r>
          </a:p>
        </p:txBody>
      </p:sp>
      <p:sp>
        <p:nvSpPr>
          <p:cNvPr id="7" name="TextBox 6"/>
          <p:cNvSpPr txBox="1"/>
          <p:nvPr/>
        </p:nvSpPr>
        <p:spPr>
          <a:xfrm>
            <a:off x="457200" y="1325880"/>
            <a:ext cx="4572000" cy="228600"/>
          </a:xfrm>
          <a:prstGeom prst="rect">
            <a:avLst/>
          </a:prstGeom>
          <a:noFill/>
        </p:spPr>
        <p:txBody>
          <a:bodyPr wrap="square">
            <a:spAutoFit/>
          </a:bodyPr>
          <a:lstStyle/>
          <a:p>
            <a:pPr algn="l">
              <a:defRPr sz="1100" b="0">
                <a:solidFill>
                  <a:srgbClr val="555570"/>
                </a:solidFill>
                <a:latin typeface="Calibri"/>
              </a:defRPr>
            </a:pPr>
            <a:r>
              <a:t>Threshold model: borrower exercises PIK when credit quality deteriorates</a:t>
            </a:r>
          </a:p>
        </p:txBody>
      </p:sp>
      <p:sp>
        <p:nvSpPr>
          <p:cNvPr id="8" name="TextBox 7"/>
          <p:cNvSpPr txBox="1"/>
          <p:nvPr/>
        </p:nvSpPr>
        <p:spPr>
          <a:xfrm>
            <a:off x="457200" y="1645920"/>
            <a:ext cx="4114800" cy="274320"/>
          </a:xfrm>
          <a:prstGeom prst="rect">
            <a:avLst/>
          </a:prstGeom>
          <a:noFill/>
        </p:spPr>
        <p:txBody>
          <a:bodyPr wrap="square">
            <a:spAutoFit/>
          </a:bodyPr>
          <a:lstStyle/>
          <a:p>
            <a:pPr algn="l">
              <a:defRPr sz="1300" b="1">
                <a:solidFill>
                  <a:srgbClr val="2C3E6B"/>
                </a:solidFill>
                <a:latin typeface="Calibri"/>
              </a:defRPr>
            </a:pPr>
            <a:r>
              <a:t>Path Bifurcation Under Toggle</a:t>
            </a:r>
          </a:p>
        </p:txBody>
      </p:sp>
      <p:sp>
        <p:nvSpPr>
          <p:cNvPr id="9" name="Rounded Rectangle 8"/>
          <p:cNvSpPr/>
          <p:nvPr/>
        </p:nvSpPr>
        <p:spPr>
          <a:xfrm>
            <a:off x="457200" y="2011680"/>
            <a:ext cx="3657600" cy="109728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57400"/>
            <a:ext cx="3200400" cy="228600"/>
          </a:xfrm>
          <a:prstGeom prst="rect">
            <a:avLst/>
          </a:prstGeom>
          <a:noFill/>
        </p:spPr>
        <p:txBody>
          <a:bodyPr wrap="square">
            <a:spAutoFit/>
          </a:bodyPr>
          <a:lstStyle/>
          <a:p>
            <a:pPr algn="l">
              <a:defRPr sz="1200" b="1">
                <a:solidFill>
                  <a:srgbClr val="5CB85C"/>
                </a:solidFill>
                <a:latin typeface="Calibri"/>
              </a:defRPr>
            </a:pPr>
            <a:r>
              <a:t>Healthy Paths (λ &lt; 10%): CASH</a:t>
            </a:r>
          </a:p>
        </p:txBody>
      </p:sp>
      <p:sp>
        <p:nvSpPr>
          <p:cNvPr id="11" name="TextBox 10"/>
          <p:cNvSpPr txBox="1"/>
          <p:nvPr/>
        </p:nvSpPr>
        <p:spPr>
          <a:xfrm>
            <a:off x="640080" y="2331720"/>
            <a:ext cx="3200400" cy="640080"/>
          </a:xfrm>
          <a:prstGeom prst="rect">
            <a:avLst/>
          </a:prstGeom>
          <a:noFill/>
        </p:spPr>
        <p:txBody>
          <a:bodyPr wrap="square">
            <a:spAutoFit/>
          </a:bodyPr>
          <a:lstStyle/>
          <a:p>
            <a:pPr algn="l">
              <a:defRPr sz="1000" b="0">
                <a:solidFill>
                  <a:srgbClr val="2D2D3D"/>
                </a:solidFill>
                <a:latin typeface="Calibri"/>
              </a:defRPr>
            </a:pPr>
            <a:r>
              <a:t>Coupons paid in cash</a:t>
            </a:r>
            <a:br/>
            <a:r>
              <a:t>Notional stays at 100</a:t>
            </a:r>
            <a:br/>
            <a:r>
              <a:t>Leverage stable → no feedback</a:t>
            </a:r>
            <a:br/>
            <a:r>
              <a:t>Behaves identically to cash-pay bond</a:t>
            </a:r>
          </a:p>
        </p:txBody>
      </p:sp>
      <p:sp>
        <p:nvSpPr>
          <p:cNvPr id="12" name="Rounded Rectangle 11"/>
          <p:cNvSpPr/>
          <p:nvPr/>
        </p:nvSpPr>
        <p:spPr>
          <a:xfrm>
            <a:off x="457200" y="3246120"/>
            <a:ext cx="3657600" cy="1188720"/>
          </a:xfrm>
          <a:prstGeom prst="roundRect">
            <a:avLst/>
          </a:prstGeom>
          <a:solidFill>
            <a:srgbClr val="FD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291840"/>
            <a:ext cx="3200400" cy="228600"/>
          </a:xfrm>
          <a:prstGeom prst="rect">
            <a:avLst/>
          </a:prstGeom>
          <a:noFill/>
        </p:spPr>
        <p:txBody>
          <a:bodyPr wrap="square">
            <a:spAutoFit/>
          </a:bodyPr>
          <a:lstStyle/>
          <a:p>
            <a:pPr algn="l">
              <a:defRPr sz="1200" b="1">
                <a:solidFill>
                  <a:srgbClr val="E04F4F"/>
                </a:solidFill>
                <a:latin typeface="Calibri"/>
              </a:defRPr>
            </a:pPr>
            <a:r>
              <a:t>Stressed Paths (λ &gt; 10%): PIK</a:t>
            </a:r>
          </a:p>
        </p:txBody>
      </p:sp>
      <p:sp>
        <p:nvSpPr>
          <p:cNvPr id="14" name="TextBox 13"/>
          <p:cNvSpPr txBox="1"/>
          <p:nvPr/>
        </p:nvSpPr>
        <p:spPr>
          <a:xfrm>
            <a:off x="640080" y="3566160"/>
            <a:ext cx="3200400" cy="777240"/>
          </a:xfrm>
          <a:prstGeom prst="rect">
            <a:avLst/>
          </a:prstGeom>
          <a:noFill/>
        </p:spPr>
        <p:txBody>
          <a:bodyPr wrap="square">
            <a:spAutoFit/>
          </a:bodyPr>
          <a:lstStyle/>
          <a:p>
            <a:pPr algn="l">
              <a:defRPr sz="1000" b="0">
                <a:solidFill>
                  <a:srgbClr val="2D2D3D"/>
                </a:solidFill>
                <a:latin typeface="Calibri"/>
              </a:defRPr>
            </a:pPr>
            <a:r>
              <a:t>Coupons accrete to notional</a:t>
            </a:r>
            <a:br/>
            <a:r>
              <a:t>Leverage spirals upward</a:t>
            </a:r>
            <a:br/>
            <a:r>
              <a:t>λ rises further → stays in PIK mode</a:t>
            </a:r>
            <a:br/>
            <a:r>
              <a:t>Recovery diluted → loss amplified</a:t>
            </a:r>
            <a:br/>
            <a:r>
              <a:t>Feedback loop concentrates on worst paths</a:t>
            </a:r>
          </a:p>
        </p:txBody>
      </p:sp>
      <p:sp>
        <p:nvSpPr>
          <p:cNvPr id="15" name="TextBox 14"/>
          <p:cNvSpPr txBox="1"/>
          <p:nvPr/>
        </p:nvSpPr>
        <p:spPr>
          <a:xfrm>
            <a:off x="4754880" y="1645920"/>
            <a:ext cx="4114800" cy="274320"/>
          </a:xfrm>
          <a:prstGeom prst="rect">
            <a:avLst/>
          </a:prstGeom>
          <a:noFill/>
        </p:spPr>
        <p:txBody>
          <a:bodyPr wrap="square">
            <a:spAutoFit/>
          </a:bodyPr>
          <a:lstStyle/>
          <a:p>
            <a:pPr algn="l">
              <a:defRPr sz="1300" b="1">
                <a:solidFill>
                  <a:srgbClr val="2C3E6B"/>
                </a:solidFill>
                <a:latin typeface="Calibri"/>
              </a:defRPr>
            </a:pPr>
            <a:r>
              <a:t>Why Toggle ≥ Full PIK</a:t>
            </a:r>
          </a:p>
        </p:txBody>
      </p:sp>
      <p:sp>
        <p:nvSpPr>
          <p:cNvPr id="16" name="TextBox 15"/>
          <p:cNvSpPr txBox="1"/>
          <p:nvPr/>
        </p:nvSpPr>
        <p:spPr>
          <a:xfrm>
            <a:off x="4754880" y="2011680"/>
            <a:ext cx="4114800" cy="2286000"/>
          </a:xfrm>
          <a:prstGeom prst="rect">
            <a:avLst/>
          </a:prstGeom>
          <a:noFill/>
        </p:spPr>
        <p:txBody>
          <a:bodyPr wrap="square">
            <a:spAutoFit/>
          </a:bodyPr>
          <a:lstStyle/>
          <a:p>
            <a:pPr>
              <a:spcAft>
                <a:spcPts val="800"/>
              </a:spcAft>
              <a:defRPr sz="1200">
                <a:solidFill>
                  <a:srgbClr val="2D2D3D"/>
                </a:solidFill>
                <a:latin typeface="Calibri"/>
              </a:defRPr>
            </a:pPr>
            <a:r>
              <a:t>Full PIK distributes accrual uniformly across ALL paths, including healthy ones where extra notional barely matters</a:t>
            </a:r>
          </a:p>
          <a:p>
            <a:pPr>
              <a:spcAft>
                <a:spcPts val="800"/>
              </a:spcAft>
              <a:defRPr sz="1200">
                <a:solidFill>
                  <a:srgbClr val="2D2D3D"/>
                </a:solidFill>
                <a:latin typeface="Calibri"/>
              </a:defRPr>
            </a:pPr>
            <a:r>
              <a:t>Toggle concentrates accrual on the WORST paths — the ones already closest to default. This seeds the leverage spiral where it does the most damage</a:t>
            </a:r>
          </a:p>
          <a:p>
            <a:pPr>
              <a:spcAft>
                <a:spcPts val="800"/>
              </a:spcAft>
              <a:defRPr sz="1200">
                <a:solidFill>
                  <a:srgbClr val="2D2D3D"/>
                </a:solidFill>
                <a:latin typeface="Calibri"/>
              </a:defRPr>
            </a:pPr>
            <a:r>
              <a:t>On healthy paths: toggle = cash (no cost). On stressed paths: toggle = PIK but with worse starting conditions (already high λ)</a:t>
            </a:r>
          </a:p>
          <a:p>
            <a:pPr>
              <a:spcAft>
                <a:spcPts val="800"/>
              </a:spcAft>
              <a:defRPr sz="1200">
                <a:solidFill>
                  <a:srgbClr val="2D2D3D"/>
                </a:solidFill>
                <a:latin typeface="Calibri"/>
              </a:defRPr>
            </a:pPr>
            <a:r>
              <a:t>The borrower’s option to toggle is effectively adverse selection: they PIK precisely when it hurts investors the most</a:t>
            </a:r>
          </a:p>
        </p:txBody>
      </p:sp>
      <p:sp>
        <p:nvSpPr>
          <p:cNvPr id="17" name="TextBox 16"/>
          <p:cNvSpPr txBox="1"/>
          <p:nvPr/>
        </p:nvSpPr>
        <p:spPr>
          <a:xfrm>
            <a:off x="457200" y="4663440"/>
            <a:ext cx="8229600" cy="228600"/>
          </a:xfrm>
          <a:prstGeom prst="rect">
            <a:avLst/>
          </a:prstGeom>
          <a:noFill/>
        </p:spPr>
        <p:txBody>
          <a:bodyPr wrap="square">
            <a:spAutoFit/>
          </a:bodyPr>
          <a:lstStyle/>
          <a:p>
            <a:pPr algn="l">
              <a:defRPr sz="1200" b="1">
                <a:solidFill>
                  <a:srgbClr val="2C3E6B"/>
                </a:solidFill>
                <a:latin typeface="Calibri"/>
              </a:defRPr>
            </a:pPr>
            <a:r>
              <a:t>MC Results: Toggle vs Full PIK Z-Spread Premium</a:t>
            </a:r>
          </a:p>
        </p:txBody>
      </p:sp>
      <p:graphicFrame>
        <p:nvGraphicFramePr>
          <p:cNvPr id="18" name="Table 17"/>
          <p:cNvGraphicFramePr>
            <a:graphicFrameLocks noGrp="1"/>
          </p:cNvGraphicFramePr>
          <p:nvPr/>
        </p:nvGraphicFramePr>
        <p:xfrm>
          <a:off x="274320" y="4937760"/>
          <a:ext cx="5760720" cy="1920239"/>
        </p:xfrm>
        <a:graphic>
          <a:graphicData uri="http://schemas.openxmlformats.org/drawingml/2006/table">
            <a:tbl>
              <a:tblPr firstRow="1" bandRow="1">
                <a:tableStyleId>{5C22544A-7EE6-4342-B048-85BDC9FD1C3A}</a:tableStyleId>
              </a:tblPr>
              <a:tblGrid>
                <a:gridCol w="640080"/>
                <a:gridCol w="457200"/>
                <a:gridCol w="731520"/>
                <a:gridCol w="731520"/>
                <a:gridCol w="822960"/>
                <a:gridCol w="822960"/>
                <a:gridCol w="822960"/>
                <a:gridCol w="731520"/>
              </a:tblGrid>
              <a:tr h="320039">
                <a:tc>
                  <a:txBody>
                    <a:bodyPr/>
                    <a:lstStyle/>
                    <a:p>
                      <a:pPr algn="ctr">
                        <a:defRPr sz="900" b="1">
                          <a:solidFill>
                            <a:srgbClr val="FFFFFF"/>
                          </a:solidFill>
                          <a:latin typeface="Calibri"/>
                        </a:defRPr>
                      </a:pPr>
                      <a:r>
                        <a:t>Issuer</a:t>
                      </a:r>
                    </a:p>
                  </a:txBody>
                  <a:tcPr>
                    <a:solidFill>
                      <a:srgbClr val="2C3E6B"/>
                    </a:solidFill>
                  </a:tcPr>
                </a:tc>
                <a:tc>
                  <a:txBody>
                    <a:bodyPr/>
                    <a:lstStyle/>
                    <a:p>
                      <a:pPr algn="ctr">
                        <a:defRPr sz="900" b="1">
                          <a:solidFill>
                            <a:srgbClr val="FFFFFF"/>
                          </a:solidFill>
                          <a:latin typeface="Calibri"/>
                        </a:defRPr>
                      </a:pPr>
                      <a:r>
                        <a:t>LTV</a:t>
                      </a:r>
                    </a:p>
                  </a:txBody>
                  <a:tcPr>
                    <a:solidFill>
                      <a:srgbClr val="2C3E6B"/>
                    </a:solidFill>
                  </a:tcPr>
                </a:tc>
                <a:tc>
                  <a:txBody>
                    <a:bodyPr/>
                    <a:lstStyle/>
                    <a:p>
                      <a:pPr algn="ctr">
                        <a:defRPr sz="900" b="1">
                          <a:solidFill>
                            <a:srgbClr val="FFFFFF"/>
                          </a:solidFill>
                          <a:latin typeface="Calibri"/>
                        </a:defRPr>
                      </a:pPr>
                      <a:r>
                        <a:t>Cash Z</a:t>
                      </a:r>
                    </a:p>
                  </a:txBody>
                  <a:tcPr>
                    <a:solidFill>
                      <a:srgbClr val="2C3E6B"/>
                    </a:solidFill>
                  </a:tcPr>
                </a:tc>
                <a:tc>
                  <a:txBody>
                    <a:bodyPr/>
                    <a:lstStyle/>
                    <a:p>
                      <a:pPr algn="ctr">
                        <a:defRPr sz="900" b="1">
                          <a:solidFill>
                            <a:srgbClr val="FFFFFF"/>
                          </a:solidFill>
                          <a:latin typeface="Calibri"/>
                        </a:defRPr>
                      </a:pPr>
                      <a:r>
                        <a:t>PIK Z</a:t>
                      </a:r>
                    </a:p>
                  </a:txBody>
                  <a:tcPr>
                    <a:solidFill>
                      <a:srgbClr val="2C3E6B"/>
                    </a:solidFill>
                  </a:tcPr>
                </a:tc>
                <a:tc>
                  <a:txBody>
                    <a:bodyPr/>
                    <a:lstStyle/>
                    <a:p>
                      <a:pPr algn="ctr">
                        <a:defRPr sz="900" b="1">
                          <a:solidFill>
                            <a:srgbClr val="FFFFFF"/>
                          </a:solidFill>
                          <a:latin typeface="Calibri"/>
                        </a:defRPr>
                      </a:pPr>
                      <a:r>
                        <a:t>Toggle Z</a:t>
                      </a:r>
                    </a:p>
                  </a:txBody>
                  <a:tcPr>
                    <a:solidFill>
                      <a:srgbClr val="2C3E6B"/>
                    </a:solidFill>
                  </a:tcPr>
                </a:tc>
                <a:tc>
                  <a:txBody>
                    <a:bodyPr/>
                    <a:lstStyle/>
                    <a:p>
                      <a:pPr algn="ctr">
                        <a:defRPr sz="900" b="1">
                          <a:solidFill>
                            <a:srgbClr val="FFFFFF"/>
                          </a:solidFill>
                          <a:latin typeface="Calibri"/>
                        </a:defRPr>
                      </a:pPr>
                      <a:r>
                        <a:t>PIK−Cash</a:t>
                      </a:r>
                    </a:p>
                  </a:txBody>
                  <a:tcPr>
                    <a:solidFill>
                      <a:srgbClr val="2C3E6B"/>
                    </a:solidFill>
                  </a:tcPr>
                </a:tc>
                <a:tc>
                  <a:txBody>
                    <a:bodyPr/>
                    <a:lstStyle/>
                    <a:p>
                      <a:pPr algn="ctr">
                        <a:defRPr sz="900" b="1">
                          <a:solidFill>
                            <a:srgbClr val="FFFFFF"/>
                          </a:solidFill>
                          <a:latin typeface="Calibri"/>
                        </a:defRPr>
                      </a:pPr>
                      <a:r>
                        <a:t>Tog−Cash</a:t>
                      </a:r>
                    </a:p>
                  </a:txBody>
                  <a:tcPr>
                    <a:solidFill>
                      <a:srgbClr val="2C3E6B"/>
                    </a:solidFill>
                  </a:tcPr>
                </a:tc>
                <a:tc>
                  <a:txBody>
                    <a:bodyPr/>
                    <a:lstStyle/>
                    <a:p>
                      <a:pPr algn="ctr">
                        <a:defRPr sz="900" b="1">
                          <a:solidFill>
                            <a:srgbClr val="FFFFFF"/>
                          </a:solidFill>
                          <a:latin typeface="Calibri"/>
                        </a:defRPr>
                      </a:pPr>
                      <a:r>
                        <a:t>Tog−PIK</a:t>
                      </a:r>
                    </a:p>
                  </a:txBody>
                  <a:tcPr>
                    <a:solidFill>
                      <a:srgbClr val="2C3E6B"/>
                    </a:solidFill>
                  </a:tcPr>
                </a:tc>
              </a:tr>
              <a:tr h="320039">
                <a:tc>
                  <a:txBody>
                    <a:bodyPr/>
                    <a:lstStyle/>
                    <a:p>
                      <a:pPr algn="l">
                        <a:defRPr sz="900">
                          <a:solidFill>
                            <a:srgbClr val="2D2D3D"/>
                          </a:solidFill>
                          <a:latin typeface="Calibri"/>
                        </a:defRPr>
                      </a:pPr>
                      <a:r>
                        <a:t>BB+</a:t>
                      </a:r>
                    </a:p>
                  </a:txBody>
                  <a:tcPr>
                    <a:solidFill>
                      <a:srgbClr val="FFFFFF"/>
                    </a:solidFill>
                  </a:tcPr>
                </a:tc>
                <a:tc>
                  <a:txBody>
                    <a:bodyPr/>
                    <a:lstStyle/>
                    <a:p>
                      <a:pPr algn="r">
                        <a:defRPr sz="900">
                          <a:solidFill>
                            <a:srgbClr val="2D2D3D"/>
                          </a:solidFill>
                          <a:latin typeface="Calibri"/>
                        </a:defRPr>
                      </a:pPr>
                      <a:r>
                        <a:t>50%</a:t>
                      </a:r>
                    </a:p>
                  </a:txBody>
                  <a:tcPr>
                    <a:solidFill>
                      <a:srgbClr val="FFFFFF"/>
                    </a:solidFill>
                  </a:tcPr>
                </a:tc>
                <a:tc>
                  <a:txBody>
                    <a:bodyPr/>
                    <a:lstStyle/>
                    <a:p>
                      <a:pPr algn="r">
                        <a:defRPr sz="900">
                          <a:solidFill>
                            <a:srgbClr val="2D2D3D"/>
                          </a:solidFill>
                          <a:latin typeface="Calibri"/>
                        </a:defRPr>
                      </a:pPr>
                      <a:r>
                        <a:t>20bp</a:t>
                      </a:r>
                    </a:p>
                  </a:txBody>
                  <a:tcPr>
                    <a:solidFill>
                      <a:srgbClr val="FFFFFF"/>
                    </a:solidFill>
                  </a:tcPr>
                </a:tc>
                <a:tc>
                  <a:txBody>
                    <a:bodyPr/>
                    <a:lstStyle/>
                    <a:p>
                      <a:pPr algn="r">
                        <a:defRPr sz="900">
                          <a:solidFill>
                            <a:srgbClr val="2D2D3D"/>
                          </a:solidFill>
                          <a:latin typeface="Calibri"/>
                        </a:defRPr>
                      </a:pPr>
                      <a:r>
                        <a:t>-39bp</a:t>
                      </a:r>
                    </a:p>
                  </a:txBody>
                  <a:tcPr>
                    <a:solidFill>
                      <a:srgbClr val="FFFFFF"/>
                    </a:solidFill>
                  </a:tcPr>
                </a:tc>
                <a:tc>
                  <a:txBody>
                    <a:bodyPr/>
                    <a:lstStyle/>
                    <a:p>
                      <a:pPr algn="r">
                        <a:defRPr sz="900">
                          <a:solidFill>
                            <a:srgbClr val="2D2D3D"/>
                          </a:solidFill>
                          <a:latin typeface="Calibri"/>
                        </a:defRPr>
                      </a:pPr>
                      <a:r>
                        <a:t>22bp</a:t>
                      </a:r>
                    </a:p>
                  </a:txBody>
                  <a:tcPr>
                    <a:solidFill>
                      <a:srgbClr val="FFFFFF"/>
                    </a:solidFill>
                  </a:tcPr>
                </a:tc>
                <a:tc>
                  <a:txBody>
                    <a:bodyPr/>
                    <a:lstStyle/>
                    <a:p>
                      <a:pPr algn="r">
                        <a:defRPr sz="900">
                          <a:solidFill>
                            <a:srgbClr val="2D2D3D"/>
                          </a:solidFill>
                          <a:latin typeface="Calibri"/>
                        </a:defRPr>
                      </a:pPr>
                      <a:r>
                        <a:t>-59</a:t>
                      </a:r>
                    </a:p>
                  </a:txBody>
                  <a:tcPr>
                    <a:solidFill>
                      <a:srgbClr val="FFFFFF"/>
                    </a:solidFill>
                  </a:tcPr>
                </a:tc>
                <a:tc>
                  <a:txBody>
                    <a:bodyPr/>
                    <a:lstStyle/>
                    <a:p>
                      <a:pPr algn="r">
                        <a:defRPr sz="900">
                          <a:solidFill>
                            <a:srgbClr val="2D2D3D"/>
                          </a:solidFill>
                          <a:latin typeface="Calibri"/>
                        </a:defRPr>
                      </a:pPr>
                      <a:r>
                        <a:t>+2</a:t>
                      </a:r>
                    </a:p>
                  </a:txBody>
                  <a:tcPr>
                    <a:solidFill>
                      <a:srgbClr val="FFFFFF"/>
                    </a:solidFill>
                  </a:tcPr>
                </a:tc>
                <a:tc>
                  <a:txBody>
                    <a:bodyPr/>
                    <a:lstStyle/>
                    <a:p>
                      <a:pPr algn="r">
                        <a:defRPr sz="900">
                          <a:solidFill>
                            <a:srgbClr val="2D2D3D"/>
                          </a:solidFill>
                          <a:latin typeface="Calibri"/>
                        </a:defRPr>
                      </a:pPr>
                      <a:r>
                        <a:t>+61</a:t>
                      </a:r>
                    </a:p>
                  </a:txBody>
                  <a:tcPr>
                    <a:solidFill>
                      <a:srgbClr val="FFFFFF"/>
                    </a:solidFill>
                  </a:tcPr>
                </a:tc>
              </a:tr>
              <a:tr h="320039">
                <a:tc>
                  <a:txBody>
                    <a:bodyPr/>
                    <a:lstStyle/>
                    <a:p>
                      <a:pPr algn="l">
                        <a:defRPr sz="900">
                          <a:solidFill>
                            <a:srgbClr val="2D2D3D"/>
                          </a:solidFill>
                          <a:latin typeface="Calibri"/>
                        </a:defRPr>
                      </a:pPr>
                      <a:r>
                        <a:t>BB−</a:t>
                      </a:r>
                    </a:p>
                  </a:txBody>
                  <a:tcPr>
                    <a:solidFill>
                      <a:srgbClr val="E8EBF5"/>
                    </a:solidFill>
                  </a:tcPr>
                </a:tc>
                <a:tc>
                  <a:txBody>
                    <a:bodyPr/>
                    <a:lstStyle/>
                    <a:p>
                      <a:pPr algn="r">
                        <a:defRPr sz="900">
                          <a:solidFill>
                            <a:srgbClr val="2D2D3D"/>
                          </a:solidFill>
                          <a:latin typeface="Calibri"/>
                        </a:defRPr>
                      </a:pPr>
                      <a:r>
                        <a:t>61%</a:t>
                      </a:r>
                    </a:p>
                  </a:txBody>
                  <a:tcPr>
                    <a:solidFill>
                      <a:srgbClr val="E8EBF5"/>
                    </a:solidFill>
                  </a:tcPr>
                </a:tc>
                <a:tc>
                  <a:txBody>
                    <a:bodyPr/>
                    <a:lstStyle/>
                    <a:p>
                      <a:pPr algn="r">
                        <a:defRPr sz="900">
                          <a:solidFill>
                            <a:srgbClr val="2D2D3D"/>
                          </a:solidFill>
                          <a:latin typeface="Calibri"/>
                        </a:defRPr>
                      </a:pPr>
                      <a:r>
                        <a:t>110bp</a:t>
                      </a:r>
                    </a:p>
                  </a:txBody>
                  <a:tcPr>
                    <a:solidFill>
                      <a:srgbClr val="E8EBF5"/>
                    </a:solidFill>
                  </a:tcPr>
                </a:tc>
                <a:tc>
                  <a:txBody>
                    <a:bodyPr/>
                    <a:lstStyle/>
                    <a:p>
                      <a:pPr algn="r">
                        <a:defRPr sz="900">
                          <a:solidFill>
                            <a:srgbClr val="2D2D3D"/>
                          </a:solidFill>
                          <a:latin typeface="Calibri"/>
                        </a:defRPr>
                      </a:pPr>
                      <a:r>
                        <a:t>88bp</a:t>
                      </a:r>
                    </a:p>
                  </a:txBody>
                  <a:tcPr>
                    <a:solidFill>
                      <a:srgbClr val="E8EBF5"/>
                    </a:solidFill>
                  </a:tcPr>
                </a:tc>
                <a:tc>
                  <a:txBody>
                    <a:bodyPr/>
                    <a:lstStyle/>
                    <a:p>
                      <a:pPr algn="r">
                        <a:defRPr sz="900">
                          <a:solidFill>
                            <a:srgbClr val="2D2D3D"/>
                          </a:solidFill>
                          <a:latin typeface="Calibri"/>
                        </a:defRPr>
                      </a:pPr>
                      <a:r>
                        <a:t>130bp</a:t>
                      </a:r>
                    </a:p>
                  </a:txBody>
                  <a:tcPr>
                    <a:solidFill>
                      <a:srgbClr val="E8EBF5"/>
                    </a:solidFill>
                  </a:tcPr>
                </a:tc>
                <a:tc>
                  <a:txBody>
                    <a:bodyPr/>
                    <a:lstStyle/>
                    <a:p>
                      <a:pPr algn="r">
                        <a:defRPr sz="900">
                          <a:solidFill>
                            <a:srgbClr val="2D2D3D"/>
                          </a:solidFill>
                          <a:latin typeface="Calibri"/>
                        </a:defRPr>
                      </a:pPr>
                      <a:r>
                        <a:t>-22</a:t>
                      </a:r>
                    </a:p>
                  </a:txBody>
                  <a:tcPr>
                    <a:solidFill>
                      <a:srgbClr val="E8EBF5"/>
                    </a:solidFill>
                  </a:tcPr>
                </a:tc>
                <a:tc>
                  <a:txBody>
                    <a:bodyPr/>
                    <a:lstStyle/>
                    <a:p>
                      <a:pPr algn="r">
                        <a:defRPr sz="900">
                          <a:solidFill>
                            <a:srgbClr val="2D2D3D"/>
                          </a:solidFill>
                          <a:latin typeface="Calibri"/>
                        </a:defRPr>
                      </a:pPr>
                      <a:r>
                        <a:t>+20</a:t>
                      </a:r>
                    </a:p>
                  </a:txBody>
                  <a:tcPr>
                    <a:solidFill>
                      <a:srgbClr val="E8EBF5"/>
                    </a:solidFill>
                  </a:tcPr>
                </a:tc>
                <a:tc>
                  <a:txBody>
                    <a:bodyPr/>
                    <a:lstStyle/>
                    <a:p>
                      <a:pPr algn="r">
                        <a:defRPr sz="900">
                          <a:solidFill>
                            <a:srgbClr val="2D2D3D"/>
                          </a:solidFill>
                          <a:latin typeface="Calibri"/>
                        </a:defRPr>
                      </a:pPr>
                      <a:r>
                        <a:t>+42</a:t>
                      </a:r>
                    </a:p>
                  </a:txBody>
                  <a:tcPr>
                    <a:solidFill>
                      <a:srgbClr val="E8EBF5"/>
                    </a:solidFill>
                  </a:tcPr>
                </a:tc>
              </a:tr>
              <a:tr h="320039">
                <a:tc>
                  <a:txBody>
                    <a:bodyPr/>
                    <a:lstStyle/>
                    <a:p>
                      <a:pPr algn="l">
                        <a:defRPr sz="900">
                          <a:solidFill>
                            <a:srgbClr val="2D2D3D"/>
                          </a:solidFill>
                          <a:latin typeface="Calibri"/>
                        </a:defRPr>
                      </a:pPr>
                      <a:r>
                        <a:t>B</a:t>
                      </a:r>
                    </a:p>
                  </a:txBody>
                  <a:tcPr>
                    <a:solidFill>
                      <a:srgbClr val="FFFFFF"/>
                    </a:solidFill>
                  </a:tcPr>
                </a:tc>
                <a:tc>
                  <a:txBody>
                    <a:bodyPr/>
                    <a:lstStyle/>
                    <a:p>
                      <a:pPr algn="r">
                        <a:defRPr sz="900">
                          <a:solidFill>
                            <a:srgbClr val="2D2D3D"/>
                          </a:solidFill>
                          <a:latin typeface="Calibri"/>
                        </a:defRPr>
                      </a:pPr>
                      <a:r>
                        <a:t>71%</a:t>
                      </a:r>
                    </a:p>
                  </a:txBody>
                  <a:tcPr>
                    <a:solidFill>
                      <a:srgbClr val="FFFFFF"/>
                    </a:solidFill>
                  </a:tcPr>
                </a:tc>
                <a:tc>
                  <a:txBody>
                    <a:bodyPr/>
                    <a:lstStyle/>
                    <a:p>
                      <a:pPr algn="r">
                        <a:defRPr sz="900">
                          <a:solidFill>
                            <a:srgbClr val="2D2D3D"/>
                          </a:solidFill>
                          <a:latin typeface="Calibri"/>
                        </a:defRPr>
                      </a:pPr>
                      <a:r>
                        <a:t>292bp</a:t>
                      </a:r>
                    </a:p>
                  </a:txBody>
                  <a:tcPr>
                    <a:solidFill>
                      <a:srgbClr val="FFFFFF"/>
                    </a:solidFill>
                  </a:tcPr>
                </a:tc>
                <a:tc>
                  <a:txBody>
                    <a:bodyPr/>
                    <a:lstStyle/>
                    <a:p>
                      <a:pPr algn="r">
                        <a:defRPr sz="900">
                          <a:solidFill>
                            <a:srgbClr val="2D2D3D"/>
                          </a:solidFill>
                          <a:latin typeface="Calibri"/>
                        </a:defRPr>
                      </a:pPr>
                      <a:r>
                        <a:t>329bp</a:t>
                      </a:r>
                    </a:p>
                  </a:txBody>
                  <a:tcPr>
                    <a:solidFill>
                      <a:srgbClr val="FFFFFF"/>
                    </a:solidFill>
                  </a:tcPr>
                </a:tc>
                <a:tc>
                  <a:txBody>
                    <a:bodyPr/>
                    <a:lstStyle/>
                    <a:p>
                      <a:pPr algn="r">
                        <a:defRPr sz="900">
                          <a:solidFill>
                            <a:srgbClr val="2D2D3D"/>
                          </a:solidFill>
                          <a:latin typeface="Calibri"/>
                        </a:defRPr>
                      </a:pPr>
                      <a:r>
                        <a:t>346bp</a:t>
                      </a:r>
                    </a:p>
                  </a:txBody>
                  <a:tcPr>
                    <a:solidFill>
                      <a:srgbClr val="FFFFFF"/>
                    </a:solidFill>
                  </a:tcPr>
                </a:tc>
                <a:tc>
                  <a:txBody>
                    <a:bodyPr/>
                    <a:lstStyle/>
                    <a:p>
                      <a:pPr algn="r">
                        <a:defRPr sz="900">
                          <a:solidFill>
                            <a:srgbClr val="2D2D3D"/>
                          </a:solidFill>
                          <a:latin typeface="Calibri"/>
                        </a:defRPr>
                      </a:pPr>
                      <a:r>
                        <a:t>+37</a:t>
                      </a:r>
                    </a:p>
                  </a:txBody>
                  <a:tcPr>
                    <a:solidFill>
                      <a:srgbClr val="FFFFFF"/>
                    </a:solidFill>
                  </a:tcPr>
                </a:tc>
                <a:tc>
                  <a:txBody>
                    <a:bodyPr/>
                    <a:lstStyle/>
                    <a:p>
                      <a:pPr algn="r">
                        <a:defRPr sz="900">
                          <a:solidFill>
                            <a:srgbClr val="2D2D3D"/>
                          </a:solidFill>
                          <a:latin typeface="Calibri"/>
                        </a:defRPr>
                      </a:pPr>
                      <a:r>
                        <a:t>+54</a:t>
                      </a:r>
                    </a:p>
                  </a:txBody>
                  <a:tcPr>
                    <a:solidFill>
                      <a:srgbClr val="FFFFFF"/>
                    </a:solidFill>
                  </a:tcPr>
                </a:tc>
                <a:tc>
                  <a:txBody>
                    <a:bodyPr/>
                    <a:lstStyle/>
                    <a:p>
                      <a:pPr algn="r">
                        <a:defRPr sz="900">
                          <a:solidFill>
                            <a:srgbClr val="2D2D3D"/>
                          </a:solidFill>
                          <a:latin typeface="Calibri"/>
                        </a:defRPr>
                      </a:pPr>
                      <a:r>
                        <a:t>+17</a:t>
                      </a:r>
                    </a:p>
                  </a:txBody>
                  <a:tcPr>
                    <a:solidFill>
                      <a:srgbClr val="FFFFFF"/>
                    </a:solidFill>
                  </a:tcPr>
                </a:tc>
              </a:tr>
              <a:tr h="320039">
                <a:tc>
                  <a:txBody>
                    <a:bodyPr/>
                    <a:lstStyle/>
                    <a:p>
                      <a:pPr algn="l">
                        <a:defRPr sz="900">
                          <a:solidFill>
                            <a:srgbClr val="2D2D3D"/>
                          </a:solidFill>
                          <a:latin typeface="Calibri"/>
                        </a:defRPr>
                      </a:pPr>
                      <a:r>
                        <a:t>B−</a:t>
                      </a:r>
                    </a:p>
                  </a:txBody>
                  <a:tcPr>
                    <a:solidFill>
                      <a:srgbClr val="E8EBF5"/>
                    </a:solidFill>
                  </a:tcPr>
                </a:tc>
                <a:tc>
                  <a:txBody>
                    <a:bodyPr/>
                    <a:lstStyle/>
                    <a:p>
                      <a:pPr algn="r">
                        <a:defRPr sz="900">
                          <a:solidFill>
                            <a:srgbClr val="2D2D3D"/>
                          </a:solidFill>
                          <a:latin typeface="Calibri"/>
                        </a:defRPr>
                      </a:pPr>
                      <a:r>
                        <a:t>80%</a:t>
                      </a:r>
                    </a:p>
                  </a:txBody>
                  <a:tcPr>
                    <a:solidFill>
                      <a:srgbClr val="E8EBF5"/>
                    </a:solidFill>
                  </a:tcPr>
                </a:tc>
                <a:tc>
                  <a:txBody>
                    <a:bodyPr/>
                    <a:lstStyle/>
                    <a:p>
                      <a:pPr algn="r">
                        <a:defRPr sz="900">
                          <a:solidFill>
                            <a:srgbClr val="2D2D3D"/>
                          </a:solidFill>
                          <a:latin typeface="Calibri"/>
                        </a:defRPr>
                      </a:pPr>
                      <a:r>
                        <a:t>710bp</a:t>
                      </a:r>
                    </a:p>
                  </a:txBody>
                  <a:tcPr>
                    <a:solidFill>
                      <a:srgbClr val="E8EBF5"/>
                    </a:solidFill>
                  </a:tcPr>
                </a:tc>
                <a:tc>
                  <a:txBody>
                    <a:bodyPr/>
                    <a:lstStyle/>
                    <a:p>
                      <a:pPr algn="r">
                        <a:defRPr sz="900">
                          <a:solidFill>
                            <a:srgbClr val="2D2D3D"/>
                          </a:solidFill>
                          <a:latin typeface="Calibri"/>
                        </a:defRPr>
                      </a:pPr>
                      <a:r>
                        <a:t>851bp</a:t>
                      </a:r>
                    </a:p>
                  </a:txBody>
                  <a:tcPr>
                    <a:solidFill>
                      <a:srgbClr val="E8EBF5"/>
                    </a:solidFill>
                  </a:tcPr>
                </a:tc>
                <a:tc>
                  <a:txBody>
                    <a:bodyPr/>
                    <a:lstStyle/>
                    <a:p>
                      <a:pPr algn="r">
                        <a:defRPr sz="900">
                          <a:solidFill>
                            <a:srgbClr val="2D2D3D"/>
                          </a:solidFill>
                          <a:latin typeface="Calibri"/>
                        </a:defRPr>
                      </a:pPr>
                      <a:r>
                        <a:t>862bp</a:t>
                      </a:r>
                    </a:p>
                  </a:txBody>
                  <a:tcPr>
                    <a:solidFill>
                      <a:srgbClr val="E8EBF5"/>
                    </a:solidFill>
                  </a:tcPr>
                </a:tc>
                <a:tc>
                  <a:txBody>
                    <a:bodyPr/>
                    <a:lstStyle/>
                    <a:p>
                      <a:pPr algn="r">
                        <a:defRPr sz="900">
                          <a:solidFill>
                            <a:srgbClr val="2D2D3D"/>
                          </a:solidFill>
                          <a:latin typeface="Calibri"/>
                        </a:defRPr>
                      </a:pPr>
                      <a:r>
                        <a:t>+141</a:t>
                      </a:r>
                    </a:p>
                  </a:txBody>
                  <a:tcPr>
                    <a:solidFill>
                      <a:srgbClr val="E8EBF5"/>
                    </a:solidFill>
                  </a:tcPr>
                </a:tc>
                <a:tc>
                  <a:txBody>
                    <a:bodyPr/>
                    <a:lstStyle/>
                    <a:p>
                      <a:pPr algn="r">
                        <a:defRPr sz="900">
                          <a:solidFill>
                            <a:srgbClr val="2D2D3D"/>
                          </a:solidFill>
                          <a:latin typeface="Calibri"/>
                        </a:defRPr>
                      </a:pPr>
                      <a:r>
                        <a:t>+152</a:t>
                      </a:r>
                    </a:p>
                  </a:txBody>
                  <a:tcPr>
                    <a:solidFill>
                      <a:srgbClr val="E8EBF5"/>
                    </a:solidFill>
                  </a:tcPr>
                </a:tc>
                <a:tc>
                  <a:txBody>
                    <a:bodyPr/>
                    <a:lstStyle/>
                    <a:p>
                      <a:pPr algn="r">
                        <a:defRPr sz="900">
                          <a:solidFill>
                            <a:srgbClr val="2D2D3D"/>
                          </a:solidFill>
                          <a:latin typeface="Calibri"/>
                        </a:defRPr>
                      </a:pPr>
                      <a:r>
                        <a:t>+11</a:t>
                      </a:r>
                    </a:p>
                  </a:txBody>
                  <a:tcPr>
                    <a:solidFill>
                      <a:srgbClr val="E8EBF5"/>
                    </a:solidFill>
                  </a:tcPr>
                </a:tc>
              </a:tr>
              <a:tr h="320044">
                <a:tc>
                  <a:txBody>
                    <a:bodyPr/>
                    <a:lstStyle/>
                    <a:p>
                      <a:pPr algn="l">
                        <a:defRPr sz="900">
                          <a:solidFill>
                            <a:srgbClr val="2D2D3D"/>
                          </a:solidFill>
                          <a:latin typeface="Calibri"/>
                        </a:defRPr>
                      </a:pPr>
                      <a:r>
                        <a:t>CCC</a:t>
                      </a:r>
                    </a:p>
                  </a:txBody>
                  <a:tcPr>
                    <a:solidFill>
                      <a:srgbClr val="FFFFFF"/>
                    </a:solidFill>
                  </a:tcPr>
                </a:tc>
                <a:tc>
                  <a:txBody>
                    <a:bodyPr/>
                    <a:lstStyle/>
                    <a:p>
                      <a:pPr algn="r">
                        <a:defRPr sz="900">
                          <a:solidFill>
                            <a:srgbClr val="2D2D3D"/>
                          </a:solidFill>
                          <a:latin typeface="Calibri"/>
                        </a:defRPr>
                      </a:pPr>
                      <a:r>
                        <a:t>87%</a:t>
                      </a:r>
                    </a:p>
                  </a:txBody>
                  <a:tcPr>
                    <a:solidFill>
                      <a:srgbClr val="FFFFFF"/>
                    </a:solidFill>
                  </a:tcPr>
                </a:tc>
                <a:tc>
                  <a:txBody>
                    <a:bodyPr/>
                    <a:lstStyle/>
                    <a:p>
                      <a:pPr algn="r">
                        <a:defRPr sz="900">
                          <a:solidFill>
                            <a:srgbClr val="2D2D3D"/>
                          </a:solidFill>
                          <a:latin typeface="Calibri"/>
                        </a:defRPr>
                      </a:pPr>
                      <a:r>
                        <a:t>1497bp</a:t>
                      </a:r>
                    </a:p>
                  </a:txBody>
                  <a:tcPr>
                    <a:solidFill>
                      <a:srgbClr val="FFFFFF"/>
                    </a:solidFill>
                  </a:tcPr>
                </a:tc>
                <a:tc>
                  <a:txBody>
                    <a:bodyPr/>
                    <a:lstStyle/>
                    <a:p>
                      <a:pPr algn="r">
                        <a:defRPr sz="900">
                          <a:solidFill>
                            <a:srgbClr val="2D2D3D"/>
                          </a:solidFill>
                          <a:latin typeface="Calibri"/>
                        </a:defRPr>
                      </a:pPr>
                      <a:r>
                        <a:t>1759bp</a:t>
                      </a:r>
                    </a:p>
                  </a:txBody>
                  <a:tcPr>
                    <a:solidFill>
                      <a:srgbClr val="FFFFFF"/>
                    </a:solidFill>
                  </a:tcPr>
                </a:tc>
                <a:tc>
                  <a:txBody>
                    <a:bodyPr/>
                    <a:lstStyle/>
                    <a:p>
                      <a:pPr algn="r">
                        <a:defRPr sz="900">
                          <a:solidFill>
                            <a:srgbClr val="2D2D3D"/>
                          </a:solidFill>
                          <a:latin typeface="Calibri"/>
                        </a:defRPr>
                      </a:pPr>
                      <a:r>
                        <a:t>1763bp</a:t>
                      </a:r>
                    </a:p>
                  </a:txBody>
                  <a:tcPr>
                    <a:solidFill>
                      <a:srgbClr val="FFFFFF"/>
                    </a:solidFill>
                  </a:tcPr>
                </a:tc>
                <a:tc>
                  <a:txBody>
                    <a:bodyPr/>
                    <a:lstStyle/>
                    <a:p>
                      <a:pPr algn="r">
                        <a:defRPr sz="900">
                          <a:solidFill>
                            <a:srgbClr val="2D2D3D"/>
                          </a:solidFill>
                          <a:latin typeface="Calibri"/>
                        </a:defRPr>
                      </a:pPr>
                      <a:r>
                        <a:t>+262</a:t>
                      </a:r>
                    </a:p>
                  </a:txBody>
                  <a:tcPr>
                    <a:solidFill>
                      <a:srgbClr val="FFFFFF"/>
                    </a:solidFill>
                  </a:tcPr>
                </a:tc>
                <a:tc>
                  <a:txBody>
                    <a:bodyPr/>
                    <a:lstStyle/>
                    <a:p>
                      <a:pPr algn="r">
                        <a:defRPr sz="900">
                          <a:solidFill>
                            <a:srgbClr val="2D2D3D"/>
                          </a:solidFill>
                          <a:latin typeface="Calibri"/>
                        </a:defRPr>
                      </a:pPr>
                      <a:r>
                        <a:t>+266</a:t>
                      </a:r>
                    </a:p>
                  </a:txBody>
                  <a:tcPr>
                    <a:solidFill>
                      <a:srgbClr val="FFFFFF"/>
                    </a:solidFill>
                  </a:tcPr>
                </a:tc>
                <a:tc>
                  <a:txBody>
                    <a:bodyPr/>
                    <a:lstStyle/>
                    <a:p>
                      <a:pPr algn="r">
                        <a:defRPr sz="900">
                          <a:solidFill>
                            <a:srgbClr val="2D2D3D"/>
                          </a:solidFill>
                          <a:latin typeface="Calibri"/>
                        </a:defRPr>
                      </a:pPr>
                      <a:r>
                        <a:t>+4</a:t>
                      </a:r>
                    </a:p>
                  </a:txBody>
                  <a:tcPr>
                    <a:solidFill>
                      <a:srgbClr val="FFFFFF"/>
                    </a:solidFill>
                  </a:tcPr>
                </a:tc>
              </a:tr>
            </a:tbl>
          </a:graphicData>
        </a:graphic>
      </p:graphicFrame>
      <p:sp>
        <p:nvSpPr>
          <p:cNvPr id="19" name="Rounded Rectangle 18"/>
          <p:cNvSpPr/>
          <p:nvPr/>
        </p:nvSpPr>
        <p:spPr>
          <a:xfrm>
            <a:off x="914400" y="6217920"/>
            <a:ext cx="7315200" cy="411480"/>
          </a:xfrm>
          <a:prstGeom prst="roundRect">
            <a:avLst/>
          </a:prstGeom>
          <a:solidFill>
            <a:srgbClr val="E04F4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100" b="1">
                <a:solidFill>
                  <a:srgbClr val="FFFFFF"/>
                </a:solidFill>
                <a:latin typeface="Calibri"/>
              </a:defRPr>
            </a:pPr>
            <a:r>
              <a:t>Toggle ≥ PIK in every case from B onwards. The ‘protection’ of cash-pay on good paths is more than offset by the concentrated spiral on bad paths.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13</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MC Convergence &amp; Precision</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How many paths are enough?</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14/16</a:t>
            </a:r>
          </a:p>
        </p:txBody>
      </p:sp>
      <p:sp>
        <p:nvSpPr>
          <p:cNvPr id="6" name="TextBox 5"/>
          <p:cNvSpPr txBox="1"/>
          <p:nvPr/>
        </p:nvSpPr>
        <p:spPr>
          <a:xfrm>
            <a:off x="457200" y="1005840"/>
            <a:ext cx="8229600" cy="457200"/>
          </a:xfrm>
          <a:prstGeom prst="rect">
            <a:avLst/>
          </a:prstGeom>
          <a:noFill/>
        </p:spPr>
        <p:txBody>
          <a:bodyPr wrap="square">
            <a:spAutoFit/>
          </a:bodyPr>
          <a:lstStyle/>
          <a:p>
            <a:pPr algn="l">
              <a:defRPr sz="1400" b="0">
                <a:solidFill>
                  <a:srgbClr val="2D2D3D"/>
                </a:solidFill>
                <a:latin typeface="Calibri"/>
              </a:defRPr>
            </a:pPr>
            <a:r>
              <a:t>MC standard error decreases as 1/√n. Antithetic variates roughly halve the variance (each path paired with its mirror). Our production run uses 25,000 paths.</a:t>
            </a:r>
          </a:p>
        </p:txBody>
      </p:sp>
      <p:sp>
        <p:nvSpPr>
          <p:cNvPr id="7" name="TextBox 6"/>
          <p:cNvSpPr txBox="1"/>
          <p:nvPr/>
        </p:nvSpPr>
        <p:spPr>
          <a:xfrm>
            <a:off x="457200" y="1554480"/>
            <a:ext cx="4572000" cy="320040"/>
          </a:xfrm>
          <a:prstGeom prst="rect">
            <a:avLst/>
          </a:prstGeom>
          <a:noFill/>
        </p:spPr>
        <p:txBody>
          <a:bodyPr wrap="square">
            <a:spAutoFit/>
          </a:bodyPr>
          <a:lstStyle/>
          <a:p>
            <a:pPr algn="l">
              <a:defRPr sz="1600" b="1">
                <a:solidFill>
                  <a:srgbClr val="2C3E6B"/>
                </a:solidFill>
                <a:latin typeface="Calibri"/>
              </a:defRPr>
            </a:pPr>
            <a:r>
              <a:t>SE = σ(path PVs) / √n</a:t>
            </a:r>
          </a:p>
        </p:txBody>
      </p:sp>
      <p:sp>
        <p:nvSpPr>
          <p:cNvPr id="8" name="TextBox 7"/>
          <p:cNvSpPr txBox="1"/>
          <p:nvPr/>
        </p:nvSpPr>
        <p:spPr>
          <a:xfrm>
            <a:off x="457200" y="1874520"/>
            <a:ext cx="4572000" cy="228600"/>
          </a:xfrm>
          <a:prstGeom prst="rect">
            <a:avLst/>
          </a:prstGeom>
          <a:noFill/>
        </p:spPr>
        <p:txBody>
          <a:bodyPr wrap="square">
            <a:spAutoFit/>
          </a:bodyPr>
          <a:lstStyle/>
          <a:p>
            <a:pPr algn="l">
              <a:defRPr sz="1100" b="0">
                <a:solidFill>
                  <a:srgbClr val="555570"/>
                </a:solidFill>
                <a:latin typeface="Calibri"/>
              </a:defRPr>
            </a:pPr>
            <a:r>
              <a:t>Standard error of the MC price estimate</a:t>
            </a:r>
          </a:p>
        </p:txBody>
      </p:sp>
      <p:sp>
        <p:nvSpPr>
          <p:cNvPr id="9" name="TextBox 8"/>
          <p:cNvSpPr txBox="1"/>
          <p:nvPr/>
        </p:nvSpPr>
        <p:spPr>
          <a:xfrm>
            <a:off x="457200" y="2103120"/>
            <a:ext cx="5029200" cy="228600"/>
          </a:xfrm>
          <a:prstGeom prst="rect">
            <a:avLst/>
          </a:prstGeom>
          <a:noFill/>
        </p:spPr>
        <p:txBody>
          <a:bodyPr wrap="square">
            <a:spAutoFit/>
          </a:bodyPr>
          <a:lstStyle/>
          <a:p>
            <a:pPr algn="l">
              <a:defRPr sz="1200" b="1">
                <a:solidFill>
                  <a:srgbClr val="2C3E6B"/>
                </a:solidFill>
                <a:latin typeface="Calibri"/>
              </a:defRPr>
            </a:pPr>
            <a:r>
              <a:t>Convergence: B− PIK Z-Spread vs Number of Paths</a:t>
            </a:r>
          </a:p>
        </p:txBody>
      </p:sp>
      <p:sp>
        <p:nvSpPr>
          <p:cNvPr id="10" name="Rectangle 9"/>
          <p:cNvSpPr/>
          <p:nvPr/>
        </p:nvSpPr>
        <p:spPr>
          <a:xfrm>
            <a:off x="457200" y="4754880"/>
            <a:ext cx="5029200" cy="12700"/>
          </a:xfrm>
          <a:prstGeom prst="rect">
            <a:avLst/>
          </a:prstGeom>
          <a:solidFill>
            <a:srgbClr val="555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468880"/>
            <a:ext cx="12700" cy="2286000"/>
          </a:xfrm>
          <a:prstGeom prst="rect">
            <a:avLst/>
          </a:prstGeom>
          <a:solidFill>
            <a:srgbClr val="555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805680"/>
            <a:ext cx="5029200" cy="182880"/>
          </a:xfrm>
          <a:prstGeom prst="rect">
            <a:avLst/>
          </a:prstGeom>
          <a:noFill/>
        </p:spPr>
        <p:txBody>
          <a:bodyPr wrap="square">
            <a:spAutoFit/>
          </a:bodyPr>
          <a:lstStyle/>
          <a:p>
            <a:pPr algn="ctr">
              <a:defRPr sz="800" b="0">
                <a:solidFill>
                  <a:srgbClr val="555570"/>
                </a:solidFill>
                <a:latin typeface="Calibri"/>
              </a:defRPr>
            </a:pPr>
            <a:r>
              <a:t>Number of Paths →</a:t>
            </a:r>
          </a:p>
        </p:txBody>
      </p:sp>
      <p:sp>
        <p:nvSpPr>
          <p:cNvPr id="13" name="Oval 12"/>
          <p:cNvSpPr/>
          <p:nvPr/>
        </p:nvSpPr>
        <p:spPr>
          <a:xfrm>
            <a:off x="406400" y="3679822"/>
            <a:ext cx="101600" cy="1016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0850" y="2816222"/>
            <a:ext cx="12700" cy="182880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2880" y="4831080"/>
            <a:ext cx="548640" cy="182880"/>
          </a:xfrm>
          <a:prstGeom prst="rect">
            <a:avLst/>
          </a:prstGeom>
          <a:noFill/>
        </p:spPr>
        <p:txBody>
          <a:bodyPr wrap="square">
            <a:spAutoFit/>
          </a:bodyPr>
          <a:lstStyle/>
          <a:p>
            <a:pPr algn="ctr">
              <a:defRPr sz="700" b="0">
                <a:solidFill>
                  <a:srgbClr val="555570"/>
                </a:solidFill>
                <a:latin typeface="Calibri"/>
              </a:defRPr>
            </a:pPr>
            <a:r>
              <a:t>500</a:t>
            </a:r>
          </a:p>
        </p:txBody>
      </p:sp>
      <p:sp>
        <p:nvSpPr>
          <p:cNvPr id="16" name="Oval 15"/>
          <p:cNvSpPr/>
          <p:nvPr/>
        </p:nvSpPr>
        <p:spPr>
          <a:xfrm>
            <a:off x="1124857" y="2418080"/>
            <a:ext cx="101600" cy="1016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69307" y="1822301"/>
            <a:ext cx="12700" cy="1293157"/>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337" y="4831080"/>
            <a:ext cx="548640" cy="182880"/>
          </a:xfrm>
          <a:prstGeom prst="rect">
            <a:avLst/>
          </a:prstGeom>
          <a:noFill/>
        </p:spPr>
        <p:txBody>
          <a:bodyPr wrap="square">
            <a:spAutoFit/>
          </a:bodyPr>
          <a:lstStyle/>
          <a:p>
            <a:pPr algn="ctr">
              <a:defRPr sz="700" b="0">
                <a:solidFill>
                  <a:srgbClr val="555570"/>
                </a:solidFill>
                <a:latin typeface="Calibri"/>
              </a:defRPr>
            </a:pPr>
            <a:r>
              <a:t>1K</a:t>
            </a:r>
          </a:p>
        </p:txBody>
      </p:sp>
      <p:sp>
        <p:nvSpPr>
          <p:cNvPr id="19" name="Oval 18"/>
          <p:cNvSpPr/>
          <p:nvPr/>
        </p:nvSpPr>
        <p:spPr>
          <a:xfrm>
            <a:off x="1843314" y="3420142"/>
            <a:ext cx="101600" cy="1016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87764" y="3013742"/>
            <a:ext cx="12700" cy="91440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19794" y="4831080"/>
            <a:ext cx="548640" cy="182880"/>
          </a:xfrm>
          <a:prstGeom prst="rect">
            <a:avLst/>
          </a:prstGeom>
          <a:noFill/>
        </p:spPr>
        <p:txBody>
          <a:bodyPr wrap="square">
            <a:spAutoFit/>
          </a:bodyPr>
          <a:lstStyle/>
          <a:p>
            <a:pPr algn="ctr">
              <a:defRPr sz="700" b="0">
                <a:solidFill>
                  <a:srgbClr val="555570"/>
                </a:solidFill>
                <a:latin typeface="Calibri"/>
              </a:defRPr>
            </a:pPr>
            <a:r>
              <a:t>2K</a:t>
            </a:r>
          </a:p>
        </p:txBody>
      </p:sp>
      <p:sp>
        <p:nvSpPr>
          <p:cNvPr id="22" name="Oval 21"/>
          <p:cNvSpPr/>
          <p:nvPr/>
        </p:nvSpPr>
        <p:spPr>
          <a:xfrm>
            <a:off x="2561771" y="3165123"/>
            <a:ext cx="101600" cy="1016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6221" y="2926764"/>
            <a:ext cx="12700" cy="578318"/>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38251" y="4831080"/>
            <a:ext cx="548640" cy="182880"/>
          </a:xfrm>
          <a:prstGeom prst="rect">
            <a:avLst/>
          </a:prstGeom>
          <a:noFill/>
        </p:spPr>
        <p:txBody>
          <a:bodyPr wrap="square">
            <a:spAutoFit/>
          </a:bodyPr>
          <a:lstStyle/>
          <a:p>
            <a:pPr algn="ctr">
              <a:defRPr sz="700" b="0">
                <a:solidFill>
                  <a:srgbClr val="555570"/>
                </a:solidFill>
                <a:latin typeface="Calibri"/>
              </a:defRPr>
            </a:pPr>
            <a:r>
              <a:t>5K</a:t>
            </a:r>
          </a:p>
        </p:txBody>
      </p:sp>
      <p:sp>
        <p:nvSpPr>
          <p:cNvPr id="25" name="Oval 24"/>
          <p:cNvSpPr/>
          <p:nvPr/>
        </p:nvSpPr>
        <p:spPr>
          <a:xfrm>
            <a:off x="3280228" y="3581264"/>
            <a:ext cx="101600" cy="1016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24678" y="3427598"/>
            <a:ext cx="12700" cy="408932"/>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6708" y="4831080"/>
            <a:ext cx="548640" cy="182880"/>
          </a:xfrm>
          <a:prstGeom prst="rect">
            <a:avLst/>
          </a:prstGeom>
          <a:noFill/>
        </p:spPr>
        <p:txBody>
          <a:bodyPr wrap="square">
            <a:spAutoFit/>
          </a:bodyPr>
          <a:lstStyle/>
          <a:p>
            <a:pPr algn="ctr">
              <a:defRPr sz="700" b="0">
                <a:solidFill>
                  <a:srgbClr val="555570"/>
                </a:solidFill>
                <a:latin typeface="Calibri"/>
              </a:defRPr>
            </a:pPr>
            <a:r>
              <a:t>10K</a:t>
            </a:r>
          </a:p>
        </p:txBody>
      </p:sp>
      <p:sp>
        <p:nvSpPr>
          <p:cNvPr id="28" name="Oval 27"/>
          <p:cNvSpPr/>
          <p:nvPr/>
        </p:nvSpPr>
        <p:spPr>
          <a:xfrm>
            <a:off x="3998685" y="3561174"/>
            <a:ext cx="101600" cy="1016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43135" y="3445028"/>
            <a:ext cx="12700" cy="333892"/>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75165" y="4831080"/>
            <a:ext cx="548640" cy="182880"/>
          </a:xfrm>
          <a:prstGeom prst="rect">
            <a:avLst/>
          </a:prstGeom>
          <a:noFill/>
        </p:spPr>
        <p:txBody>
          <a:bodyPr wrap="square">
            <a:spAutoFit/>
          </a:bodyPr>
          <a:lstStyle/>
          <a:p>
            <a:pPr algn="ctr">
              <a:defRPr sz="700" b="0">
                <a:solidFill>
                  <a:srgbClr val="555570"/>
                </a:solidFill>
                <a:latin typeface="Calibri"/>
              </a:defRPr>
            </a:pPr>
            <a:r>
              <a:t>15K</a:t>
            </a:r>
          </a:p>
        </p:txBody>
      </p:sp>
      <p:sp>
        <p:nvSpPr>
          <p:cNvPr id="31" name="Oval 30"/>
          <p:cNvSpPr/>
          <p:nvPr/>
        </p:nvSpPr>
        <p:spPr>
          <a:xfrm>
            <a:off x="4717142" y="3440466"/>
            <a:ext cx="101600" cy="1016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61592" y="3346687"/>
            <a:ext cx="12700" cy="289158"/>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93622" y="4831080"/>
            <a:ext cx="548640" cy="182880"/>
          </a:xfrm>
          <a:prstGeom prst="rect">
            <a:avLst/>
          </a:prstGeom>
          <a:noFill/>
        </p:spPr>
        <p:txBody>
          <a:bodyPr wrap="square">
            <a:spAutoFit/>
          </a:bodyPr>
          <a:lstStyle/>
          <a:p>
            <a:pPr algn="ctr">
              <a:defRPr sz="700" b="0">
                <a:solidFill>
                  <a:srgbClr val="555570"/>
                </a:solidFill>
                <a:latin typeface="Calibri"/>
              </a:defRPr>
            </a:pPr>
            <a:r>
              <a:t>20K</a:t>
            </a:r>
          </a:p>
        </p:txBody>
      </p:sp>
      <p:sp>
        <p:nvSpPr>
          <p:cNvPr id="34" name="Oval 33"/>
          <p:cNvSpPr/>
          <p:nvPr/>
        </p:nvSpPr>
        <p:spPr>
          <a:xfrm>
            <a:off x="5435600" y="3442880"/>
            <a:ext cx="101600" cy="1016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0050" y="3364365"/>
            <a:ext cx="12700" cy="258631"/>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0" y="4831080"/>
            <a:ext cx="548640" cy="182880"/>
          </a:xfrm>
          <a:prstGeom prst="rect">
            <a:avLst/>
          </a:prstGeom>
          <a:noFill/>
        </p:spPr>
        <p:txBody>
          <a:bodyPr wrap="square">
            <a:spAutoFit/>
          </a:bodyPr>
          <a:lstStyle/>
          <a:p>
            <a:pPr algn="ctr">
              <a:defRPr sz="700" b="0">
                <a:solidFill>
                  <a:srgbClr val="555570"/>
                </a:solidFill>
                <a:latin typeface="Calibri"/>
              </a:defRPr>
            </a:pPr>
            <a:r>
              <a:t>25K</a:t>
            </a:r>
          </a:p>
        </p:txBody>
      </p:sp>
      <p:sp>
        <p:nvSpPr>
          <p:cNvPr id="37" name="Rectangle 36"/>
          <p:cNvSpPr/>
          <p:nvPr/>
        </p:nvSpPr>
        <p:spPr>
          <a:xfrm>
            <a:off x="457200" y="3600450"/>
            <a:ext cx="5029200" cy="12700"/>
          </a:xfrm>
          <a:prstGeom prst="rect">
            <a:avLst/>
          </a:prstGeom>
          <a:solidFill>
            <a:srgbClr val="E88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37200" y="3498850"/>
            <a:ext cx="1097280" cy="182880"/>
          </a:xfrm>
          <a:prstGeom prst="rect">
            <a:avLst/>
          </a:prstGeom>
          <a:noFill/>
        </p:spPr>
        <p:txBody>
          <a:bodyPr wrap="square">
            <a:spAutoFit/>
          </a:bodyPr>
          <a:lstStyle/>
          <a:p>
            <a:pPr algn="l">
              <a:defRPr sz="800" b="0">
                <a:solidFill>
                  <a:srgbClr val="E88D3F"/>
                </a:solidFill>
                <a:latin typeface="Calibri"/>
              </a:defRPr>
            </a:pPr>
            <a:r>
              <a:t>25K = 851bp</a:t>
            </a:r>
          </a:p>
        </p:txBody>
      </p:sp>
      <p:sp>
        <p:nvSpPr>
          <p:cNvPr id="39" name="TextBox 38"/>
          <p:cNvSpPr txBox="1"/>
          <p:nvPr/>
        </p:nvSpPr>
        <p:spPr>
          <a:xfrm>
            <a:off x="5760720" y="2103120"/>
            <a:ext cx="3200400" cy="228600"/>
          </a:xfrm>
          <a:prstGeom prst="rect">
            <a:avLst/>
          </a:prstGeom>
          <a:noFill/>
        </p:spPr>
        <p:txBody>
          <a:bodyPr wrap="square">
            <a:spAutoFit/>
          </a:bodyPr>
          <a:lstStyle/>
          <a:p>
            <a:pPr algn="l">
              <a:defRPr sz="1200" b="1">
                <a:solidFill>
                  <a:srgbClr val="2C3E6B"/>
                </a:solidFill>
                <a:latin typeface="Calibri"/>
              </a:defRPr>
            </a:pPr>
            <a:r>
              <a:t>Variance Reduction Techniques</a:t>
            </a:r>
          </a:p>
        </p:txBody>
      </p:sp>
      <p:sp>
        <p:nvSpPr>
          <p:cNvPr id="40" name="TextBox 39"/>
          <p:cNvSpPr txBox="1"/>
          <p:nvPr/>
        </p:nvSpPr>
        <p:spPr>
          <a:xfrm>
            <a:off x="5760720" y="2423160"/>
            <a:ext cx="3200400" cy="2286000"/>
          </a:xfrm>
          <a:prstGeom prst="rect">
            <a:avLst/>
          </a:prstGeom>
          <a:noFill/>
        </p:spPr>
        <p:txBody>
          <a:bodyPr wrap="square">
            <a:spAutoFit/>
          </a:bodyPr>
          <a:lstStyle/>
          <a:p>
            <a:pPr>
              <a:spcAft>
                <a:spcPts val="800"/>
              </a:spcAft>
              <a:defRPr sz="1100">
                <a:solidFill>
                  <a:srgbClr val="2D2D3D"/>
                </a:solidFill>
                <a:latin typeface="Calibri"/>
              </a:defRPr>
            </a:pPr>
            <a:r>
              <a:t>Antithetic variates: for each path Z, also simulate −Z. Halves variance at zero extra computation cost</a:t>
            </a:r>
          </a:p>
          <a:p>
            <a:pPr>
              <a:spcAft>
                <a:spcPts val="800"/>
              </a:spcAft>
              <a:defRPr sz="1100">
                <a:solidFill>
                  <a:srgbClr val="2D2D3D"/>
                </a:solidFill>
                <a:latin typeface="Calibri"/>
              </a:defRPr>
            </a:pPr>
            <a:r>
              <a:t>Fixed seed (42): ensures reproducibility. Same inputs always give same outputs</a:t>
            </a:r>
          </a:p>
          <a:p>
            <a:pPr>
              <a:spcAft>
                <a:spcPts val="800"/>
              </a:spcAft>
              <a:defRPr sz="1100">
                <a:solidFill>
                  <a:srgbClr val="2D2D3D"/>
                </a:solidFill>
                <a:latin typeface="Calibri"/>
              </a:defRPr>
            </a:pPr>
            <a:r>
              <a:t>Monthly time steps (12/year): fine enough to capture coupon dates and barrier crossings</a:t>
            </a:r>
          </a:p>
          <a:p>
            <a:pPr>
              <a:spcAft>
                <a:spcPts val="800"/>
              </a:spcAft>
              <a:defRPr sz="1100">
                <a:solidFill>
                  <a:srgbClr val="2D2D3D"/>
                </a:solidFill>
                <a:latin typeface="Calibri"/>
              </a:defRPr>
            </a:pPr>
            <a:r>
              <a:t>At 25K paths: SE ≈ 0.1–0.5% of price. Z-spread precision ≈ ±5bp</a:t>
            </a:r>
          </a:p>
        </p:txBody>
      </p:sp>
      <p:sp>
        <p:nvSpPr>
          <p:cNvPr id="41" name="TextBox 40"/>
          <p:cNvSpPr txBox="1"/>
          <p:nvPr/>
        </p:nvSpPr>
        <p:spPr>
          <a:xfrm>
            <a:off x="457200" y="5029200"/>
            <a:ext cx="8229600" cy="228600"/>
          </a:xfrm>
          <a:prstGeom prst="rect">
            <a:avLst/>
          </a:prstGeom>
          <a:noFill/>
        </p:spPr>
        <p:txBody>
          <a:bodyPr wrap="square">
            <a:spAutoFit/>
          </a:bodyPr>
          <a:lstStyle/>
          <a:p>
            <a:pPr algn="l">
              <a:defRPr sz="1200" b="1">
                <a:solidFill>
                  <a:srgbClr val="2C3E6B"/>
                </a:solidFill>
                <a:latin typeface="Calibri"/>
              </a:defRPr>
            </a:pPr>
            <a:r>
              <a:t>Standard Errors at 25,000 Paths (from MC engine)</a:t>
            </a:r>
          </a:p>
        </p:txBody>
      </p:sp>
      <p:graphicFrame>
        <p:nvGraphicFramePr>
          <p:cNvPr id="42" name="Table 41"/>
          <p:cNvGraphicFramePr>
            <a:graphicFrameLocks noGrp="1"/>
          </p:cNvGraphicFramePr>
          <p:nvPr/>
        </p:nvGraphicFramePr>
        <p:xfrm>
          <a:off x="274320" y="5303520"/>
          <a:ext cx="4663440" cy="1920239"/>
        </p:xfrm>
        <a:graphic>
          <a:graphicData uri="http://schemas.openxmlformats.org/drawingml/2006/table">
            <a:tbl>
              <a:tblPr firstRow="1" bandRow="1">
                <a:tableStyleId>{5C22544A-7EE6-4342-B048-85BDC9FD1C3A}</a:tableStyleId>
              </a:tblPr>
              <a:tblGrid>
                <a:gridCol w="731520"/>
                <a:gridCol w="457200"/>
                <a:gridCol w="914400"/>
                <a:gridCol w="914400"/>
                <a:gridCol w="914400"/>
                <a:gridCol w="731520"/>
              </a:tblGrid>
              <a:tr h="320039">
                <a:tc>
                  <a:txBody>
                    <a:bodyPr/>
                    <a:lstStyle/>
                    <a:p>
                      <a:pPr algn="ctr">
                        <a:defRPr sz="1000" b="1">
                          <a:solidFill>
                            <a:srgbClr val="FFFFFF"/>
                          </a:solidFill>
                          <a:latin typeface="Calibri"/>
                        </a:defRPr>
                      </a:pPr>
                      <a:r>
                        <a:t>Issuer</a:t>
                      </a:r>
                    </a:p>
                  </a:txBody>
                  <a:tcPr>
                    <a:solidFill>
                      <a:srgbClr val="2C3E6B"/>
                    </a:solidFill>
                  </a:tcPr>
                </a:tc>
                <a:tc>
                  <a:txBody>
                    <a:bodyPr/>
                    <a:lstStyle/>
                    <a:p>
                      <a:pPr algn="ctr">
                        <a:defRPr sz="1000" b="1">
                          <a:solidFill>
                            <a:srgbClr val="FFFFFF"/>
                          </a:solidFill>
                          <a:latin typeface="Calibri"/>
                        </a:defRPr>
                      </a:pPr>
                      <a:r>
                        <a:t>LTV</a:t>
                      </a:r>
                    </a:p>
                  </a:txBody>
                  <a:tcPr>
                    <a:solidFill>
                      <a:srgbClr val="2C3E6B"/>
                    </a:solidFill>
                  </a:tcPr>
                </a:tc>
                <a:tc>
                  <a:txBody>
                    <a:bodyPr/>
                    <a:lstStyle/>
                    <a:p>
                      <a:pPr algn="ctr">
                        <a:defRPr sz="1000" b="1">
                          <a:solidFill>
                            <a:srgbClr val="FFFFFF"/>
                          </a:solidFill>
                          <a:latin typeface="Calibri"/>
                        </a:defRPr>
                      </a:pPr>
                      <a:r>
                        <a:t>Cash SE (%)</a:t>
                      </a:r>
                    </a:p>
                  </a:txBody>
                  <a:tcPr>
                    <a:solidFill>
                      <a:srgbClr val="2C3E6B"/>
                    </a:solidFill>
                  </a:tcPr>
                </a:tc>
                <a:tc>
                  <a:txBody>
                    <a:bodyPr/>
                    <a:lstStyle/>
                    <a:p>
                      <a:pPr algn="ctr">
                        <a:defRPr sz="1000" b="1">
                          <a:solidFill>
                            <a:srgbClr val="FFFFFF"/>
                          </a:solidFill>
                          <a:latin typeface="Calibri"/>
                        </a:defRPr>
                      </a:pPr>
                      <a:r>
                        <a:t>PIK SE (%)</a:t>
                      </a:r>
                    </a:p>
                  </a:txBody>
                  <a:tcPr>
                    <a:solidFill>
                      <a:srgbClr val="2C3E6B"/>
                    </a:solidFill>
                  </a:tcPr>
                </a:tc>
                <a:tc>
                  <a:txBody>
                    <a:bodyPr/>
                    <a:lstStyle/>
                    <a:p>
                      <a:pPr algn="ctr">
                        <a:defRPr sz="1000" b="1">
                          <a:solidFill>
                            <a:srgbClr val="FFFFFF"/>
                          </a:solidFill>
                          <a:latin typeface="Calibri"/>
                        </a:defRPr>
                      </a:pPr>
                      <a:r>
                        <a:t>Z-Spread ±</a:t>
                      </a:r>
                    </a:p>
                  </a:txBody>
                  <a:tcPr>
                    <a:solidFill>
                      <a:srgbClr val="2C3E6B"/>
                    </a:solidFill>
                  </a:tcPr>
                </a:tc>
                <a:tc>
                  <a:txBody>
                    <a:bodyPr/>
                    <a:lstStyle/>
                    <a:p>
                      <a:pPr algn="ctr">
                        <a:defRPr sz="1000" b="1">
                          <a:solidFill>
                            <a:srgbClr val="FFFFFF"/>
                          </a:solidFill>
                          <a:latin typeface="Calibri"/>
                        </a:defRPr>
                      </a:pPr>
                      <a:r>
                        <a:t>Adequate?</a:t>
                      </a:r>
                    </a:p>
                  </a:txBody>
                  <a:tcPr>
                    <a:solidFill>
                      <a:srgbClr val="2C3E6B"/>
                    </a:solidFill>
                  </a:tcPr>
                </a:tc>
              </a:tr>
              <a:tr h="320039">
                <a:tc>
                  <a:txBody>
                    <a:bodyPr/>
                    <a:lstStyle/>
                    <a:p>
                      <a:pPr algn="l">
                        <a:defRPr sz="1000">
                          <a:solidFill>
                            <a:srgbClr val="2D2D3D"/>
                          </a:solidFill>
                          <a:latin typeface="Calibri"/>
                        </a:defRPr>
                      </a:pPr>
                      <a:r>
                        <a:t>BB+</a:t>
                      </a:r>
                    </a:p>
                  </a:txBody>
                  <a:tcPr>
                    <a:solidFill>
                      <a:srgbClr val="FFFFFF"/>
                    </a:solidFill>
                  </a:tcPr>
                </a:tc>
                <a:tc>
                  <a:txBody>
                    <a:bodyPr/>
                    <a:lstStyle/>
                    <a:p>
                      <a:pPr algn="r">
                        <a:defRPr sz="1000">
                          <a:solidFill>
                            <a:srgbClr val="2D2D3D"/>
                          </a:solidFill>
                          <a:latin typeface="Calibri"/>
                        </a:defRPr>
                      </a:pPr>
                      <a:r>
                        <a:t>50%</a:t>
                      </a:r>
                    </a:p>
                  </a:txBody>
                  <a:tcPr>
                    <a:solidFill>
                      <a:srgbClr val="FFFFFF"/>
                    </a:solidFill>
                  </a:tcPr>
                </a:tc>
                <a:tc>
                  <a:txBody>
                    <a:bodyPr/>
                    <a:lstStyle/>
                    <a:p>
                      <a:pPr algn="r">
                        <a:defRPr sz="1000">
                          <a:solidFill>
                            <a:srgbClr val="2D2D3D"/>
                          </a:solidFill>
                          <a:latin typeface="Calibri"/>
                        </a:defRPr>
                      </a:pPr>
                      <a:r>
                        <a:t>0.02%</a:t>
                      </a:r>
                    </a:p>
                  </a:txBody>
                  <a:tcPr>
                    <a:solidFill>
                      <a:srgbClr val="FFFFFF"/>
                    </a:solidFill>
                  </a:tcPr>
                </a:tc>
                <a:tc>
                  <a:txBody>
                    <a:bodyPr/>
                    <a:lstStyle/>
                    <a:p>
                      <a:pPr algn="r">
                        <a:defRPr sz="1000">
                          <a:solidFill>
                            <a:srgbClr val="2D2D3D"/>
                          </a:solidFill>
                          <a:latin typeface="Calibri"/>
                        </a:defRPr>
                      </a:pPr>
                      <a:r>
                        <a:t>0.03%</a:t>
                      </a:r>
                    </a:p>
                  </a:txBody>
                  <a:tcPr>
                    <a:solidFill>
                      <a:srgbClr val="FFFFFF"/>
                    </a:solidFill>
                  </a:tcPr>
                </a:tc>
                <a:tc>
                  <a:txBody>
                    <a:bodyPr/>
                    <a:lstStyle/>
                    <a:p>
                      <a:pPr algn="r">
                        <a:defRPr sz="1000">
                          <a:solidFill>
                            <a:srgbClr val="2D2D3D"/>
                          </a:solidFill>
                          <a:latin typeface="Calibri"/>
                        </a:defRPr>
                      </a:pPr>
                      <a:r>
                        <a:t>±2bp</a:t>
                      </a:r>
                    </a:p>
                  </a:txBody>
                  <a:tcPr>
                    <a:solidFill>
                      <a:srgbClr val="FFFFFF"/>
                    </a:solidFill>
                  </a:tcPr>
                </a:tc>
                <a:tc>
                  <a:txBody>
                    <a:bodyPr/>
                    <a:lstStyle/>
                    <a:p>
                      <a:pPr algn="r">
                        <a:defRPr sz="1000">
                          <a:solidFill>
                            <a:srgbClr val="2D2D3D"/>
                          </a:solidFill>
                          <a:latin typeface="Calibri"/>
                        </a:defRPr>
                      </a:pPr>
                      <a:r>
                        <a:t>Yes</a:t>
                      </a:r>
                    </a:p>
                  </a:txBody>
                  <a:tcPr>
                    <a:solidFill>
                      <a:srgbClr val="FFFFFF"/>
                    </a:solidFill>
                  </a:tcPr>
                </a:tc>
              </a:tr>
              <a:tr h="320039">
                <a:tc>
                  <a:txBody>
                    <a:bodyPr/>
                    <a:lstStyle/>
                    <a:p>
                      <a:pPr algn="l">
                        <a:defRPr sz="1000">
                          <a:solidFill>
                            <a:srgbClr val="2D2D3D"/>
                          </a:solidFill>
                          <a:latin typeface="Calibri"/>
                        </a:defRPr>
                      </a:pPr>
                      <a:r>
                        <a:t>BB−</a:t>
                      </a:r>
                    </a:p>
                  </a:txBody>
                  <a:tcPr>
                    <a:solidFill>
                      <a:srgbClr val="E8EBF5"/>
                    </a:solidFill>
                  </a:tcPr>
                </a:tc>
                <a:tc>
                  <a:txBody>
                    <a:bodyPr/>
                    <a:lstStyle/>
                    <a:p>
                      <a:pPr algn="r">
                        <a:defRPr sz="1000">
                          <a:solidFill>
                            <a:srgbClr val="2D2D3D"/>
                          </a:solidFill>
                          <a:latin typeface="Calibri"/>
                        </a:defRPr>
                      </a:pPr>
                      <a:r>
                        <a:t>61%</a:t>
                      </a:r>
                    </a:p>
                  </a:txBody>
                  <a:tcPr>
                    <a:solidFill>
                      <a:srgbClr val="E8EBF5"/>
                    </a:solidFill>
                  </a:tcPr>
                </a:tc>
                <a:tc>
                  <a:txBody>
                    <a:bodyPr/>
                    <a:lstStyle/>
                    <a:p>
                      <a:pPr algn="r">
                        <a:defRPr sz="1000">
                          <a:solidFill>
                            <a:srgbClr val="2D2D3D"/>
                          </a:solidFill>
                          <a:latin typeface="Calibri"/>
                        </a:defRPr>
                      </a:pPr>
                      <a:r>
                        <a:t>0.05%</a:t>
                      </a:r>
                    </a:p>
                  </a:txBody>
                  <a:tcPr>
                    <a:solidFill>
                      <a:srgbClr val="E8EBF5"/>
                    </a:solidFill>
                  </a:tcPr>
                </a:tc>
                <a:tc>
                  <a:txBody>
                    <a:bodyPr/>
                    <a:lstStyle/>
                    <a:p>
                      <a:pPr algn="r">
                        <a:defRPr sz="1000">
                          <a:solidFill>
                            <a:srgbClr val="2D2D3D"/>
                          </a:solidFill>
                          <a:latin typeface="Calibri"/>
                        </a:defRPr>
                      </a:pPr>
                      <a:r>
                        <a:t>0.07%</a:t>
                      </a:r>
                    </a:p>
                  </a:txBody>
                  <a:tcPr>
                    <a:solidFill>
                      <a:srgbClr val="E8EBF5"/>
                    </a:solidFill>
                  </a:tcPr>
                </a:tc>
                <a:tc>
                  <a:txBody>
                    <a:bodyPr/>
                    <a:lstStyle/>
                    <a:p>
                      <a:pPr algn="r">
                        <a:defRPr sz="1000">
                          <a:solidFill>
                            <a:srgbClr val="2D2D3D"/>
                          </a:solidFill>
                          <a:latin typeface="Calibri"/>
                        </a:defRPr>
                      </a:pPr>
                      <a:r>
                        <a:t>±4bp</a:t>
                      </a:r>
                    </a:p>
                  </a:txBody>
                  <a:tcPr>
                    <a:solidFill>
                      <a:srgbClr val="E8EBF5"/>
                    </a:solidFill>
                  </a:tcPr>
                </a:tc>
                <a:tc>
                  <a:txBody>
                    <a:bodyPr/>
                    <a:lstStyle/>
                    <a:p>
                      <a:pPr algn="r">
                        <a:defRPr sz="1000">
                          <a:solidFill>
                            <a:srgbClr val="2D2D3D"/>
                          </a:solidFill>
                          <a:latin typeface="Calibri"/>
                        </a:defRPr>
                      </a:pPr>
                      <a:r>
                        <a:t>Yes</a:t>
                      </a:r>
                    </a:p>
                  </a:txBody>
                  <a:tcPr>
                    <a:solidFill>
                      <a:srgbClr val="E8EBF5"/>
                    </a:solidFill>
                  </a:tcPr>
                </a:tc>
              </a:tr>
              <a:tr h="320039">
                <a:tc>
                  <a:txBody>
                    <a:bodyPr/>
                    <a:lstStyle/>
                    <a:p>
                      <a:pPr algn="l">
                        <a:defRPr sz="1000">
                          <a:solidFill>
                            <a:srgbClr val="2D2D3D"/>
                          </a:solidFill>
                          <a:latin typeface="Calibri"/>
                        </a:defRPr>
                      </a:pPr>
                      <a:r>
                        <a:t>B</a:t>
                      </a:r>
                    </a:p>
                  </a:txBody>
                  <a:tcPr>
                    <a:solidFill>
                      <a:srgbClr val="FFFFFF"/>
                    </a:solidFill>
                  </a:tcPr>
                </a:tc>
                <a:tc>
                  <a:txBody>
                    <a:bodyPr/>
                    <a:lstStyle/>
                    <a:p>
                      <a:pPr algn="r">
                        <a:defRPr sz="1000">
                          <a:solidFill>
                            <a:srgbClr val="2D2D3D"/>
                          </a:solidFill>
                          <a:latin typeface="Calibri"/>
                        </a:defRPr>
                      </a:pPr>
                      <a:r>
                        <a:t>71%</a:t>
                      </a:r>
                    </a:p>
                  </a:txBody>
                  <a:tcPr>
                    <a:solidFill>
                      <a:srgbClr val="FFFFFF"/>
                    </a:solidFill>
                  </a:tcPr>
                </a:tc>
                <a:tc>
                  <a:txBody>
                    <a:bodyPr/>
                    <a:lstStyle/>
                    <a:p>
                      <a:pPr algn="r">
                        <a:defRPr sz="1000">
                          <a:solidFill>
                            <a:srgbClr val="2D2D3D"/>
                          </a:solidFill>
                          <a:latin typeface="Calibri"/>
                        </a:defRPr>
                      </a:pPr>
                      <a:r>
                        <a:t>0.12%</a:t>
                      </a:r>
                    </a:p>
                  </a:txBody>
                  <a:tcPr>
                    <a:solidFill>
                      <a:srgbClr val="FFFFFF"/>
                    </a:solidFill>
                  </a:tcPr>
                </a:tc>
                <a:tc>
                  <a:txBody>
                    <a:bodyPr/>
                    <a:lstStyle/>
                    <a:p>
                      <a:pPr algn="r">
                        <a:defRPr sz="1000">
                          <a:solidFill>
                            <a:srgbClr val="2D2D3D"/>
                          </a:solidFill>
                          <a:latin typeface="Calibri"/>
                        </a:defRPr>
                      </a:pPr>
                      <a:r>
                        <a:t>0.18%</a:t>
                      </a:r>
                    </a:p>
                  </a:txBody>
                  <a:tcPr>
                    <a:solidFill>
                      <a:srgbClr val="FFFFFF"/>
                    </a:solidFill>
                  </a:tcPr>
                </a:tc>
                <a:tc>
                  <a:txBody>
                    <a:bodyPr/>
                    <a:lstStyle/>
                    <a:p>
                      <a:pPr algn="r">
                        <a:defRPr sz="1000">
                          <a:solidFill>
                            <a:srgbClr val="2D2D3D"/>
                          </a:solidFill>
                          <a:latin typeface="Calibri"/>
                        </a:defRPr>
                      </a:pPr>
                      <a:r>
                        <a:t>±8bp</a:t>
                      </a:r>
                    </a:p>
                  </a:txBody>
                  <a:tcPr>
                    <a:solidFill>
                      <a:srgbClr val="FFFFFF"/>
                    </a:solidFill>
                  </a:tcPr>
                </a:tc>
                <a:tc>
                  <a:txBody>
                    <a:bodyPr/>
                    <a:lstStyle/>
                    <a:p>
                      <a:pPr algn="r">
                        <a:defRPr sz="1000">
                          <a:solidFill>
                            <a:srgbClr val="2D2D3D"/>
                          </a:solidFill>
                          <a:latin typeface="Calibri"/>
                        </a:defRPr>
                      </a:pPr>
                      <a:r>
                        <a:t>Yes</a:t>
                      </a:r>
                    </a:p>
                  </a:txBody>
                  <a:tcPr>
                    <a:solidFill>
                      <a:srgbClr val="FFFFFF"/>
                    </a:solidFill>
                  </a:tcPr>
                </a:tc>
              </a:tr>
              <a:tr h="320039">
                <a:tc>
                  <a:txBody>
                    <a:bodyPr/>
                    <a:lstStyle/>
                    <a:p>
                      <a:pPr algn="l">
                        <a:defRPr sz="1000">
                          <a:solidFill>
                            <a:srgbClr val="2D2D3D"/>
                          </a:solidFill>
                          <a:latin typeface="Calibri"/>
                        </a:defRPr>
                      </a:pPr>
                      <a:r>
                        <a:t>B−</a:t>
                      </a:r>
                    </a:p>
                  </a:txBody>
                  <a:tcPr>
                    <a:solidFill>
                      <a:srgbClr val="E8EBF5"/>
                    </a:solidFill>
                  </a:tcPr>
                </a:tc>
                <a:tc>
                  <a:txBody>
                    <a:bodyPr/>
                    <a:lstStyle/>
                    <a:p>
                      <a:pPr algn="r">
                        <a:defRPr sz="1000">
                          <a:solidFill>
                            <a:srgbClr val="2D2D3D"/>
                          </a:solidFill>
                          <a:latin typeface="Calibri"/>
                        </a:defRPr>
                      </a:pPr>
                      <a:r>
                        <a:t>80%</a:t>
                      </a:r>
                    </a:p>
                  </a:txBody>
                  <a:tcPr>
                    <a:solidFill>
                      <a:srgbClr val="E8EBF5"/>
                    </a:solidFill>
                  </a:tcPr>
                </a:tc>
                <a:tc>
                  <a:txBody>
                    <a:bodyPr/>
                    <a:lstStyle/>
                    <a:p>
                      <a:pPr algn="r">
                        <a:defRPr sz="1000">
                          <a:solidFill>
                            <a:srgbClr val="2D2D3D"/>
                          </a:solidFill>
                          <a:latin typeface="Calibri"/>
                        </a:defRPr>
                      </a:pPr>
                      <a:r>
                        <a:t>0.25%</a:t>
                      </a:r>
                    </a:p>
                  </a:txBody>
                  <a:tcPr>
                    <a:solidFill>
                      <a:srgbClr val="E8EBF5"/>
                    </a:solidFill>
                  </a:tcPr>
                </a:tc>
                <a:tc>
                  <a:txBody>
                    <a:bodyPr/>
                    <a:lstStyle/>
                    <a:p>
                      <a:pPr algn="r">
                        <a:defRPr sz="1000">
                          <a:solidFill>
                            <a:srgbClr val="2D2D3D"/>
                          </a:solidFill>
                          <a:latin typeface="Calibri"/>
                        </a:defRPr>
                      </a:pPr>
                      <a:r>
                        <a:t>0.38%</a:t>
                      </a:r>
                    </a:p>
                  </a:txBody>
                  <a:tcPr>
                    <a:solidFill>
                      <a:srgbClr val="E8EBF5"/>
                    </a:solidFill>
                  </a:tcPr>
                </a:tc>
                <a:tc>
                  <a:txBody>
                    <a:bodyPr/>
                    <a:lstStyle/>
                    <a:p>
                      <a:pPr algn="r">
                        <a:defRPr sz="1000">
                          <a:solidFill>
                            <a:srgbClr val="2D2D3D"/>
                          </a:solidFill>
                          <a:latin typeface="Calibri"/>
                        </a:defRPr>
                      </a:pPr>
                      <a:r>
                        <a:t>±15bp</a:t>
                      </a:r>
                    </a:p>
                  </a:txBody>
                  <a:tcPr>
                    <a:solidFill>
                      <a:srgbClr val="E8EBF5"/>
                    </a:solidFill>
                  </a:tcPr>
                </a:tc>
                <a:tc>
                  <a:txBody>
                    <a:bodyPr/>
                    <a:lstStyle/>
                    <a:p>
                      <a:pPr algn="r">
                        <a:defRPr sz="1000">
                          <a:solidFill>
                            <a:srgbClr val="2D2D3D"/>
                          </a:solidFill>
                          <a:latin typeface="Calibri"/>
                        </a:defRPr>
                      </a:pPr>
                      <a:r>
                        <a:t>Marginal</a:t>
                      </a:r>
                    </a:p>
                  </a:txBody>
                  <a:tcPr>
                    <a:solidFill>
                      <a:srgbClr val="E8EBF5"/>
                    </a:solidFill>
                  </a:tcPr>
                </a:tc>
              </a:tr>
              <a:tr h="320044">
                <a:tc>
                  <a:txBody>
                    <a:bodyPr/>
                    <a:lstStyle/>
                    <a:p>
                      <a:pPr algn="l">
                        <a:defRPr sz="1000">
                          <a:solidFill>
                            <a:srgbClr val="2D2D3D"/>
                          </a:solidFill>
                          <a:latin typeface="Calibri"/>
                        </a:defRPr>
                      </a:pPr>
                      <a:r>
                        <a:t>CCC</a:t>
                      </a:r>
                    </a:p>
                  </a:txBody>
                  <a:tcPr>
                    <a:solidFill>
                      <a:srgbClr val="FFFFFF"/>
                    </a:solidFill>
                  </a:tcPr>
                </a:tc>
                <a:tc>
                  <a:txBody>
                    <a:bodyPr/>
                    <a:lstStyle/>
                    <a:p>
                      <a:pPr algn="r">
                        <a:defRPr sz="1000">
                          <a:solidFill>
                            <a:srgbClr val="2D2D3D"/>
                          </a:solidFill>
                          <a:latin typeface="Calibri"/>
                        </a:defRPr>
                      </a:pPr>
                      <a:r>
                        <a:t>87%</a:t>
                      </a:r>
                    </a:p>
                  </a:txBody>
                  <a:tcPr>
                    <a:solidFill>
                      <a:srgbClr val="FFFFFF"/>
                    </a:solidFill>
                  </a:tcPr>
                </a:tc>
                <a:tc>
                  <a:txBody>
                    <a:bodyPr/>
                    <a:lstStyle/>
                    <a:p>
                      <a:pPr algn="r">
                        <a:defRPr sz="1000">
                          <a:solidFill>
                            <a:srgbClr val="2D2D3D"/>
                          </a:solidFill>
                          <a:latin typeface="Calibri"/>
                        </a:defRPr>
                      </a:pPr>
                      <a:r>
                        <a:t>0.45%</a:t>
                      </a:r>
                    </a:p>
                  </a:txBody>
                  <a:tcPr>
                    <a:solidFill>
                      <a:srgbClr val="FFFFFF"/>
                    </a:solidFill>
                  </a:tcPr>
                </a:tc>
                <a:tc>
                  <a:txBody>
                    <a:bodyPr/>
                    <a:lstStyle/>
                    <a:p>
                      <a:pPr algn="r">
                        <a:defRPr sz="1000">
                          <a:solidFill>
                            <a:srgbClr val="2D2D3D"/>
                          </a:solidFill>
                          <a:latin typeface="Calibri"/>
                        </a:defRPr>
                      </a:pPr>
                      <a:r>
                        <a:t>0.62%</a:t>
                      </a:r>
                    </a:p>
                  </a:txBody>
                  <a:tcPr>
                    <a:solidFill>
                      <a:srgbClr val="FFFFFF"/>
                    </a:solidFill>
                  </a:tcPr>
                </a:tc>
                <a:tc>
                  <a:txBody>
                    <a:bodyPr/>
                    <a:lstStyle/>
                    <a:p>
                      <a:pPr algn="r">
                        <a:defRPr sz="1000">
                          <a:solidFill>
                            <a:srgbClr val="2D2D3D"/>
                          </a:solidFill>
                          <a:latin typeface="Calibri"/>
                        </a:defRPr>
                      </a:pPr>
                      <a:r>
                        <a:t>±25bp</a:t>
                      </a:r>
                    </a:p>
                  </a:txBody>
                  <a:tcPr>
                    <a:solidFill>
                      <a:srgbClr val="FFFFFF"/>
                    </a:solidFill>
                  </a:tcPr>
                </a:tc>
                <a:tc>
                  <a:txBody>
                    <a:bodyPr/>
                    <a:lstStyle/>
                    <a:p>
                      <a:pPr algn="r">
                        <a:defRPr sz="1000">
                          <a:solidFill>
                            <a:srgbClr val="2D2D3D"/>
                          </a:solidFill>
                          <a:latin typeface="Calibri"/>
                        </a:defRPr>
                      </a:pPr>
                      <a:r>
                        <a:t>Marginal</a:t>
                      </a:r>
                    </a:p>
                  </a:txBody>
                  <a:tcPr>
                    <a:solidFill>
                      <a:srgbClr val="FFFFFF"/>
                    </a:solidFill>
                  </a:tcPr>
                </a:tc>
              </a:tr>
            </a:tbl>
          </a:graphicData>
        </a:graphic>
      </p:graphicFrame>
      <p:sp>
        <p:nvSpPr>
          <p:cNvPr id="43" name="TextBox 42"/>
          <p:cNvSpPr txBox="1"/>
          <p:nvPr/>
        </p:nvSpPr>
        <p:spPr>
          <a:xfrm>
            <a:off x="457200" y="6400800"/>
            <a:ext cx="8229600" cy="228600"/>
          </a:xfrm>
          <a:prstGeom prst="rect">
            <a:avLst/>
          </a:prstGeom>
          <a:noFill/>
        </p:spPr>
        <p:txBody>
          <a:bodyPr wrap="square">
            <a:spAutoFit/>
          </a:bodyPr>
          <a:lstStyle/>
          <a:p>
            <a:pPr algn="l">
              <a:defRPr sz="1000" b="0">
                <a:solidFill>
                  <a:srgbClr val="555570"/>
                </a:solidFill>
                <a:latin typeface="Calibri"/>
              </a:defRPr>
            </a:pPr>
            <a:r>
              <a:t>For stressed credits, consider 50–100K paths for production-grade precision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A"/>
        </a:solidFill>
        <a:effectLst/>
      </p:bgPr>
    </p:bg>
    <p:spTree>
      <p:nvGrpSpPr>
        <p:cNvPr id="1" name=""/>
        <p:cNvGrpSpPr/>
        <p:nvPr/>
      </p:nvGrpSpPr>
      <p:grpSpPr/>
      <p:sp>
        <p:nvSpPr>
          <p:cNvPr id="2" name="Oval 1"/>
          <p:cNvSpPr/>
          <p:nvPr/>
        </p:nvSpPr>
        <p:spPr>
          <a:xfrm>
            <a:off x="457200" y="27432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14</a:t>
            </a:r>
          </a:p>
        </p:txBody>
      </p:sp>
      <p:sp>
        <p:nvSpPr>
          <p:cNvPr id="3" name="TextBox 2"/>
          <p:cNvSpPr txBox="1"/>
          <p:nvPr/>
        </p:nvSpPr>
        <p:spPr>
          <a:xfrm>
            <a:off x="1005840" y="182880"/>
            <a:ext cx="7315200" cy="457200"/>
          </a:xfrm>
          <a:prstGeom prst="rect">
            <a:avLst/>
          </a:prstGeom>
          <a:noFill/>
        </p:spPr>
        <p:txBody>
          <a:bodyPr wrap="square">
            <a:spAutoFit/>
          </a:bodyPr>
          <a:lstStyle/>
          <a:p>
            <a:pPr algn="l">
              <a:defRPr sz="2600" b="1">
                <a:solidFill>
                  <a:srgbClr val="2C3E6B"/>
                </a:solidFill>
                <a:latin typeface="Calibri"/>
              </a:defRPr>
            </a:pPr>
            <a:r>
              <a:t>Complete Parameter Reference</a:t>
            </a:r>
          </a:p>
        </p:txBody>
      </p:sp>
      <p:sp>
        <p:nvSpPr>
          <p:cNvPr id="4" name="TextBox 3"/>
          <p:cNvSpPr txBox="1"/>
          <p:nvPr/>
        </p:nvSpPr>
        <p:spPr>
          <a:xfrm>
            <a:off x="1005840" y="594360"/>
            <a:ext cx="7315200" cy="365760"/>
          </a:xfrm>
          <a:prstGeom prst="rect">
            <a:avLst/>
          </a:prstGeom>
          <a:noFill/>
        </p:spPr>
        <p:txBody>
          <a:bodyPr wrap="square">
            <a:spAutoFit/>
          </a:bodyPr>
          <a:lstStyle/>
          <a:p>
            <a:pPr algn="l">
              <a:defRPr sz="1400" b="0">
                <a:solidFill>
                  <a:srgbClr val="555570"/>
                </a:solidFill>
                <a:latin typeface="Calibri"/>
              </a:defRPr>
            </a:pPr>
            <a:r>
              <a:t>All assumptions in one place</a:t>
            </a:r>
          </a:p>
        </p:txBody>
      </p:sp>
      <p:sp>
        <p:nvSpPr>
          <p:cNvPr id="5" name="TextBox 4"/>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15/16</a:t>
            </a:r>
          </a:p>
        </p:txBody>
      </p:sp>
      <p:sp>
        <p:nvSpPr>
          <p:cNvPr id="6" name="TextBox 5"/>
          <p:cNvSpPr txBox="1"/>
          <p:nvPr/>
        </p:nvSpPr>
        <p:spPr>
          <a:xfrm>
            <a:off x="274320" y="914400"/>
            <a:ext cx="4114800" cy="228600"/>
          </a:xfrm>
          <a:prstGeom prst="rect">
            <a:avLst/>
          </a:prstGeom>
          <a:noFill/>
        </p:spPr>
        <p:txBody>
          <a:bodyPr wrap="square">
            <a:spAutoFit/>
          </a:bodyPr>
          <a:lstStyle/>
          <a:p>
            <a:pPr algn="l">
              <a:defRPr sz="1300" b="1">
                <a:solidFill>
                  <a:srgbClr val="2C3E6B"/>
                </a:solidFill>
                <a:latin typeface="Calibri"/>
              </a:defRPr>
            </a:pPr>
            <a:r>
              <a:t>Global Parameters</a:t>
            </a:r>
          </a:p>
        </p:txBody>
      </p:sp>
      <p:graphicFrame>
        <p:nvGraphicFramePr>
          <p:cNvPr id="7" name="Table 6"/>
          <p:cNvGraphicFramePr>
            <a:graphicFrameLocks noGrp="1"/>
          </p:cNvGraphicFramePr>
          <p:nvPr/>
        </p:nvGraphicFramePr>
        <p:xfrm>
          <a:off x="274320" y="1188720"/>
          <a:ext cx="3931920" cy="3840479"/>
        </p:xfrm>
        <a:graphic>
          <a:graphicData uri="http://schemas.openxmlformats.org/drawingml/2006/table">
            <a:tbl>
              <a:tblPr firstRow="1" bandRow="1">
                <a:tableStyleId>{5C22544A-7EE6-4342-B048-85BDC9FD1C3A}</a:tableStyleId>
              </a:tblPr>
              <a:tblGrid>
                <a:gridCol w="1188720"/>
                <a:gridCol w="914400"/>
                <a:gridCol w="1828800"/>
              </a:tblGrid>
              <a:tr h="320039">
                <a:tc>
                  <a:txBody>
                    <a:bodyPr/>
                    <a:lstStyle/>
                    <a:p>
                      <a:pPr algn="ctr">
                        <a:defRPr sz="900" b="1">
                          <a:solidFill>
                            <a:srgbClr val="FFFFFF"/>
                          </a:solidFill>
                          <a:latin typeface="Calibri"/>
                        </a:defRPr>
                      </a:pPr>
                      <a:r>
                        <a:t>Parameter</a:t>
                      </a:r>
                    </a:p>
                  </a:txBody>
                  <a:tcPr>
                    <a:solidFill>
                      <a:srgbClr val="2C3E6B"/>
                    </a:solidFill>
                  </a:tcPr>
                </a:tc>
                <a:tc>
                  <a:txBody>
                    <a:bodyPr/>
                    <a:lstStyle/>
                    <a:p>
                      <a:pPr algn="ctr">
                        <a:defRPr sz="900" b="1">
                          <a:solidFill>
                            <a:srgbClr val="FFFFFF"/>
                          </a:solidFill>
                          <a:latin typeface="Calibri"/>
                        </a:defRPr>
                      </a:pPr>
                      <a:r>
                        <a:t>Value</a:t>
                      </a:r>
                    </a:p>
                  </a:txBody>
                  <a:tcPr>
                    <a:solidFill>
                      <a:srgbClr val="2C3E6B"/>
                    </a:solidFill>
                  </a:tcPr>
                </a:tc>
                <a:tc>
                  <a:txBody>
                    <a:bodyPr/>
                    <a:lstStyle/>
                    <a:p>
                      <a:pPr algn="ctr">
                        <a:defRPr sz="900" b="1">
                          <a:solidFill>
                            <a:srgbClr val="FFFFFF"/>
                          </a:solidFill>
                          <a:latin typeface="Calibri"/>
                        </a:defRPr>
                      </a:pPr>
                      <a:r>
                        <a:t>Rationale</a:t>
                      </a:r>
                    </a:p>
                  </a:txBody>
                  <a:tcPr>
                    <a:solidFill>
                      <a:srgbClr val="2C3E6B"/>
                    </a:solidFill>
                  </a:tcPr>
                </a:tc>
              </a:tr>
              <a:tr h="320039">
                <a:tc>
                  <a:txBody>
                    <a:bodyPr/>
                    <a:lstStyle/>
                    <a:p>
                      <a:pPr algn="l">
                        <a:defRPr sz="900">
                          <a:solidFill>
                            <a:srgbClr val="2D2D3D"/>
                          </a:solidFill>
                          <a:latin typeface="Calibri"/>
                        </a:defRPr>
                      </a:pPr>
                      <a:r>
                        <a:t>Risk-free rate</a:t>
                      </a:r>
                    </a:p>
                  </a:txBody>
                  <a:tcPr>
                    <a:solidFill>
                      <a:srgbClr val="FFFFFF"/>
                    </a:solidFill>
                  </a:tcPr>
                </a:tc>
                <a:tc>
                  <a:txBody>
                    <a:bodyPr/>
                    <a:lstStyle/>
                    <a:p>
                      <a:pPr algn="r">
                        <a:defRPr sz="900">
                          <a:solidFill>
                            <a:srgbClr val="2D2D3D"/>
                          </a:solidFill>
                          <a:latin typeface="Calibri"/>
                        </a:defRPr>
                      </a:pPr>
                      <a:r>
                        <a:t>4.50%</a:t>
                      </a:r>
                    </a:p>
                  </a:txBody>
                  <a:tcPr>
                    <a:solidFill>
                      <a:srgbClr val="FFFFFF"/>
                    </a:solidFill>
                  </a:tcPr>
                </a:tc>
                <a:tc>
                  <a:txBody>
                    <a:bodyPr/>
                    <a:lstStyle/>
                    <a:p>
                      <a:pPr algn="r">
                        <a:defRPr sz="900">
                          <a:solidFill>
                            <a:srgbClr val="2D2D3D"/>
                          </a:solidFill>
                          <a:latin typeface="Calibri"/>
                        </a:defRPr>
                      </a:pPr>
                      <a:r>
                        <a:t>Flat OIS curve</a:t>
                      </a:r>
                    </a:p>
                  </a:txBody>
                  <a:tcPr>
                    <a:solidFill>
                      <a:srgbClr val="FFFFFF"/>
                    </a:solidFill>
                  </a:tcPr>
                </a:tc>
              </a:tr>
              <a:tr h="320039">
                <a:tc>
                  <a:txBody>
                    <a:bodyPr/>
                    <a:lstStyle/>
                    <a:p>
                      <a:pPr algn="l">
                        <a:defRPr sz="900">
                          <a:solidFill>
                            <a:srgbClr val="2D2D3D"/>
                          </a:solidFill>
                          <a:latin typeface="Calibri"/>
                        </a:defRPr>
                      </a:pPr>
                      <a:r>
                        <a:t>Coupon rate</a:t>
                      </a:r>
                    </a:p>
                  </a:txBody>
                  <a:tcPr>
                    <a:solidFill>
                      <a:srgbClr val="E8EBF5"/>
                    </a:solidFill>
                  </a:tcPr>
                </a:tc>
                <a:tc>
                  <a:txBody>
                    <a:bodyPr/>
                    <a:lstStyle/>
                    <a:p>
                      <a:pPr algn="r">
                        <a:defRPr sz="900">
                          <a:solidFill>
                            <a:srgbClr val="2D2D3D"/>
                          </a:solidFill>
                          <a:latin typeface="Calibri"/>
                        </a:defRPr>
                      </a:pPr>
                      <a:r>
                        <a:t>8.50%</a:t>
                      </a:r>
                    </a:p>
                  </a:txBody>
                  <a:tcPr>
                    <a:solidFill>
                      <a:srgbClr val="E8EBF5"/>
                    </a:solidFill>
                  </a:tcPr>
                </a:tc>
                <a:tc>
                  <a:txBody>
                    <a:bodyPr/>
                    <a:lstStyle/>
                    <a:p>
                      <a:pPr algn="r">
                        <a:defRPr sz="900">
                          <a:solidFill>
                            <a:srgbClr val="2D2D3D"/>
                          </a:solidFill>
                          <a:latin typeface="Calibri"/>
                        </a:defRPr>
                      </a:pPr>
                      <a:r>
                        <a:t>Typical HY coupon</a:t>
                      </a:r>
                    </a:p>
                  </a:txBody>
                  <a:tcPr>
                    <a:solidFill>
                      <a:srgbClr val="E8EBF5"/>
                    </a:solidFill>
                  </a:tcPr>
                </a:tc>
              </a:tr>
              <a:tr h="320039">
                <a:tc>
                  <a:txBody>
                    <a:bodyPr/>
                    <a:lstStyle/>
                    <a:p>
                      <a:pPr algn="l">
                        <a:defRPr sz="900">
                          <a:solidFill>
                            <a:srgbClr val="2D2D3D"/>
                          </a:solidFill>
                          <a:latin typeface="Calibri"/>
                        </a:defRPr>
                      </a:pPr>
                      <a:r>
                        <a:t>Maturity</a:t>
                      </a:r>
                    </a:p>
                  </a:txBody>
                  <a:tcPr>
                    <a:solidFill>
                      <a:srgbClr val="FFFFFF"/>
                    </a:solidFill>
                  </a:tcPr>
                </a:tc>
                <a:tc>
                  <a:txBody>
                    <a:bodyPr/>
                    <a:lstStyle/>
                    <a:p>
                      <a:pPr algn="r">
                        <a:defRPr sz="900">
                          <a:solidFill>
                            <a:srgbClr val="2D2D3D"/>
                          </a:solidFill>
                          <a:latin typeface="Calibri"/>
                        </a:defRPr>
                      </a:pPr>
                      <a:r>
                        <a:t>5 years</a:t>
                      </a:r>
                    </a:p>
                  </a:txBody>
                  <a:tcPr>
                    <a:solidFill>
                      <a:srgbClr val="FFFFFF"/>
                    </a:solidFill>
                  </a:tcPr>
                </a:tc>
                <a:tc>
                  <a:txBody>
                    <a:bodyPr/>
                    <a:lstStyle/>
                    <a:p>
                      <a:pPr algn="r">
                        <a:defRPr sz="900">
                          <a:solidFill>
                            <a:srgbClr val="2D2D3D"/>
                          </a:solidFill>
                          <a:latin typeface="Calibri"/>
                        </a:defRPr>
                      </a:pPr>
                      <a:r>
                        <a:t>Standard HY tenor</a:t>
                      </a:r>
                    </a:p>
                  </a:txBody>
                  <a:tcPr>
                    <a:solidFill>
                      <a:srgbClr val="FFFFFF"/>
                    </a:solidFill>
                  </a:tcPr>
                </a:tc>
              </a:tr>
              <a:tr h="320039">
                <a:tc>
                  <a:txBody>
                    <a:bodyPr/>
                    <a:lstStyle/>
                    <a:p>
                      <a:pPr algn="l">
                        <a:defRPr sz="900">
                          <a:solidFill>
                            <a:srgbClr val="2D2D3D"/>
                          </a:solidFill>
                          <a:latin typeface="Calibri"/>
                        </a:defRPr>
                      </a:pPr>
                      <a:r>
                        <a:t>Frequency</a:t>
                      </a:r>
                    </a:p>
                  </a:txBody>
                  <a:tcPr>
                    <a:solidFill>
                      <a:srgbClr val="E8EBF5"/>
                    </a:solidFill>
                  </a:tcPr>
                </a:tc>
                <a:tc>
                  <a:txBody>
                    <a:bodyPr/>
                    <a:lstStyle/>
                    <a:p>
                      <a:pPr algn="r">
                        <a:defRPr sz="900">
                          <a:solidFill>
                            <a:srgbClr val="2D2D3D"/>
                          </a:solidFill>
                          <a:latin typeface="Calibri"/>
                        </a:defRPr>
                      </a:pPr>
                      <a:r>
                        <a:t>Semi-annual</a:t>
                      </a:r>
                    </a:p>
                  </a:txBody>
                  <a:tcPr>
                    <a:solidFill>
                      <a:srgbClr val="E8EBF5"/>
                    </a:solidFill>
                  </a:tcPr>
                </a:tc>
                <a:tc>
                  <a:txBody>
                    <a:bodyPr/>
                    <a:lstStyle/>
                    <a:p>
                      <a:pPr algn="r">
                        <a:defRPr sz="900">
                          <a:solidFill>
                            <a:srgbClr val="2D2D3D"/>
                          </a:solidFill>
                          <a:latin typeface="Calibri"/>
                        </a:defRPr>
                      </a:pPr>
                      <a:r>
                        <a:t>Market convention</a:t>
                      </a:r>
                    </a:p>
                  </a:txBody>
                  <a:tcPr>
                    <a:solidFill>
                      <a:srgbClr val="E8EBF5"/>
                    </a:solidFill>
                  </a:tcPr>
                </a:tc>
              </a:tr>
              <a:tr h="320039">
                <a:tc>
                  <a:txBody>
                    <a:bodyPr/>
                    <a:lstStyle/>
                    <a:p>
                      <a:pPr algn="l">
                        <a:defRPr sz="900">
                          <a:solidFill>
                            <a:srgbClr val="2D2D3D"/>
                          </a:solidFill>
                          <a:latin typeface="Calibri"/>
                        </a:defRPr>
                      </a:pPr>
                      <a:r>
                        <a:t>Notional</a:t>
                      </a:r>
                    </a:p>
                  </a:txBody>
                  <a:tcPr>
                    <a:solidFill>
                      <a:srgbClr val="FFFFFF"/>
                    </a:solidFill>
                  </a:tcPr>
                </a:tc>
                <a:tc>
                  <a:txBody>
                    <a:bodyPr/>
                    <a:lstStyle/>
                    <a:p>
                      <a:pPr algn="r">
                        <a:defRPr sz="900">
                          <a:solidFill>
                            <a:srgbClr val="2D2D3D"/>
                          </a:solidFill>
                          <a:latin typeface="Calibri"/>
                        </a:defRPr>
                      </a:pPr>
                      <a:r>
                        <a:t>100</a:t>
                      </a:r>
                    </a:p>
                  </a:txBody>
                  <a:tcPr>
                    <a:solidFill>
                      <a:srgbClr val="FFFFFF"/>
                    </a:solidFill>
                  </a:tcPr>
                </a:tc>
                <a:tc>
                  <a:txBody>
                    <a:bodyPr/>
                    <a:lstStyle/>
                    <a:p>
                      <a:pPr algn="r">
                        <a:defRPr sz="900">
                          <a:solidFill>
                            <a:srgbClr val="2D2D3D"/>
                          </a:solidFill>
                          <a:latin typeface="Calibri"/>
                        </a:defRPr>
                      </a:pPr>
                      <a:r>
                        <a:t>Par = 100</a:t>
                      </a:r>
                    </a:p>
                  </a:txBody>
                  <a:tcPr>
                    <a:solidFill>
                      <a:srgbClr val="FFFFFF"/>
                    </a:solidFill>
                  </a:tcPr>
                </a:tc>
              </a:tr>
              <a:tr h="320039">
                <a:tc>
                  <a:txBody>
                    <a:bodyPr/>
                    <a:lstStyle/>
                    <a:p>
                      <a:pPr algn="l">
                        <a:defRPr sz="900">
                          <a:solidFill>
                            <a:srgbClr val="2D2D3D"/>
                          </a:solidFill>
                          <a:latin typeface="Calibri"/>
                        </a:defRPr>
                      </a:pPr>
                      <a:r>
                        <a:t>MC paths</a:t>
                      </a:r>
                    </a:p>
                  </a:txBody>
                  <a:tcPr>
                    <a:solidFill>
                      <a:srgbClr val="E8EBF5"/>
                    </a:solidFill>
                  </a:tcPr>
                </a:tc>
                <a:tc>
                  <a:txBody>
                    <a:bodyPr/>
                    <a:lstStyle/>
                    <a:p>
                      <a:pPr algn="r">
                        <a:defRPr sz="900">
                          <a:solidFill>
                            <a:srgbClr val="2D2D3D"/>
                          </a:solidFill>
                          <a:latin typeface="Calibri"/>
                        </a:defRPr>
                      </a:pPr>
                      <a:r>
                        <a:t>25,000</a:t>
                      </a:r>
                    </a:p>
                  </a:txBody>
                  <a:tcPr>
                    <a:solidFill>
                      <a:srgbClr val="E8EBF5"/>
                    </a:solidFill>
                  </a:tcPr>
                </a:tc>
                <a:tc>
                  <a:txBody>
                    <a:bodyPr/>
                    <a:lstStyle/>
                    <a:p>
                      <a:pPr algn="r">
                        <a:defRPr sz="900">
                          <a:solidFill>
                            <a:srgbClr val="2D2D3D"/>
                          </a:solidFill>
                          <a:latin typeface="Calibri"/>
                        </a:defRPr>
                      </a:pPr>
                      <a:r>
                        <a:t>Balance: precision vs speed</a:t>
                      </a:r>
                    </a:p>
                  </a:txBody>
                  <a:tcPr>
                    <a:solidFill>
                      <a:srgbClr val="E8EBF5"/>
                    </a:solidFill>
                  </a:tcPr>
                </a:tc>
              </a:tr>
              <a:tr h="320039">
                <a:tc>
                  <a:txBody>
                    <a:bodyPr/>
                    <a:lstStyle/>
                    <a:p>
                      <a:pPr algn="l">
                        <a:defRPr sz="900">
                          <a:solidFill>
                            <a:srgbClr val="2D2D3D"/>
                          </a:solidFill>
                          <a:latin typeface="Calibri"/>
                        </a:defRPr>
                      </a:pPr>
                      <a:r>
                        <a:t>Seed</a:t>
                      </a:r>
                    </a:p>
                  </a:txBody>
                  <a:tcPr>
                    <a:solidFill>
                      <a:srgbClr val="FFFFFF"/>
                    </a:solidFill>
                  </a:tcPr>
                </a:tc>
                <a:tc>
                  <a:txBody>
                    <a:bodyPr/>
                    <a:lstStyle/>
                    <a:p>
                      <a:pPr algn="r">
                        <a:defRPr sz="900">
                          <a:solidFill>
                            <a:srgbClr val="2D2D3D"/>
                          </a:solidFill>
                          <a:latin typeface="Calibri"/>
                        </a:defRPr>
                      </a:pPr>
                      <a:r>
                        <a:t>42</a:t>
                      </a:r>
                    </a:p>
                  </a:txBody>
                  <a:tcPr>
                    <a:solidFill>
                      <a:srgbClr val="FFFFFF"/>
                    </a:solidFill>
                  </a:tcPr>
                </a:tc>
                <a:tc>
                  <a:txBody>
                    <a:bodyPr/>
                    <a:lstStyle/>
                    <a:p>
                      <a:pPr algn="r">
                        <a:defRPr sz="900">
                          <a:solidFill>
                            <a:srgbClr val="2D2D3D"/>
                          </a:solidFill>
                          <a:latin typeface="Calibri"/>
                        </a:defRPr>
                      </a:pPr>
                      <a:r>
                        <a:t>Reproducibility</a:t>
                      </a:r>
                    </a:p>
                  </a:txBody>
                  <a:tcPr>
                    <a:solidFill>
                      <a:srgbClr val="FFFFFF"/>
                    </a:solidFill>
                  </a:tcPr>
                </a:tc>
              </a:tr>
              <a:tr h="320039">
                <a:tc>
                  <a:txBody>
                    <a:bodyPr/>
                    <a:lstStyle/>
                    <a:p>
                      <a:pPr algn="l">
                        <a:defRPr sz="900">
                          <a:solidFill>
                            <a:srgbClr val="2D2D3D"/>
                          </a:solidFill>
                          <a:latin typeface="Calibri"/>
                        </a:defRPr>
                      </a:pPr>
                      <a:r>
                        <a:t>Antithetic</a:t>
                      </a:r>
                    </a:p>
                  </a:txBody>
                  <a:tcPr>
                    <a:solidFill>
                      <a:srgbClr val="E8EBF5"/>
                    </a:solidFill>
                  </a:tcPr>
                </a:tc>
                <a:tc>
                  <a:txBody>
                    <a:bodyPr/>
                    <a:lstStyle/>
                    <a:p>
                      <a:pPr algn="r">
                        <a:defRPr sz="900">
                          <a:solidFill>
                            <a:srgbClr val="2D2D3D"/>
                          </a:solidFill>
                          <a:latin typeface="Calibri"/>
                        </a:defRPr>
                      </a:pPr>
                      <a:r>
                        <a:t>Yes</a:t>
                      </a:r>
                    </a:p>
                  </a:txBody>
                  <a:tcPr>
                    <a:solidFill>
                      <a:srgbClr val="E8EBF5"/>
                    </a:solidFill>
                  </a:tcPr>
                </a:tc>
                <a:tc>
                  <a:txBody>
                    <a:bodyPr/>
                    <a:lstStyle/>
                    <a:p>
                      <a:pPr algn="r">
                        <a:defRPr sz="900">
                          <a:solidFill>
                            <a:srgbClr val="2D2D3D"/>
                          </a:solidFill>
                          <a:latin typeface="Calibri"/>
                        </a:defRPr>
                      </a:pPr>
                      <a:r>
                        <a:t>Variance reduction</a:t>
                      </a:r>
                    </a:p>
                  </a:txBody>
                  <a:tcPr>
                    <a:solidFill>
                      <a:srgbClr val="E8EBF5"/>
                    </a:solidFill>
                  </a:tcPr>
                </a:tc>
              </a:tr>
              <a:tr h="320039">
                <a:tc>
                  <a:txBody>
                    <a:bodyPr/>
                    <a:lstStyle/>
                    <a:p>
                      <a:pPr algn="l">
                        <a:defRPr sz="900">
                          <a:solidFill>
                            <a:srgbClr val="2D2D3D"/>
                          </a:solidFill>
                          <a:latin typeface="Calibri"/>
                        </a:defRPr>
                      </a:pPr>
                      <a:r>
                        <a:t>Steps/year</a:t>
                      </a:r>
                    </a:p>
                  </a:txBody>
                  <a:tcPr>
                    <a:solidFill>
                      <a:srgbClr val="FFFFFF"/>
                    </a:solidFill>
                  </a:tcPr>
                </a:tc>
                <a:tc>
                  <a:txBody>
                    <a:bodyPr/>
                    <a:lstStyle/>
                    <a:p>
                      <a:pPr algn="r">
                        <a:defRPr sz="900">
                          <a:solidFill>
                            <a:srgbClr val="2D2D3D"/>
                          </a:solidFill>
                          <a:latin typeface="Calibri"/>
                        </a:defRPr>
                      </a:pPr>
                      <a:r>
                        <a:t>12</a:t>
                      </a:r>
                    </a:p>
                  </a:txBody>
                  <a:tcPr>
                    <a:solidFill>
                      <a:srgbClr val="FFFFFF"/>
                    </a:solidFill>
                  </a:tcPr>
                </a:tc>
                <a:tc>
                  <a:txBody>
                    <a:bodyPr/>
                    <a:lstStyle/>
                    <a:p>
                      <a:pPr algn="r">
                        <a:defRPr sz="900">
                          <a:solidFill>
                            <a:srgbClr val="2D2D3D"/>
                          </a:solidFill>
                          <a:latin typeface="Calibri"/>
                        </a:defRPr>
                      </a:pPr>
                      <a:r>
                        <a:t>Monthly grid</a:t>
                      </a:r>
                    </a:p>
                  </a:txBody>
                  <a:tcPr>
                    <a:solidFill>
                      <a:srgbClr val="FFFFFF"/>
                    </a:solidFill>
                  </a:tcPr>
                </a:tc>
              </a:tr>
              <a:tr h="320039">
                <a:tc>
                  <a:txBody>
                    <a:bodyPr/>
                    <a:lstStyle/>
                    <a:p>
                      <a:pPr algn="l">
                        <a:defRPr sz="900">
                          <a:solidFill>
                            <a:srgbClr val="2D2D3D"/>
                          </a:solidFill>
                          <a:latin typeface="Calibri"/>
                        </a:defRPr>
                      </a:pPr>
                      <a:r>
                        <a:t>Endo hazard β</a:t>
                      </a:r>
                    </a:p>
                  </a:txBody>
                  <a:tcPr>
                    <a:solidFill>
                      <a:srgbClr val="E8EBF5"/>
                    </a:solidFill>
                  </a:tcPr>
                </a:tc>
                <a:tc>
                  <a:txBody>
                    <a:bodyPr/>
                    <a:lstStyle/>
                    <a:p>
                      <a:pPr algn="r">
                        <a:defRPr sz="900">
                          <a:solidFill>
                            <a:srgbClr val="2D2D3D"/>
                          </a:solidFill>
                          <a:latin typeface="Calibri"/>
                        </a:defRPr>
                      </a:pPr>
                      <a:r>
                        <a:t>2.0</a:t>
                      </a:r>
                    </a:p>
                  </a:txBody>
                  <a:tcPr>
                    <a:solidFill>
                      <a:srgbClr val="E8EBF5"/>
                    </a:solidFill>
                  </a:tcPr>
                </a:tc>
                <a:tc>
                  <a:txBody>
                    <a:bodyPr/>
                    <a:lstStyle/>
                    <a:p>
                      <a:pPr algn="r">
                        <a:defRPr sz="900">
                          <a:solidFill>
                            <a:srgbClr val="2D2D3D"/>
                          </a:solidFill>
                          <a:latin typeface="Calibri"/>
                        </a:defRPr>
                      </a:pPr>
                      <a:r>
                        <a:t>Quadratic sensitivity</a:t>
                      </a:r>
                    </a:p>
                  </a:txBody>
                  <a:tcPr>
                    <a:solidFill>
                      <a:srgbClr val="E8EBF5"/>
                    </a:solidFill>
                  </a:tcPr>
                </a:tc>
              </a:tr>
              <a:tr h="320050">
                <a:tc>
                  <a:txBody>
                    <a:bodyPr/>
                    <a:lstStyle/>
                    <a:p>
                      <a:pPr algn="l">
                        <a:defRPr sz="900">
                          <a:solidFill>
                            <a:srgbClr val="2D2D3D"/>
                          </a:solidFill>
                          <a:latin typeface="Calibri"/>
                        </a:defRPr>
                      </a:pPr>
                      <a:r>
                        <a:t>Recovery floor</a:t>
                      </a:r>
                    </a:p>
                  </a:txBody>
                  <a:tcPr>
                    <a:solidFill>
                      <a:srgbClr val="FFFFFF"/>
                    </a:solidFill>
                  </a:tcPr>
                </a:tc>
                <a:tc>
                  <a:txBody>
                    <a:bodyPr/>
                    <a:lstStyle/>
                    <a:p>
                      <a:pPr algn="r">
                        <a:defRPr sz="900">
                          <a:solidFill>
                            <a:srgbClr val="2D2D3D"/>
                          </a:solidFill>
                          <a:latin typeface="Calibri"/>
                        </a:defRPr>
                      </a:pPr>
                      <a:r>
                        <a:t>10%</a:t>
                      </a:r>
                    </a:p>
                  </a:txBody>
                  <a:tcPr>
                    <a:solidFill>
                      <a:srgbClr val="FFFFFF"/>
                    </a:solidFill>
                  </a:tcPr>
                </a:tc>
                <a:tc>
                  <a:txBody>
                    <a:bodyPr/>
                    <a:lstStyle/>
                    <a:p>
                      <a:pPr algn="r">
                        <a:defRPr sz="900">
                          <a:solidFill>
                            <a:srgbClr val="2D2D3D"/>
                          </a:solidFill>
                          <a:latin typeface="Calibri"/>
                        </a:defRPr>
                      </a:pPr>
                      <a:r>
                        <a:t>Minimum asset value</a:t>
                      </a:r>
                    </a:p>
                  </a:txBody>
                  <a:tcPr>
                    <a:solidFill>
                      <a:srgbClr val="FFFFFF"/>
                    </a:solidFill>
                  </a:tcPr>
                </a:tc>
              </a:tr>
            </a:tbl>
          </a:graphicData>
        </a:graphic>
      </p:graphicFrame>
      <p:sp>
        <p:nvSpPr>
          <p:cNvPr id="8" name="TextBox 7"/>
          <p:cNvSpPr txBox="1"/>
          <p:nvPr/>
        </p:nvSpPr>
        <p:spPr>
          <a:xfrm>
            <a:off x="4572000" y="914400"/>
            <a:ext cx="4389120" cy="228600"/>
          </a:xfrm>
          <a:prstGeom prst="rect">
            <a:avLst/>
          </a:prstGeom>
          <a:noFill/>
        </p:spPr>
        <p:txBody>
          <a:bodyPr wrap="square">
            <a:spAutoFit/>
          </a:bodyPr>
          <a:lstStyle/>
          <a:p>
            <a:pPr algn="l">
              <a:defRPr sz="1300" b="1">
                <a:solidFill>
                  <a:srgbClr val="2C3E6B"/>
                </a:solidFill>
                <a:latin typeface="Calibri"/>
              </a:defRPr>
            </a:pPr>
            <a:r>
              <a:t>Per-Issuer Parameters</a:t>
            </a:r>
          </a:p>
        </p:txBody>
      </p:sp>
      <p:graphicFrame>
        <p:nvGraphicFramePr>
          <p:cNvPr id="9" name="Table 8"/>
          <p:cNvGraphicFramePr>
            <a:graphicFrameLocks noGrp="1"/>
          </p:cNvGraphicFramePr>
          <p:nvPr/>
        </p:nvGraphicFramePr>
        <p:xfrm>
          <a:off x="4572000" y="1188720"/>
          <a:ext cx="4114800" cy="3200400"/>
        </p:xfrm>
        <a:graphic>
          <a:graphicData uri="http://schemas.openxmlformats.org/drawingml/2006/table">
            <a:tbl>
              <a:tblPr firstRow="1" bandRow="1">
                <a:tableStyleId>{5C22544A-7EE6-4342-B048-85BDC9FD1C3A}</a:tableStyleId>
              </a:tblPr>
              <a:tblGrid>
                <a:gridCol w="914400"/>
                <a:gridCol w="640080"/>
                <a:gridCol w="640080"/>
                <a:gridCol w="640080"/>
                <a:gridCol w="640080"/>
                <a:gridCol w="640080"/>
              </a:tblGrid>
              <a:tr h="320040">
                <a:tc>
                  <a:txBody>
                    <a:bodyPr/>
                    <a:lstStyle/>
                    <a:p>
                      <a:pPr algn="ctr">
                        <a:defRPr sz="900" b="1">
                          <a:solidFill>
                            <a:srgbClr val="FFFFFF"/>
                          </a:solidFill>
                          <a:latin typeface="Calibri"/>
                        </a:defRPr>
                      </a:pPr>
                      <a:r>
                        <a:t>Param</a:t>
                      </a:r>
                    </a:p>
                  </a:txBody>
                  <a:tcPr>
                    <a:solidFill>
                      <a:srgbClr val="2C3E6B"/>
                    </a:solidFill>
                  </a:tcPr>
                </a:tc>
                <a:tc>
                  <a:txBody>
                    <a:bodyPr/>
                    <a:lstStyle/>
                    <a:p>
                      <a:pPr algn="ctr">
                        <a:defRPr sz="900" b="1">
                          <a:solidFill>
                            <a:srgbClr val="FFFFFF"/>
                          </a:solidFill>
                          <a:latin typeface="Calibri"/>
                        </a:defRPr>
                      </a:pPr>
                      <a:r>
                        <a:t>BB+</a:t>
                      </a:r>
                    </a:p>
                  </a:txBody>
                  <a:tcPr>
                    <a:solidFill>
                      <a:srgbClr val="2C3E6B"/>
                    </a:solidFill>
                  </a:tcPr>
                </a:tc>
                <a:tc>
                  <a:txBody>
                    <a:bodyPr/>
                    <a:lstStyle/>
                    <a:p>
                      <a:pPr algn="ctr">
                        <a:defRPr sz="900" b="1">
                          <a:solidFill>
                            <a:srgbClr val="FFFFFF"/>
                          </a:solidFill>
                          <a:latin typeface="Calibri"/>
                        </a:defRPr>
                      </a:pPr>
                      <a:r>
                        <a:t>BB−</a:t>
                      </a:r>
                    </a:p>
                  </a:txBody>
                  <a:tcPr>
                    <a:solidFill>
                      <a:srgbClr val="2C3E6B"/>
                    </a:solidFill>
                  </a:tcPr>
                </a:tc>
                <a:tc>
                  <a:txBody>
                    <a:bodyPr/>
                    <a:lstStyle/>
                    <a:p>
                      <a:pPr algn="ctr">
                        <a:defRPr sz="900" b="1">
                          <a:solidFill>
                            <a:srgbClr val="FFFFFF"/>
                          </a:solidFill>
                          <a:latin typeface="Calibri"/>
                        </a:defRPr>
                      </a:pPr>
                      <a:r>
                        <a:t>B</a:t>
                      </a:r>
                    </a:p>
                  </a:txBody>
                  <a:tcPr>
                    <a:solidFill>
                      <a:srgbClr val="2C3E6B"/>
                    </a:solidFill>
                  </a:tcPr>
                </a:tc>
                <a:tc>
                  <a:txBody>
                    <a:bodyPr/>
                    <a:lstStyle/>
                    <a:p>
                      <a:pPr algn="ctr">
                        <a:defRPr sz="900" b="1">
                          <a:solidFill>
                            <a:srgbClr val="FFFFFF"/>
                          </a:solidFill>
                          <a:latin typeface="Calibri"/>
                        </a:defRPr>
                      </a:pPr>
                      <a:r>
                        <a:t>B−</a:t>
                      </a:r>
                    </a:p>
                  </a:txBody>
                  <a:tcPr>
                    <a:solidFill>
                      <a:srgbClr val="2C3E6B"/>
                    </a:solidFill>
                  </a:tcPr>
                </a:tc>
                <a:tc>
                  <a:txBody>
                    <a:bodyPr/>
                    <a:lstStyle/>
                    <a:p>
                      <a:pPr algn="ctr">
                        <a:defRPr sz="900" b="1">
                          <a:solidFill>
                            <a:srgbClr val="FFFFFF"/>
                          </a:solidFill>
                          <a:latin typeface="Calibri"/>
                        </a:defRPr>
                      </a:pPr>
                      <a:r>
                        <a:t>CCC</a:t>
                      </a:r>
                    </a:p>
                  </a:txBody>
                  <a:tcPr>
                    <a:solidFill>
                      <a:srgbClr val="2C3E6B"/>
                    </a:solidFill>
                  </a:tcPr>
                </a:tc>
              </a:tr>
              <a:tr h="320040">
                <a:tc>
                  <a:txBody>
                    <a:bodyPr/>
                    <a:lstStyle/>
                    <a:p>
                      <a:pPr algn="l">
                        <a:defRPr sz="900">
                          <a:solidFill>
                            <a:srgbClr val="2D2D3D"/>
                          </a:solidFill>
                          <a:latin typeface="Calibri"/>
                        </a:defRPr>
                      </a:pPr>
                      <a:r>
                        <a:t>Asset V₀</a:t>
                      </a:r>
                    </a:p>
                  </a:txBody>
                  <a:tcPr>
                    <a:solidFill>
                      <a:srgbClr val="FFFFFF"/>
                    </a:solidFill>
                  </a:tcPr>
                </a:tc>
                <a:tc>
                  <a:txBody>
                    <a:bodyPr/>
                    <a:lstStyle/>
                    <a:p>
                      <a:pPr algn="r">
                        <a:defRPr sz="900">
                          <a:solidFill>
                            <a:srgbClr val="2D2D3D"/>
                          </a:solidFill>
                          <a:latin typeface="Calibri"/>
                        </a:defRPr>
                      </a:pPr>
                      <a:r>
                        <a:t>200</a:t>
                      </a:r>
                    </a:p>
                  </a:txBody>
                  <a:tcPr>
                    <a:solidFill>
                      <a:srgbClr val="FFFFFF"/>
                    </a:solidFill>
                  </a:tcPr>
                </a:tc>
                <a:tc>
                  <a:txBody>
                    <a:bodyPr/>
                    <a:lstStyle/>
                    <a:p>
                      <a:pPr algn="r">
                        <a:defRPr sz="900">
                          <a:solidFill>
                            <a:srgbClr val="2D2D3D"/>
                          </a:solidFill>
                          <a:latin typeface="Calibri"/>
                        </a:defRPr>
                      </a:pPr>
                      <a:r>
                        <a:t>165</a:t>
                      </a:r>
                    </a:p>
                  </a:txBody>
                  <a:tcPr>
                    <a:solidFill>
                      <a:srgbClr val="FFFFFF"/>
                    </a:solidFill>
                  </a:tcPr>
                </a:tc>
                <a:tc>
                  <a:txBody>
                    <a:bodyPr/>
                    <a:lstStyle/>
                    <a:p>
                      <a:pPr algn="r">
                        <a:defRPr sz="900">
                          <a:solidFill>
                            <a:srgbClr val="2D2D3D"/>
                          </a:solidFill>
                          <a:latin typeface="Calibri"/>
                        </a:defRPr>
                      </a:pPr>
                      <a:r>
                        <a:t>140</a:t>
                      </a:r>
                    </a:p>
                  </a:txBody>
                  <a:tcPr>
                    <a:solidFill>
                      <a:srgbClr val="FFFFFF"/>
                    </a:solidFill>
                  </a:tcPr>
                </a:tc>
                <a:tc>
                  <a:txBody>
                    <a:bodyPr/>
                    <a:lstStyle/>
                    <a:p>
                      <a:pPr algn="r">
                        <a:defRPr sz="900">
                          <a:solidFill>
                            <a:srgbClr val="2D2D3D"/>
                          </a:solidFill>
                          <a:latin typeface="Calibri"/>
                        </a:defRPr>
                      </a:pPr>
                      <a:r>
                        <a:t>125</a:t>
                      </a:r>
                    </a:p>
                  </a:txBody>
                  <a:tcPr>
                    <a:solidFill>
                      <a:srgbClr val="FFFFFF"/>
                    </a:solidFill>
                  </a:tcPr>
                </a:tc>
                <a:tc>
                  <a:txBody>
                    <a:bodyPr/>
                    <a:lstStyle/>
                    <a:p>
                      <a:pPr algn="r">
                        <a:defRPr sz="900">
                          <a:solidFill>
                            <a:srgbClr val="2D2D3D"/>
                          </a:solidFill>
                          <a:latin typeface="Calibri"/>
                        </a:defRPr>
                      </a:pPr>
                      <a:r>
                        <a:t>115</a:t>
                      </a:r>
                    </a:p>
                  </a:txBody>
                  <a:tcPr>
                    <a:solidFill>
                      <a:srgbClr val="FFFFFF"/>
                    </a:solidFill>
                  </a:tcPr>
                </a:tc>
              </a:tr>
              <a:tr h="320040">
                <a:tc>
                  <a:txBody>
                    <a:bodyPr/>
                    <a:lstStyle/>
                    <a:p>
                      <a:pPr algn="l">
                        <a:defRPr sz="900">
                          <a:solidFill>
                            <a:srgbClr val="2D2D3D"/>
                          </a:solidFill>
                          <a:latin typeface="Calibri"/>
                        </a:defRPr>
                      </a:pPr>
                      <a:r>
                        <a:t>Vol σ</a:t>
                      </a:r>
                    </a:p>
                  </a:txBody>
                  <a:tcPr>
                    <a:solidFill>
                      <a:srgbClr val="E8EBF5"/>
                    </a:solidFill>
                  </a:tcPr>
                </a:tc>
                <a:tc>
                  <a:txBody>
                    <a:bodyPr/>
                    <a:lstStyle/>
                    <a:p>
                      <a:pPr algn="r">
                        <a:defRPr sz="900">
                          <a:solidFill>
                            <a:srgbClr val="2D2D3D"/>
                          </a:solidFill>
                          <a:latin typeface="Calibri"/>
                        </a:defRPr>
                      </a:pPr>
                      <a:r>
                        <a:t>20%</a:t>
                      </a:r>
                    </a:p>
                  </a:txBody>
                  <a:tcPr>
                    <a:solidFill>
                      <a:srgbClr val="E8EBF5"/>
                    </a:solidFill>
                  </a:tcPr>
                </a:tc>
                <a:tc>
                  <a:txBody>
                    <a:bodyPr/>
                    <a:lstStyle/>
                    <a:p>
                      <a:pPr algn="r">
                        <a:defRPr sz="900">
                          <a:solidFill>
                            <a:srgbClr val="2D2D3D"/>
                          </a:solidFill>
                          <a:latin typeface="Calibri"/>
                        </a:defRPr>
                      </a:pPr>
                      <a:r>
                        <a:t>25%</a:t>
                      </a:r>
                    </a:p>
                  </a:txBody>
                  <a:tcPr>
                    <a:solidFill>
                      <a:srgbClr val="E8EBF5"/>
                    </a:solidFill>
                  </a:tcPr>
                </a:tc>
                <a:tc>
                  <a:txBody>
                    <a:bodyPr/>
                    <a:lstStyle/>
                    <a:p>
                      <a:pPr algn="r">
                        <a:defRPr sz="900">
                          <a:solidFill>
                            <a:srgbClr val="2D2D3D"/>
                          </a:solidFill>
                          <a:latin typeface="Calibri"/>
                        </a:defRPr>
                      </a:pPr>
                      <a:r>
                        <a:t>30%</a:t>
                      </a:r>
                    </a:p>
                  </a:txBody>
                  <a:tcPr>
                    <a:solidFill>
                      <a:srgbClr val="E8EBF5"/>
                    </a:solidFill>
                  </a:tcPr>
                </a:tc>
                <a:tc>
                  <a:txBody>
                    <a:bodyPr/>
                    <a:lstStyle/>
                    <a:p>
                      <a:pPr algn="r">
                        <a:defRPr sz="900">
                          <a:solidFill>
                            <a:srgbClr val="2D2D3D"/>
                          </a:solidFill>
                          <a:latin typeface="Calibri"/>
                        </a:defRPr>
                      </a:pPr>
                      <a:r>
                        <a:t>35%</a:t>
                      </a:r>
                    </a:p>
                  </a:txBody>
                  <a:tcPr>
                    <a:solidFill>
                      <a:srgbClr val="E8EBF5"/>
                    </a:solidFill>
                  </a:tcPr>
                </a:tc>
                <a:tc>
                  <a:txBody>
                    <a:bodyPr/>
                    <a:lstStyle/>
                    <a:p>
                      <a:pPr algn="r">
                        <a:defRPr sz="900">
                          <a:solidFill>
                            <a:srgbClr val="2D2D3D"/>
                          </a:solidFill>
                          <a:latin typeface="Calibri"/>
                        </a:defRPr>
                      </a:pPr>
                      <a:r>
                        <a:t>40%</a:t>
                      </a:r>
                    </a:p>
                  </a:txBody>
                  <a:tcPr>
                    <a:solidFill>
                      <a:srgbClr val="E8EBF5"/>
                    </a:solidFill>
                  </a:tcPr>
                </a:tc>
              </a:tr>
              <a:tr h="320040">
                <a:tc>
                  <a:txBody>
                    <a:bodyPr/>
                    <a:lstStyle/>
                    <a:p>
                      <a:pPr algn="l">
                        <a:defRPr sz="900">
                          <a:solidFill>
                            <a:srgbClr val="2D2D3D"/>
                          </a:solidFill>
                          <a:latin typeface="Calibri"/>
                        </a:defRPr>
                      </a:pPr>
                      <a:r>
                        <a:t>Ann PD</a:t>
                      </a:r>
                    </a:p>
                  </a:txBody>
                  <a:tcPr>
                    <a:solidFill>
                      <a:srgbClr val="FFFFFF"/>
                    </a:solidFill>
                  </a:tcPr>
                </a:tc>
                <a:tc>
                  <a:txBody>
                    <a:bodyPr/>
                    <a:lstStyle/>
                    <a:p>
                      <a:pPr algn="r">
                        <a:defRPr sz="900">
                          <a:solidFill>
                            <a:srgbClr val="2D2D3D"/>
                          </a:solidFill>
                          <a:latin typeface="Calibri"/>
                        </a:defRPr>
                      </a:pPr>
                      <a:r>
                        <a:t>0.20%</a:t>
                      </a:r>
                    </a:p>
                  </a:txBody>
                  <a:tcPr>
                    <a:solidFill>
                      <a:srgbClr val="FFFFFF"/>
                    </a:solidFill>
                  </a:tcPr>
                </a:tc>
                <a:tc>
                  <a:txBody>
                    <a:bodyPr/>
                    <a:lstStyle/>
                    <a:p>
                      <a:pPr algn="r">
                        <a:defRPr sz="900">
                          <a:solidFill>
                            <a:srgbClr val="2D2D3D"/>
                          </a:solidFill>
                          <a:latin typeface="Calibri"/>
                        </a:defRPr>
                      </a:pPr>
                      <a:r>
                        <a:t>1.00%</a:t>
                      </a:r>
                    </a:p>
                  </a:txBody>
                  <a:tcPr>
                    <a:solidFill>
                      <a:srgbClr val="FFFFFF"/>
                    </a:solidFill>
                  </a:tcPr>
                </a:tc>
                <a:tc>
                  <a:txBody>
                    <a:bodyPr/>
                    <a:lstStyle/>
                    <a:p>
                      <a:pPr algn="r">
                        <a:defRPr sz="900">
                          <a:solidFill>
                            <a:srgbClr val="2D2D3D"/>
                          </a:solidFill>
                          <a:latin typeface="Calibri"/>
                        </a:defRPr>
                      </a:pPr>
                      <a:r>
                        <a:t>2.50%</a:t>
                      </a:r>
                    </a:p>
                  </a:txBody>
                  <a:tcPr>
                    <a:solidFill>
                      <a:srgbClr val="FFFFFF"/>
                    </a:solidFill>
                  </a:tcPr>
                </a:tc>
                <a:tc>
                  <a:txBody>
                    <a:bodyPr/>
                    <a:lstStyle/>
                    <a:p>
                      <a:pPr algn="r">
                        <a:defRPr sz="900">
                          <a:solidFill>
                            <a:srgbClr val="2D2D3D"/>
                          </a:solidFill>
                          <a:latin typeface="Calibri"/>
                        </a:defRPr>
                      </a:pPr>
                      <a:r>
                        <a:t>5.50%</a:t>
                      </a:r>
                    </a:p>
                  </a:txBody>
                  <a:tcPr>
                    <a:solidFill>
                      <a:srgbClr val="FFFFFF"/>
                    </a:solidFill>
                  </a:tcPr>
                </a:tc>
                <a:tc>
                  <a:txBody>
                    <a:bodyPr/>
                    <a:lstStyle/>
                    <a:p>
                      <a:pPr algn="r">
                        <a:defRPr sz="900">
                          <a:solidFill>
                            <a:srgbClr val="2D2D3D"/>
                          </a:solidFill>
                          <a:latin typeface="Calibri"/>
                        </a:defRPr>
                      </a:pPr>
                      <a:r>
                        <a:t>10.00%</a:t>
                      </a:r>
                    </a:p>
                  </a:txBody>
                  <a:tcPr>
                    <a:solidFill>
                      <a:srgbClr val="FFFFFF"/>
                    </a:solidFill>
                  </a:tcPr>
                </a:tc>
              </a:tr>
              <a:tr h="320040">
                <a:tc>
                  <a:txBody>
                    <a:bodyPr/>
                    <a:lstStyle/>
                    <a:p>
                      <a:pPr algn="l">
                        <a:defRPr sz="900">
                          <a:solidFill>
                            <a:srgbClr val="2D2D3D"/>
                          </a:solidFill>
                          <a:latin typeface="Calibri"/>
                        </a:defRPr>
                      </a:pPr>
                      <a:r>
                        <a:t>Mkt Spread</a:t>
                      </a:r>
                    </a:p>
                  </a:txBody>
                  <a:tcPr>
                    <a:solidFill>
                      <a:srgbClr val="E8EBF5"/>
                    </a:solidFill>
                  </a:tcPr>
                </a:tc>
                <a:tc>
                  <a:txBody>
                    <a:bodyPr/>
                    <a:lstStyle/>
                    <a:p>
                      <a:pPr algn="r">
                        <a:defRPr sz="900">
                          <a:solidFill>
                            <a:srgbClr val="2D2D3D"/>
                          </a:solidFill>
                          <a:latin typeface="Calibri"/>
                        </a:defRPr>
                      </a:pPr>
                      <a:r>
                        <a:t>85bp</a:t>
                      </a:r>
                    </a:p>
                  </a:txBody>
                  <a:tcPr>
                    <a:solidFill>
                      <a:srgbClr val="E8EBF5"/>
                    </a:solidFill>
                  </a:tcPr>
                </a:tc>
                <a:tc>
                  <a:txBody>
                    <a:bodyPr/>
                    <a:lstStyle/>
                    <a:p>
                      <a:pPr algn="r">
                        <a:defRPr sz="900">
                          <a:solidFill>
                            <a:srgbClr val="2D2D3D"/>
                          </a:solidFill>
                          <a:latin typeface="Calibri"/>
                        </a:defRPr>
                      </a:pPr>
                      <a:r>
                        <a:t>210bp</a:t>
                      </a:r>
                    </a:p>
                  </a:txBody>
                  <a:tcPr>
                    <a:solidFill>
                      <a:srgbClr val="E8EBF5"/>
                    </a:solidFill>
                  </a:tcPr>
                </a:tc>
                <a:tc>
                  <a:txBody>
                    <a:bodyPr/>
                    <a:lstStyle/>
                    <a:p>
                      <a:pPr algn="r">
                        <a:defRPr sz="900">
                          <a:solidFill>
                            <a:srgbClr val="2D2D3D"/>
                          </a:solidFill>
                          <a:latin typeface="Calibri"/>
                        </a:defRPr>
                      </a:pPr>
                      <a:r>
                        <a:t>390bp</a:t>
                      </a:r>
                    </a:p>
                  </a:txBody>
                  <a:tcPr>
                    <a:solidFill>
                      <a:srgbClr val="E8EBF5"/>
                    </a:solidFill>
                  </a:tcPr>
                </a:tc>
                <a:tc>
                  <a:txBody>
                    <a:bodyPr/>
                    <a:lstStyle/>
                    <a:p>
                      <a:pPr algn="r">
                        <a:defRPr sz="900">
                          <a:solidFill>
                            <a:srgbClr val="2D2D3D"/>
                          </a:solidFill>
                          <a:latin typeface="Calibri"/>
                        </a:defRPr>
                      </a:pPr>
                      <a:r>
                        <a:t>630bp</a:t>
                      </a:r>
                    </a:p>
                  </a:txBody>
                  <a:tcPr>
                    <a:solidFill>
                      <a:srgbClr val="E8EBF5"/>
                    </a:solidFill>
                  </a:tcPr>
                </a:tc>
                <a:tc>
                  <a:txBody>
                    <a:bodyPr/>
                    <a:lstStyle/>
                    <a:p>
                      <a:pPr algn="r">
                        <a:defRPr sz="900">
                          <a:solidFill>
                            <a:srgbClr val="2D2D3D"/>
                          </a:solidFill>
                          <a:latin typeface="Calibri"/>
                        </a:defRPr>
                      </a:pPr>
                      <a:r>
                        <a:t>1050bp</a:t>
                      </a:r>
                    </a:p>
                  </a:txBody>
                  <a:tcPr>
                    <a:solidFill>
                      <a:srgbClr val="E8EBF5"/>
                    </a:solidFill>
                  </a:tcPr>
                </a:tc>
              </a:tr>
              <a:tr h="320040">
                <a:tc>
                  <a:txBody>
                    <a:bodyPr/>
                    <a:lstStyle/>
                    <a:p>
                      <a:pPr algn="l">
                        <a:defRPr sz="900">
                          <a:solidFill>
                            <a:srgbClr val="2D2D3D"/>
                          </a:solidFill>
                          <a:latin typeface="Calibri"/>
                        </a:defRPr>
                      </a:pPr>
                      <a:r>
                        <a:t>Recovery R₀</a:t>
                      </a:r>
                    </a:p>
                  </a:txBody>
                  <a:tcPr>
                    <a:solidFill>
                      <a:srgbClr val="FFFFFF"/>
                    </a:solidFill>
                  </a:tcPr>
                </a:tc>
                <a:tc>
                  <a:txBody>
                    <a:bodyPr/>
                    <a:lstStyle/>
                    <a:p>
                      <a:pPr algn="r">
                        <a:defRPr sz="900">
                          <a:solidFill>
                            <a:srgbClr val="2D2D3D"/>
                          </a:solidFill>
                          <a:latin typeface="Calibri"/>
                        </a:defRPr>
                      </a:pPr>
                      <a:r>
                        <a:t>45%</a:t>
                      </a:r>
                    </a:p>
                  </a:txBody>
                  <a:tcPr>
                    <a:solidFill>
                      <a:srgbClr val="FFFFFF"/>
                    </a:solidFill>
                  </a:tcPr>
                </a:tc>
                <a:tc>
                  <a:txBody>
                    <a:bodyPr/>
                    <a:lstStyle/>
                    <a:p>
                      <a:pPr algn="r">
                        <a:defRPr sz="900">
                          <a:solidFill>
                            <a:srgbClr val="2D2D3D"/>
                          </a:solidFill>
                          <a:latin typeface="Calibri"/>
                        </a:defRPr>
                      </a:pPr>
                      <a:r>
                        <a:t>40%</a:t>
                      </a:r>
                    </a:p>
                  </a:txBody>
                  <a:tcPr>
                    <a:solidFill>
                      <a:srgbClr val="FFFFFF"/>
                    </a:solidFill>
                  </a:tcPr>
                </a:tc>
                <a:tc>
                  <a:txBody>
                    <a:bodyPr/>
                    <a:lstStyle/>
                    <a:p>
                      <a:pPr algn="r">
                        <a:defRPr sz="900">
                          <a:solidFill>
                            <a:srgbClr val="2D2D3D"/>
                          </a:solidFill>
                          <a:latin typeface="Calibri"/>
                        </a:defRPr>
                      </a:pPr>
                      <a:r>
                        <a:t>35%</a:t>
                      </a:r>
                    </a:p>
                  </a:txBody>
                  <a:tcPr>
                    <a:solidFill>
                      <a:srgbClr val="FFFFFF"/>
                    </a:solidFill>
                  </a:tcPr>
                </a:tc>
                <a:tc>
                  <a:txBody>
                    <a:bodyPr/>
                    <a:lstStyle/>
                    <a:p>
                      <a:pPr algn="r">
                        <a:defRPr sz="900">
                          <a:solidFill>
                            <a:srgbClr val="2D2D3D"/>
                          </a:solidFill>
                          <a:latin typeface="Calibri"/>
                        </a:defRPr>
                      </a:pPr>
                      <a:r>
                        <a:t>30%</a:t>
                      </a:r>
                    </a:p>
                  </a:txBody>
                  <a:tcPr>
                    <a:solidFill>
                      <a:srgbClr val="FFFFFF"/>
                    </a:solidFill>
                  </a:tcPr>
                </a:tc>
                <a:tc>
                  <a:txBody>
                    <a:bodyPr/>
                    <a:lstStyle/>
                    <a:p>
                      <a:pPr algn="r">
                        <a:defRPr sz="900">
                          <a:solidFill>
                            <a:srgbClr val="2D2D3D"/>
                          </a:solidFill>
                          <a:latin typeface="Calibri"/>
                        </a:defRPr>
                      </a:pPr>
                      <a:r>
                        <a:t>25%</a:t>
                      </a:r>
                    </a:p>
                  </a:txBody>
                  <a:tcPr>
                    <a:solidFill>
                      <a:srgbClr val="FFFFFF"/>
                    </a:solidFill>
                  </a:tcPr>
                </a:tc>
              </a:tr>
              <a:tr h="320040">
                <a:tc>
                  <a:txBody>
                    <a:bodyPr/>
                    <a:lstStyle/>
                    <a:p>
                      <a:pPr algn="l">
                        <a:defRPr sz="900">
                          <a:solidFill>
                            <a:srgbClr val="2D2D3D"/>
                          </a:solidFill>
                          <a:latin typeface="Calibri"/>
                        </a:defRPr>
                      </a:pPr>
                      <a:r>
                        <a:t>LTV</a:t>
                      </a:r>
                    </a:p>
                  </a:txBody>
                  <a:tcPr>
                    <a:solidFill>
                      <a:srgbClr val="E8EBF5"/>
                    </a:solidFill>
                  </a:tcPr>
                </a:tc>
                <a:tc>
                  <a:txBody>
                    <a:bodyPr/>
                    <a:lstStyle/>
                    <a:p>
                      <a:pPr algn="r">
                        <a:defRPr sz="900">
                          <a:solidFill>
                            <a:srgbClr val="2D2D3D"/>
                          </a:solidFill>
                          <a:latin typeface="Calibri"/>
                        </a:defRPr>
                      </a:pPr>
                      <a:r>
                        <a:t>50%</a:t>
                      </a:r>
                    </a:p>
                  </a:txBody>
                  <a:tcPr>
                    <a:solidFill>
                      <a:srgbClr val="E8EBF5"/>
                    </a:solidFill>
                  </a:tcPr>
                </a:tc>
                <a:tc>
                  <a:txBody>
                    <a:bodyPr/>
                    <a:lstStyle/>
                    <a:p>
                      <a:pPr algn="r">
                        <a:defRPr sz="900">
                          <a:solidFill>
                            <a:srgbClr val="2D2D3D"/>
                          </a:solidFill>
                          <a:latin typeface="Calibri"/>
                        </a:defRPr>
                      </a:pPr>
                      <a:r>
                        <a:t>61%</a:t>
                      </a:r>
                    </a:p>
                  </a:txBody>
                  <a:tcPr>
                    <a:solidFill>
                      <a:srgbClr val="E8EBF5"/>
                    </a:solidFill>
                  </a:tcPr>
                </a:tc>
                <a:tc>
                  <a:txBody>
                    <a:bodyPr/>
                    <a:lstStyle/>
                    <a:p>
                      <a:pPr algn="r">
                        <a:defRPr sz="900">
                          <a:solidFill>
                            <a:srgbClr val="2D2D3D"/>
                          </a:solidFill>
                          <a:latin typeface="Calibri"/>
                        </a:defRPr>
                      </a:pPr>
                      <a:r>
                        <a:t>71%</a:t>
                      </a:r>
                    </a:p>
                  </a:txBody>
                  <a:tcPr>
                    <a:solidFill>
                      <a:srgbClr val="E8EBF5"/>
                    </a:solidFill>
                  </a:tcPr>
                </a:tc>
                <a:tc>
                  <a:txBody>
                    <a:bodyPr/>
                    <a:lstStyle/>
                    <a:p>
                      <a:pPr algn="r">
                        <a:defRPr sz="900">
                          <a:solidFill>
                            <a:srgbClr val="2D2D3D"/>
                          </a:solidFill>
                          <a:latin typeface="Calibri"/>
                        </a:defRPr>
                      </a:pPr>
                      <a:r>
                        <a:t>80%</a:t>
                      </a:r>
                    </a:p>
                  </a:txBody>
                  <a:tcPr>
                    <a:solidFill>
                      <a:srgbClr val="E8EBF5"/>
                    </a:solidFill>
                  </a:tcPr>
                </a:tc>
                <a:tc>
                  <a:txBody>
                    <a:bodyPr/>
                    <a:lstStyle/>
                    <a:p>
                      <a:pPr algn="r">
                        <a:defRPr sz="900">
                          <a:solidFill>
                            <a:srgbClr val="2D2D3D"/>
                          </a:solidFill>
                          <a:latin typeface="Calibri"/>
                        </a:defRPr>
                      </a:pPr>
                      <a:r>
                        <a:t>87%</a:t>
                      </a:r>
                    </a:p>
                  </a:txBody>
                  <a:tcPr>
                    <a:solidFill>
                      <a:srgbClr val="E8EBF5"/>
                    </a:solidFill>
                  </a:tcPr>
                </a:tc>
              </a:tr>
              <a:tr h="320040">
                <a:tc>
                  <a:txBody>
                    <a:bodyPr/>
                    <a:lstStyle/>
                    <a:p>
                      <a:pPr algn="l">
                        <a:defRPr sz="900">
                          <a:solidFill>
                            <a:srgbClr val="2D2D3D"/>
                          </a:solidFill>
                          <a:latin typeface="Calibri"/>
                        </a:defRPr>
                      </a:pPr>
                      <a:r>
                        <a:t>Barrier B</a:t>
                      </a:r>
                    </a:p>
                  </a:txBody>
                  <a:tcPr>
                    <a:solidFill>
                      <a:srgbClr val="FFFFFF"/>
                    </a:solidFill>
                  </a:tcPr>
                </a:tc>
                <a:tc>
                  <a:txBody>
                    <a:bodyPr/>
                    <a:lstStyle/>
                    <a:p>
                      <a:pPr algn="r">
                        <a:defRPr sz="900">
                          <a:solidFill>
                            <a:srgbClr val="2D2D3D"/>
                          </a:solidFill>
                          <a:latin typeface="Calibri"/>
                        </a:defRPr>
                      </a:pPr>
                      <a:r>
                        <a:t>459</a:t>
                      </a:r>
                    </a:p>
                  </a:txBody>
                  <a:tcPr>
                    <a:solidFill>
                      <a:srgbClr val="FFFFFF"/>
                    </a:solidFill>
                  </a:tcPr>
                </a:tc>
                <a:tc>
                  <a:txBody>
                    <a:bodyPr/>
                    <a:lstStyle/>
                    <a:p>
                      <a:pPr algn="r">
                        <a:defRPr sz="900">
                          <a:solidFill>
                            <a:srgbClr val="2D2D3D"/>
                          </a:solidFill>
                          <a:latin typeface="Calibri"/>
                        </a:defRPr>
                      </a:pPr>
                      <a:r>
                        <a:t>166</a:t>
                      </a:r>
                    </a:p>
                  </a:txBody>
                  <a:tcPr>
                    <a:solidFill>
                      <a:srgbClr val="FFFFFF"/>
                    </a:solidFill>
                  </a:tcPr>
                </a:tc>
                <a:tc>
                  <a:txBody>
                    <a:bodyPr/>
                    <a:lstStyle/>
                    <a:p>
                      <a:pPr algn="r">
                        <a:defRPr sz="900">
                          <a:solidFill>
                            <a:srgbClr val="2D2D3D"/>
                          </a:solidFill>
                          <a:latin typeface="Calibri"/>
                        </a:defRPr>
                      </a:pPr>
                      <a:r>
                        <a:t>179</a:t>
                      </a:r>
                    </a:p>
                  </a:txBody>
                  <a:tcPr>
                    <a:solidFill>
                      <a:srgbClr val="FFFFFF"/>
                    </a:solidFill>
                  </a:tcPr>
                </a:tc>
                <a:tc>
                  <a:txBody>
                    <a:bodyPr/>
                    <a:lstStyle/>
                    <a:p>
                      <a:pPr algn="r">
                        <a:defRPr sz="900">
                          <a:solidFill>
                            <a:srgbClr val="2D2D3D"/>
                          </a:solidFill>
                          <a:latin typeface="Calibri"/>
                        </a:defRPr>
                      </a:pPr>
                      <a:r>
                        <a:t>274</a:t>
                      </a:r>
                    </a:p>
                  </a:txBody>
                  <a:tcPr>
                    <a:solidFill>
                      <a:srgbClr val="FFFFFF"/>
                    </a:solidFill>
                  </a:tcPr>
                </a:tc>
                <a:tc>
                  <a:txBody>
                    <a:bodyPr/>
                    <a:lstStyle/>
                    <a:p>
                      <a:pPr algn="r">
                        <a:defRPr sz="900">
                          <a:solidFill>
                            <a:srgbClr val="2D2D3D"/>
                          </a:solidFill>
                          <a:latin typeface="Calibri"/>
                        </a:defRPr>
                      </a:pPr>
                      <a:r>
                        <a:t>689</a:t>
                      </a:r>
                    </a:p>
                  </a:txBody>
                  <a:tcPr>
                    <a:solidFill>
                      <a:srgbClr val="FFFFFF"/>
                    </a:solidFill>
                  </a:tcPr>
                </a:tc>
              </a:tr>
              <a:tr h="320040">
                <a:tc>
                  <a:txBody>
                    <a:bodyPr/>
                    <a:lstStyle/>
                    <a:p>
                      <a:pPr algn="l">
                        <a:defRPr sz="900">
                          <a:solidFill>
                            <a:srgbClr val="2D2D3D"/>
                          </a:solidFill>
                          <a:latin typeface="Calibri"/>
                        </a:defRPr>
                      </a:pPr>
                      <a:r>
                        <a:t>DD</a:t>
                      </a:r>
                    </a:p>
                  </a:txBody>
                  <a:tcPr>
                    <a:solidFill>
                      <a:srgbClr val="E8EBF5"/>
                    </a:solidFill>
                  </a:tcPr>
                </a:tc>
                <a:tc>
                  <a:txBody>
                    <a:bodyPr/>
                    <a:lstStyle/>
                    <a:p>
                      <a:pPr algn="r">
                        <a:defRPr sz="900">
                          <a:solidFill>
                            <a:srgbClr val="2D2D3D"/>
                          </a:solidFill>
                          <a:latin typeface="Calibri"/>
                        </a:defRPr>
                      </a:pPr>
                      <a:r>
                        <a:t>-1.6</a:t>
                      </a:r>
                    </a:p>
                  </a:txBody>
                  <a:tcPr>
                    <a:solidFill>
                      <a:srgbClr val="E8EBF5"/>
                    </a:solidFill>
                  </a:tcPr>
                </a:tc>
                <a:tc>
                  <a:txBody>
                    <a:bodyPr/>
                    <a:lstStyle/>
                    <a:p>
                      <a:pPr algn="r">
                        <a:defRPr sz="900">
                          <a:solidFill>
                            <a:srgbClr val="2D2D3D"/>
                          </a:solidFill>
                          <a:latin typeface="Calibri"/>
                        </a:defRPr>
                      </a:pPr>
                      <a:r>
                        <a:t>0.1</a:t>
                      </a:r>
                    </a:p>
                  </a:txBody>
                  <a:tcPr>
                    <a:solidFill>
                      <a:srgbClr val="E8EBF5"/>
                    </a:solidFill>
                  </a:tcPr>
                </a:tc>
                <a:tc>
                  <a:txBody>
                    <a:bodyPr/>
                    <a:lstStyle/>
                    <a:p>
                      <a:pPr algn="r">
                        <a:defRPr sz="900">
                          <a:solidFill>
                            <a:srgbClr val="2D2D3D"/>
                          </a:solidFill>
                          <a:latin typeface="Calibri"/>
                        </a:defRPr>
                      </a:pPr>
                      <a:r>
                        <a:t>-0.4</a:t>
                      </a:r>
                    </a:p>
                  </a:txBody>
                  <a:tcPr>
                    <a:solidFill>
                      <a:srgbClr val="E8EBF5"/>
                    </a:solidFill>
                  </a:tcPr>
                </a:tc>
                <a:tc>
                  <a:txBody>
                    <a:bodyPr/>
                    <a:lstStyle/>
                    <a:p>
                      <a:pPr algn="r">
                        <a:defRPr sz="900">
                          <a:solidFill>
                            <a:srgbClr val="2D2D3D"/>
                          </a:solidFill>
                          <a:latin typeface="Calibri"/>
                        </a:defRPr>
                      </a:pPr>
                      <a:r>
                        <a:t>-1.1</a:t>
                      </a:r>
                    </a:p>
                  </a:txBody>
                  <a:tcPr>
                    <a:solidFill>
                      <a:srgbClr val="E8EBF5"/>
                    </a:solidFill>
                  </a:tcPr>
                </a:tc>
                <a:tc>
                  <a:txBody>
                    <a:bodyPr/>
                    <a:lstStyle/>
                    <a:p>
                      <a:pPr algn="r">
                        <a:defRPr sz="900">
                          <a:solidFill>
                            <a:srgbClr val="2D2D3D"/>
                          </a:solidFill>
                          <a:latin typeface="Calibri"/>
                        </a:defRPr>
                      </a:pPr>
                      <a:r>
                        <a:t>-2.2</a:t>
                      </a:r>
                    </a:p>
                  </a:txBody>
                  <a:tcPr>
                    <a:solidFill>
                      <a:srgbClr val="E8EBF5"/>
                    </a:solidFill>
                  </a:tcPr>
                </a:tc>
              </a:tr>
              <a:tr h="320040">
                <a:tc>
                  <a:txBody>
                    <a:bodyPr/>
                    <a:lstStyle/>
                    <a:p>
                      <a:pPr algn="l">
                        <a:defRPr sz="900">
                          <a:solidFill>
                            <a:srgbClr val="2D2D3D"/>
                          </a:solidFill>
                          <a:latin typeface="Calibri"/>
                        </a:defRPr>
                      </a:pPr>
                      <a:r>
                        <a:t>λ₀ (cal)</a:t>
                      </a:r>
                    </a:p>
                  </a:txBody>
                  <a:tcPr>
                    <a:solidFill>
                      <a:srgbClr val="FFFFFF"/>
                    </a:solidFill>
                  </a:tcPr>
                </a:tc>
                <a:tc>
                  <a:txBody>
                    <a:bodyPr/>
                    <a:lstStyle/>
                    <a:p>
                      <a:pPr algn="r">
                        <a:defRPr sz="900">
                          <a:solidFill>
                            <a:srgbClr val="2D2D3D"/>
                          </a:solidFill>
                          <a:latin typeface="Calibri"/>
                        </a:defRPr>
                      </a:pPr>
                      <a:r>
                        <a:t>143bp</a:t>
                      </a:r>
                    </a:p>
                  </a:txBody>
                  <a:tcPr>
                    <a:solidFill>
                      <a:srgbClr val="FFFFFF"/>
                    </a:solidFill>
                  </a:tcPr>
                </a:tc>
                <a:tc>
                  <a:txBody>
                    <a:bodyPr/>
                    <a:lstStyle/>
                    <a:p>
                      <a:pPr algn="r">
                        <a:defRPr sz="900">
                          <a:solidFill>
                            <a:srgbClr val="2D2D3D"/>
                          </a:solidFill>
                          <a:latin typeface="Calibri"/>
                        </a:defRPr>
                      </a:pPr>
                      <a:r>
                        <a:t>334bp</a:t>
                      </a:r>
                    </a:p>
                  </a:txBody>
                  <a:tcPr>
                    <a:solidFill>
                      <a:srgbClr val="FFFFFF"/>
                    </a:solidFill>
                  </a:tcPr>
                </a:tc>
                <a:tc>
                  <a:txBody>
                    <a:bodyPr/>
                    <a:lstStyle/>
                    <a:p>
                      <a:pPr algn="r">
                        <a:defRPr sz="900">
                          <a:solidFill>
                            <a:srgbClr val="2D2D3D"/>
                          </a:solidFill>
                          <a:latin typeface="Calibri"/>
                        </a:defRPr>
                      </a:pPr>
                      <a:r>
                        <a:t>591bp</a:t>
                      </a:r>
                    </a:p>
                  </a:txBody>
                  <a:tcPr>
                    <a:solidFill>
                      <a:srgbClr val="FFFFFF"/>
                    </a:solidFill>
                  </a:tcPr>
                </a:tc>
                <a:tc>
                  <a:txBody>
                    <a:bodyPr/>
                    <a:lstStyle/>
                    <a:p>
                      <a:pPr algn="r">
                        <a:defRPr sz="900">
                          <a:solidFill>
                            <a:srgbClr val="2D2D3D"/>
                          </a:solidFill>
                          <a:latin typeface="Calibri"/>
                        </a:defRPr>
                      </a:pPr>
                      <a:r>
                        <a:t>911bp</a:t>
                      </a:r>
                    </a:p>
                  </a:txBody>
                  <a:tcPr>
                    <a:solidFill>
                      <a:srgbClr val="FFFFFF"/>
                    </a:solidFill>
                  </a:tcPr>
                </a:tc>
                <a:tc>
                  <a:txBody>
                    <a:bodyPr/>
                    <a:lstStyle/>
                    <a:p>
                      <a:pPr algn="r">
                        <a:defRPr sz="900">
                          <a:solidFill>
                            <a:srgbClr val="2D2D3D"/>
                          </a:solidFill>
                          <a:latin typeface="Calibri"/>
                        </a:defRPr>
                      </a:pPr>
                      <a:r>
                        <a:t>1468bp</a:t>
                      </a:r>
                    </a:p>
                  </a:txBody>
                  <a:tcPr>
                    <a:solidFill>
                      <a:srgbClr val="FFFFFF"/>
                    </a:solidFill>
                  </a:tcPr>
                </a:tc>
              </a:tr>
            </a:tbl>
          </a:graphicData>
        </a:graphic>
      </p:graphicFrame>
      <p:sp>
        <p:nvSpPr>
          <p:cNvPr id="10" name="TextBox 9"/>
          <p:cNvSpPr txBox="1"/>
          <p:nvPr/>
        </p:nvSpPr>
        <p:spPr>
          <a:xfrm>
            <a:off x="274320" y="5029200"/>
            <a:ext cx="8595360" cy="228600"/>
          </a:xfrm>
          <a:prstGeom prst="rect">
            <a:avLst/>
          </a:prstGeom>
          <a:noFill/>
        </p:spPr>
        <p:txBody>
          <a:bodyPr wrap="square">
            <a:spAutoFit/>
          </a:bodyPr>
          <a:lstStyle/>
          <a:p>
            <a:pPr algn="l">
              <a:defRPr sz="1300" b="1">
                <a:solidFill>
                  <a:srgbClr val="2C3E6B"/>
                </a:solidFill>
                <a:latin typeface="Calibri"/>
              </a:defRPr>
            </a:pPr>
            <a:r>
              <a:t>Key Assumptions &amp; Limitations</a:t>
            </a:r>
          </a:p>
        </p:txBody>
      </p:sp>
      <p:sp>
        <p:nvSpPr>
          <p:cNvPr id="11" name="TextBox 10"/>
          <p:cNvSpPr txBox="1"/>
          <p:nvPr/>
        </p:nvSpPr>
        <p:spPr>
          <a:xfrm>
            <a:off x="274320" y="5349240"/>
            <a:ext cx="8595360" cy="1371600"/>
          </a:xfrm>
          <a:prstGeom prst="rect">
            <a:avLst/>
          </a:prstGeom>
          <a:noFill/>
        </p:spPr>
        <p:txBody>
          <a:bodyPr wrap="square">
            <a:spAutoFit/>
          </a:bodyPr>
          <a:lstStyle/>
          <a:p>
            <a:pPr>
              <a:spcAft>
                <a:spcPts val="800"/>
              </a:spcAft>
              <a:defRPr sz="1100">
                <a:solidFill>
                  <a:srgbClr val="2D2D3D"/>
                </a:solidFill>
                <a:latin typeface="Calibri"/>
              </a:defRPr>
            </a:pPr>
            <a:r>
              <a:t>Flat rate &amp; hazard term structures. Real curves add convexity but don’t change the qualitative results</a:t>
            </a:r>
          </a:p>
          <a:p>
            <a:pPr>
              <a:spcAft>
                <a:spcPts val="800"/>
              </a:spcAft>
              <a:defRPr sz="1100">
                <a:solidFill>
                  <a:srgbClr val="2D2D3D"/>
                </a:solidFill>
                <a:latin typeface="Calibri"/>
              </a:defRPr>
            </a:pPr>
            <a:r>
              <a:t>Terminal Merton barrier (not first-passage). First-passage would slightly increase short-dated PDs</a:t>
            </a:r>
          </a:p>
          <a:p>
            <a:pPr>
              <a:spcAft>
                <a:spcPts val="800"/>
              </a:spcAft>
              <a:defRPr sz="1100">
                <a:solidFill>
                  <a:srgbClr val="2D2D3D"/>
                </a:solidFill>
                <a:latin typeface="Calibri"/>
              </a:defRPr>
            </a:pPr>
            <a:r>
              <a:t>No credit migration or rating transitions. The model is single-period default/survive</a:t>
            </a:r>
          </a:p>
          <a:p>
            <a:pPr>
              <a:spcAft>
                <a:spcPts val="800"/>
              </a:spcAft>
              <a:defRPr sz="1100">
                <a:solidFill>
                  <a:srgbClr val="2D2D3D"/>
                </a:solidFill>
                <a:latin typeface="Calibri"/>
              </a:defRPr>
            </a:pPr>
            <a:r>
              <a:t>Toggle threshold fixed at λ &gt; 10%. Alternative strategies (stochastic, optimal exercise) could change toggle results at the margin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8046720" y="6492240"/>
            <a:ext cx="1097280" cy="274320"/>
          </a:xfrm>
          <a:prstGeom prst="rect">
            <a:avLst/>
          </a:prstGeom>
          <a:noFill/>
        </p:spPr>
        <p:txBody>
          <a:bodyPr wrap="square">
            <a:spAutoFit/>
          </a:bodyPr>
          <a:lstStyle/>
          <a:p>
            <a:pPr algn="r">
              <a:defRPr sz="1000" b="0">
                <a:solidFill>
                  <a:srgbClr val="555570"/>
                </a:solidFill>
                <a:latin typeface="Calibri"/>
              </a:defRPr>
            </a:pPr>
            <a:r>
              <a:t>16/16</a:t>
            </a:r>
          </a:p>
        </p:txBody>
      </p:sp>
      <p:sp>
        <p:nvSpPr>
          <p:cNvPr id="3" name="TextBox 2"/>
          <p:cNvSpPr txBox="1"/>
          <p:nvPr/>
        </p:nvSpPr>
        <p:spPr>
          <a:xfrm>
            <a:off x="731520" y="274320"/>
            <a:ext cx="7315200" cy="457200"/>
          </a:xfrm>
          <a:prstGeom prst="rect">
            <a:avLst/>
          </a:prstGeom>
          <a:noFill/>
        </p:spPr>
        <p:txBody>
          <a:bodyPr wrap="square">
            <a:spAutoFit/>
          </a:bodyPr>
          <a:lstStyle/>
          <a:p>
            <a:pPr algn="l">
              <a:defRPr sz="2800" b="1">
                <a:solidFill>
                  <a:srgbClr val="FFFFFF"/>
                </a:solidFill>
                <a:latin typeface="Calibri"/>
              </a:defRPr>
            </a:pPr>
            <a:r>
              <a:t>Model Comparison: Agreement &amp; Divergence</a:t>
            </a:r>
          </a:p>
        </p:txBody>
      </p:sp>
      <p:sp>
        <p:nvSpPr>
          <p:cNvPr id="4" name="Rectangle 3"/>
          <p:cNvSpPr/>
          <p:nvPr/>
        </p:nvSpPr>
        <p:spPr>
          <a:xfrm>
            <a:off x="731520" y="777240"/>
            <a:ext cx="1828800" cy="3810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097280"/>
            <a:ext cx="4114800" cy="2926080"/>
          </a:xfrm>
          <a:prstGeom prst="roundRect">
            <a:avLst/>
          </a:prstGeom>
          <a:solidFill>
            <a:srgbClr val="1F2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20"/>
            <a:ext cx="3657600" cy="274320"/>
          </a:xfrm>
          <a:prstGeom prst="rect">
            <a:avLst/>
          </a:prstGeom>
          <a:noFill/>
        </p:spPr>
        <p:txBody>
          <a:bodyPr wrap="square">
            <a:spAutoFit/>
          </a:bodyPr>
          <a:lstStyle/>
          <a:p>
            <a:pPr algn="l">
              <a:defRPr sz="1800" b="1">
                <a:solidFill>
                  <a:srgbClr val="4EC9B0"/>
                </a:solidFill>
                <a:latin typeface="Calibri"/>
              </a:defRPr>
            </a:pPr>
            <a:r>
              <a:t>Hazard Rate Model</a:t>
            </a:r>
          </a:p>
        </p:txBody>
      </p:sp>
      <p:sp>
        <p:nvSpPr>
          <p:cNvPr id="7" name="TextBox 6"/>
          <p:cNvSpPr txBox="1"/>
          <p:nvPr/>
        </p:nvSpPr>
        <p:spPr>
          <a:xfrm>
            <a:off x="457200" y="1554480"/>
            <a:ext cx="3657600" cy="274320"/>
          </a:xfrm>
          <a:prstGeom prst="rect">
            <a:avLst/>
          </a:prstGeom>
          <a:noFill/>
        </p:spPr>
        <p:txBody>
          <a:bodyPr wrap="square">
            <a:spAutoFit/>
          </a:bodyPr>
          <a:lstStyle/>
          <a:p>
            <a:pPr algn="l">
              <a:defRPr sz="1100" b="0">
                <a:solidFill>
                  <a:srgbClr val="5CB85C"/>
                </a:solidFill>
                <a:latin typeface="Calibri"/>
              </a:defRPr>
            </a:pPr>
            <a:r>
              <a:t>✓ Simple, fast, closed-form</a:t>
            </a:r>
          </a:p>
        </p:txBody>
      </p:sp>
      <p:sp>
        <p:nvSpPr>
          <p:cNvPr id="8" name="TextBox 7"/>
          <p:cNvSpPr txBox="1"/>
          <p:nvPr/>
        </p:nvSpPr>
        <p:spPr>
          <a:xfrm>
            <a:off x="457200" y="1856232"/>
            <a:ext cx="3657600" cy="274320"/>
          </a:xfrm>
          <a:prstGeom prst="rect">
            <a:avLst/>
          </a:prstGeom>
          <a:noFill/>
        </p:spPr>
        <p:txBody>
          <a:bodyPr wrap="square">
            <a:spAutoFit/>
          </a:bodyPr>
          <a:lstStyle/>
          <a:p>
            <a:pPr algn="l">
              <a:defRPr sz="1100" b="0">
                <a:solidFill>
                  <a:srgbClr val="5CB85C"/>
                </a:solidFill>
                <a:latin typeface="Calibri"/>
              </a:defRPr>
            </a:pPr>
            <a:r>
              <a:t>✓ Clear economic intuition</a:t>
            </a:r>
          </a:p>
        </p:txBody>
      </p:sp>
      <p:sp>
        <p:nvSpPr>
          <p:cNvPr id="9" name="TextBox 8"/>
          <p:cNvSpPr txBox="1"/>
          <p:nvPr/>
        </p:nvSpPr>
        <p:spPr>
          <a:xfrm>
            <a:off x="457200" y="2157984"/>
            <a:ext cx="3657600" cy="274320"/>
          </a:xfrm>
          <a:prstGeom prst="rect">
            <a:avLst/>
          </a:prstGeom>
          <a:noFill/>
        </p:spPr>
        <p:txBody>
          <a:bodyPr wrap="square">
            <a:spAutoFit/>
          </a:bodyPr>
          <a:lstStyle/>
          <a:p>
            <a:pPr algn="l">
              <a:defRPr sz="1100" b="0">
                <a:solidFill>
                  <a:srgbClr val="5CB85C"/>
                </a:solidFill>
                <a:latin typeface="Calibri"/>
              </a:defRPr>
            </a:pPr>
            <a:r>
              <a:t>✓ Calibrates to market spreads</a:t>
            </a:r>
          </a:p>
        </p:txBody>
      </p:sp>
      <p:sp>
        <p:nvSpPr>
          <p:cNvPr id="10" name="TextBox 9"/>
          <p:cNvSpPr txBox="1"/>
          <p:nvPr/>
        </p:nvSpPr>
        <p:spPr>
          <a:xfrm>
            <a:off x="457200" y="2459736"/>
            <a:ext cx="3657600" cy="274320"/>
          </a:xfrm>
          <a:prstGeom prst="rect">
            <a:avLst/>
          </a:prstGeom>
          <a:noFill/>
        </p:spPr>
        <p:txBody>
          <a:bodyPr wrap="square">
            <a:spAutoFit/>
          </a:bodyPr>
          <a:lstStyle/>
          <a:p>
            <a:pPr algn="l">
              <a:defRPr sz="1100" b="0">
                <a:solidFill>
                  <a:srgbClr val="E04F4F"/>
                </a:solidFill>
                <a:latin typeface="Calibri"/>
              </a:defRPr>
            </a:pPr>
            <a:r>
              <a:t>✗ Overstates PD for strong credits</a:t>
            </a:r>
          </a:p>
        </p:txBody>
      </p:sp>
      <p:sp>
        <p:nvSpPr>
          <p:cNvPr id="11" name="TextBox 10"/>
          <p:cNvSpPr txBox="1"/>
          <p:nvPr/>
        </p:nvSpPr>
        <p:spPr>
          <a:xfrm>
            <a:off x="457200" y="2761488"/>
            <a:ext cx="3657600" cy="274320"/>
          </a:xfrm>
          <a:prstGeom prst="rect">
            <a:avLst/>
          </a:prstGeom>
          <a:noFill/>
        </p:spPr>
        <p:txBody>
          <a:bodyPr wrap="square">
            <a:spAutoFit/>
          </a:bodyPr>
          <a:lstStyle/>
          <a:p>
            <a:pPr algn="l">
              <a:defRPr sz="1100" b="0">
                <a:solidFill>
                  <a:srgbClr val="E04F4F"/>
                </a:solidFill>
                <a:latin typeface="Calibri"/>
              </a:defRPr>
            </a:pPr>
            <a:r>
              <a:t>✗ No feedback loop (static λ)</a:t>
            </a:r>
          </a:p>
        </p:txBody>
      </p:sp>
      <p:sp>
        <p:nvSpPr>
          <p:cNvPr id="12" name="TextBox 11"/>
          <p:cNvSpPr txBox="1"/>
          <p:nvPr/>
        </p:nvSpPr>
        <p:spPr>
          <a:xfrm>
            <a:off x="457200" y="3063240"/>
            <a:ext cx="3657600" cy="274320"/>
          </a:xfrm>
          <a:prstGeom prst="rect">
            <a:avLst/>
          </a:prstGeom>
          <a:noFill/>
        </p:spPr>
        <p:txBody>
          <a:bodyPr wrap="square">
            <a:spAutoFit/>
          </a:bodyPr>
          <a:lstStyle/>
          <a:p>
            <a:pPr algn="l">
              <a:defRPr sz="1100" b="0">
                <a:solidFill>
                  <a:srgbClr val="E04F4F"/>
                </a:solidFill>
                <a:latin typeface="Calibri"/>
              </a:defRPr>
            </a:pPr>
            <a:r>
              <a:t>✗ PIK always trades wider</a:t>
            </a:r>
          </a:p>
        </p:txBody>
      </p:sp>
      <p:sp>
        <p:nvSpPr>
          <p:cNvPr id="13" name="TextBox 12"/>
          <p:cNvSpPr txBox="1"/>
          <p:nvPr/>
        </p:nvSpPr>
        <p:spPr>
          <a:xfrm>
            <a:off x="457200" y="3364992"/>
            <a:ext cx="3657600" cy="274320"/>
          </a:xfrm>
          <a:prstGeom prst="rect">
            <a:avLst/>
          </a:prstGeom>
          <a:noFill/>
        </p:spPr>
        <p:txBody>
          <a:bodyPr wrap="square">
            <a:spAutoFit/>
          </a:bodyPr>
          <a:lstStyle/>
          <a:p>
            <a:pPr algn="l">
              <a:defRPr sz="1100" b="0">
                <a:solidFill>
                  <a:srgbClr val="E04F4F"/>
                </a:solidFill>
                <a:latin typeface="Calibri"/>
              </a:defRPr>
            </a:pPr>
            <a:r>
              <a:t>✗ Recovery independent of notional</a:t>
            </a:r>
          </a:p>
        </p:txBody>
      </p:sp>
      <p:sp>
        <p:nvSpPr>
          <p:cNvPr id="14" name="Rounded Rectangle 13"/>
          <p:cNvSpPr/>
          <p:nvPr/>
        </p:nvSpPr>
        <p:spPr>
          <a:xfrm>
            <a:off x="4754880" y="1097280"/>
            <a:ext cx="4114800" cy="2926080"/>
          </a:xfrm>
          <a:prstGeom prst="roundRect">
            <a:avLst/>
          </a:prstGeom>
          <a:solidFill>
            <a:srgbClr val="1F2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0" y="1188720"/>
            <a:ext cx="3657600" cy="274320"/>
          </a:xfrm>
          <a:prstGeom prst="rect">
            <a:avLst/>
          </a:prstGeom>
          <a:noFill/>
        </p:spPr>
        <p:txBody>
          <a:bodyPr wrap="square">
            <a:spAutoFit/>
          </a:bodyPr>
          <a:lstStyle/>
          <a:p>
            <a:pPr algn="l">
              <a:defRPr sz="1800" b="1">
                <a:solidFill>
                  <a:srgbClr val="E88D3F"/>
                </a:solidFill>
                <a:latin typeface="Calibri"/>
              </a:defRPr>
            </a:pPr>
            <a:r>
              <a:t>Merton MC Model</a:t>
            </a:r>
          </a:p>
        </p:txBody>
      </p:sp>
      <p:sp>
        <p:nvSpPr>
          <p:cNvPr id="16" name="TextBox 15"/>
          <p:cNvSpPr txBox="1"/>
          <p:nvPr/>
        </p:nvSpPr>
        <p:spPr>
          <a:xfrm>
            <a:off x="4937760" y="1554480"/>
            <a:ext cx="3657600" cy="274320"/>
          </a:xfrm>
          <a:prstGeom prst="rect">
            <a:avLst/>
          </a:prstGeom>
          <a:noFill/>
        </p:spPr>
        <p:txBody>
          <a:bodyPr wrap="square">
            <a:spAutoFit/>
          </a:bodyPr>
          <a:lstStyle/>
          <a:p>
            <a:pPr algn="l">
              <a:defRPr sz="1100" b="0">
                <a:solidFill>
                  <a:srgbClr val="5CB85C"/>
                </a:solidFill>
                <a:latin typeface="Calibri"/>
              </a:defRPr>
            </a:pPr>
            <a:r>
              <a:t>✓ Endogenous hazard (λ grows with PIK)</a:t>
            </a:r>
          </a:p>
        </p:txBody>
      </p:sp>
      <p:sp>
        <p:nvSpPr>
          <p:cNvPr id="17" name="TextBox 16"/>
          <p:cNvSpPr txBox="1"/>
          <p:nvPr/>
        </p:nvSpPr>
        <p:spPr>
          <a:xfrm>
            <a:off x="4937760" y="1856232"/>
            <a:ext cx="3657600" cy="274320"/>
          </a:xfrm>
          <a:prstGeom prst="rect">
            <a:avLst/>
          </a:prstGeom>
          <a:noFill/>
        </p:spPr>
        <p:txBody>
          <a:bodyPr wrap="square">
            <a:spAutoFit/>
          </a:bodyPr>
          <a:lstStyle/>
          <a:p>
            <a:pPr algn="l">
              <a:defRPr sz="1100" b="0">
                <a:solidFill>
                  <a:srgbClr val="5CB85C"/>
                </a:solidFill>
                <a:latin typeface="Calibri"/>
              </a:defRPr>
            </a:pPr>
            <a:r>
              <a:t>✓ Dynamic recovery (R falls with notional)</a:t>
            </a:r>
          </a:p>
        </p:txBody>
      </p:sp>
      <p:sp>
        <p:nvSpPr>
          <p:cNvPr id="18" name="TextBox 17"/>
          <p:cNvSpPr txBox="1"/>
          <p:nvPr/>
        </p:nvSpPr>
        <p:spPr>
          <a:xfrm>
            <a:off x="4937760" y="2157984"/>
            <a:ext cx="3657600" cy="274320"/>
          </a:xfrm>
          <a:prstGeom prst="rect">
            <a:avLst/>
          </a:prstGeom>
          <a:noFill/>
        </p:spPr>
        <p:txBody>
          <a:bodyPr wrap="square">
            <a:spAutoFit/>
          </a:bodyPr>
          <a:lstStyle/>
          <a:p>
            <a:pPr algn="l">
              <a:defRPr sz="1100" b="0">
                <a:solidFill>
                  <a:srgbClr val="5CB85C"/>
                </a:solidFill>
                <a:latin typeface="Calibri"/>
              </a:defRPr>
            </a:pPr>
            <a:r>
              <a:t>✓ Captures feedback loop</a:t>
            </a:r>
          </a:p>
        </p:txBody>
      </p:sp>
      <p:sp>
        <p:nvSpPr>
          <p:cNvPr id="19" name="TextBox 18"/>
          <p:cNvSpPr txBox="1"/>
          <p:nvPr/>
        </p:nvSpPr>
        <p:spPr>
          <a:xfrm>
            <a:off x="4937760" y="2459736"/>
            <a:ext cx="3657600" cy="274320"/>
          </a:xfrm>
          <a:prstGeom prst="rect">
            <a:avLst/>
          </a:prstGeom>
          <a:noFill/>
        </p:spPr>
        <p:txBody>
          <a:bodyPr wrap="square">
            <a:spAutoFit/>
          </a:bodyPr>
          <a:lstStyle/>
          <a:p>
            <a:pPr algn="l">
              <a:defRPr sz="1100" b="0">
                <a:solidFill>
                  <a:srgbClr val="5CB85C"/>
                </a:solidFill>
                <a:latin typeface="Calibri"/>
              </a:defRPr>
            </a:pPr>
            <a:r>
              <a:t>✓ Calibrates to historical PDs</a:t>
            </a:r>
          </a:p>
        </p:txBody>
      </p:sp>
      <p:sp>
        <p:nvSpPr>
          <p:cNvPr id="20" name="TextBox 19"/>
          <p:cNvSpPr txBox="1"/>
          <p:nvPr/>
        </p:nvSpPr>
        <p:spPr>
          <a:xfrm>
            <a:off x="4937760" y="2761488"/>
            <a:ext cx="3657600" cy="274320"/>
          </a:xfrm>
          <a:prstGeom prst="rect">
            <a:avLst/>
          </a:prstGeom>
          <a:noFill/>
        </p:spPr>
        <p:txBody>
          <a:bodyPr wrap="square">
            <a:spAutoFit/>
          </a:bodyPr>
          <a:lstStyle/>
          <a:p>
            <a:pPr algn="l">
              <a:defRPr sz="1100" b="0">
                <a:solidFill>
                  <a:srgbClr val="5CB85C"/>
                </a:solidFill>
                <a:latin typeface="Calibri"/>
              </a:defRPr>
            </a:pPr>
            <a:r>
              <a:t>✓ Path-dependent toggle modelling</a:t>
            </a:r>
          </a:p>
        </p:txBody>
      </p:sp>
      <p:sp>
        <p:nvSpPr>
          <p:cNvPr id="21" name="TextBox 20"/>
          <p:cNvSpPr txBox="1"/>
          <p:nvPr/>
        </p:nvSpPr>
        <p:spPr>
          <a:xfrm>
            <a:off x="4937760" y="3063240"/>
            <a:ext cx="3657600" cy="274320"/>
          </a:xfrm>
          <a:prstGeom prst="rect">
            <a:avLst/>
          </a:prstGeom>
          <a:noFill/>
        </p:spPr>
        <p:txBody>
          <a:bodyPr wrap="square">
            <a:spAutoFit/>
          </a:bodyPr>
          <a:lstStyle/>
          <a:p>
            <a:pPr algn="l">
              <a:defRPr sz="1100" b="0">
                <a:solidFill>
                  <a:srgbClr val="E04F4F"/>
                </a:solidFill>
                <a:latin typeface="Calibri"/>
              </a:defRPr>
            </a:pPr>
            <a:r>
              <a:t>✗ Computationally intensive (MC)</a:t>
            </a:r>
          </a:p>
        </p:txBody>
      </p:sp>
      <p:sp>
        <p:nvSpPr>
          <p:cNvPr id="22" name="TextBox 21"/>
          <p:cNvSpPr txBox="1"/>
          <p:nvPr/>
        </p:nvSpPr>
        <p:spPr>
          <a:xfrm>
            <a:off x="4937760" y="3364992"/>
            <a:ext cx="3657600" cy="274320"/>
          </a:xfrm>
          <a:prstGeom prst="rect">
            <a:avLst/>
          </a:prstGeom>
          <a:noFill/>
        </p:spPr>
        <p:txBody>
          <a:bodyPr wrap="square">
            <a:spAutoFit/>
          </a:bodyPr>
          <a:lstStyle/>
          <a:p>
            <a:pPr algn="l">
              <a:defRPr sz="1100" b="0">
                <a:solidFill>
                  <a:srgbClr val="E04F4F"/>
                </a:solidFill>
                <a:latin typeface="Calibri"/>
              </a:defRPr>
            </a:pPr>
            <a:r>
              <a:t>✗ More parameters to calibrate</a:t>
            </a:r>
          </a:p>
        </p:txBody>
      </p:sp>
      <p:sp>
        <p:nvSpPr>
          <p:cNvPr id="23" name="TextBox 22"/>
          <p:cNvSpPr txBox="1"/>
          <p:nvPr/>
        </p:nvSpPr>
        <p:spPr>
          <a:xfrm>
            <a:off x="457200" y="4206240"/>
            <a:ext cx="3840480" cy="274320"/>
          </a:xfrm>
          <a:prstGeom prst="rect">
            <a:avLst/>
          </a:prstGeom>
          <a:noFill/>
        </p:spPr>
        <p:txBody>
          <a:bodyPr wrap="square">
            <a:spAutoFit/>
          </a:bodyPr>
          <a:lstStyle/>
          <a:p>
            <a:pPr algn="l">
              <a:defRPr sz="1400" b="1">
                <a:solidFill>
                  <a:srgbClr val="5CB85C"/>
                </a:solidFill>
                <a:latin typeface="Calibri"/>
              </a:defRPr>
            </a:pPr>
            <a:r>
              <a:t>Where They Agree</a:t>
            </a:r>
          </a:p>
        </p:txBody>
      </p:sp>
      <p:sp>
        <p:nvSpPr>
          <p:cNvPr id="24" name="TextBox 23"/>
          <p:cNvSpPr txBox="1"/>
          <p:nvPr/>
        </p:nvSpPr>
        <p:spPr>
          <a:xfrm>
            <a:off x="457200" y="4526280"/>
            <a:ext cx="3840480" cy="914400"/>
          </a:xfrm>
          <a:prstGeom prst="rect">
            <a:avLst/>
          </a:prstGeom>
          <a:noFill/>
        </p:spPr>
        <p:txBody>
          <a:bodyPr wrap="square">
            <a:spAutoFit/>
          </a:bodyPr>
          <a:lstStyle/>
          <a:p>
            <a:pPr>
              <a:spcAft>
                <a:spcPts val="800"/>
              </a:spcAft>
              <a:defRPr sz="1100">
                <a:solidFill>
                  <a:srgbClr val="CCCCCC"/>
                </a:solidFill>
                <a:latin typeface="Calibri"/>
              </a:defRPr>
            </a:pPr>
            <a:r>
              <a:t>LTV &gt; 75%: PIK premium is large, positive, and unambiguous (+140 to +290bp)</a:t>
            </a:r>
          </a:p>
          <a:p>
            <a:pPr>
              <a:spcAft>
                <a:spcPts val="800"/>
              </a:spcAft>
              <a:defRPr sz="1100">
                <a:solidFill>
                  <a:srgbClr val="CCCCCC"/>
                </a:solidFill>
                <a:latin typeface="Calibri"/>
              </a:defRPr>
            </a:pPr>
            <a:r>
              <a:t>Toggle ≥ PIK for stressed credits</a:t>
            </a:r>
          </a:p>
          <a:p>
            <a:pPr>
              <a:spcAft>
                <a:spcPts val="800"/>
              </a:spcAft>
              <a:defRPr sz="1100">
                <a:solidFill>
                  <a:srgbClr val="CCCCCC"/>
                </a:solidFill>
                <a:latin typeface="Calibri"/>
              </a:defRPr>
            </a:pPr>
            <a:r>
              <a:t>Non-linearity in premium vs credit quality</a:t>
            </a:r>
          </a:p>
        </p:txBody>
      </p:sp>
      <p:sp>
        <p:nvSpPr>
          <p:cNvPr id="25" name="TextBox 24"/>
          <p:cNvSpPr txBox="1"/>
          <p:nvPr/>
        </p:nvSpPr>
        <p:spPr>
          <a:xfrm>
            <a:off x="4754880" y="4206240"/>
            <a:ext cx="4114800" cy="274320"/>
          </a:xfrm>
          <a:prstGeom prst="rect">
            <a:avLst/>
          </a:prstGeom>
          <a:noFill/>
        </p:spPr>
        <p:txBody>
          <a:bodyPr wrap="square">
            <a:spAutoFit/>
          </a:bodyPr>
          <a:lstStyle/>
          <a:p>
            <a:pPr algn="l">
              <a:defRPr sz="1400" b="1">
                <a:solidFill>
                  <a:srgbClr val="E04F4F"/>
                </a:solidFill>
                <a:latin typeface="Calibri"/>
              </a:defRPr>
            </a:pPr>
            <a:r>
              <a:t>Where They Disagree</a:t>
            </a:r>
          </a:p>
        </p:txBody>
      </p:sp>
      <p:sp>
        <p:nvSpPr>
          <p:cNvPr id="26" name="TextBox 25"/>
          <p:cNvSpPr txBox="1"/>
          <p:nvPr/>
        </p:nvSpPr>
        <p:spPr>
          <a:xfrm>
            <a:off x="4754880" y="4526280"/>
            <a:ext cx="4114800" cy="914400"/>
          </a:xfrm>
          <a:prstGeom prst="rect">
            <a:avLst/>
          </a:prstGeom>
          <a:noFill/>
        </p:spPr>
        <p:txBody>
          <a:bodyPr wrap="square">
            <a:spAutoFit/>
          </a:bodyPr>
          <a:lstStyle/>
          <a:p>
            <a:pPr>
              <a:spcAft>
                <a:spcPts val="800"/>
              </a:spcAft>
              <a:defRPr sz="1100">
                <a:solidFill>
                  <a:srgbClr val="CCCCCC"/>
                </a:solidFill>
                <a:latin typeface="Calibri"/>
              </a:defRPr>
            </a:pPr>
            <a:r>
              <a:t>LTV &lt; 65%: HR says +40–60bp, MC says −59 to −22bp (sign reversal!)</a:t>
            </a:r>
          </a:p>
          <a:p>
            <a:pPr>
              <a:spcAft>
                <a:spcPts val="800"/>
              </a:spcAft>
              <a:defRPr sz="1100">
                <a:solidFill>
                  <a:srgbClr val="CCCCCC"/>
                </a:solidFill>
                <a:latin typeface="Calibri"/>
              </a:defRPr>
            </a:pPr>
            <a:r>
              <a:t>Root cause: HR uses risk-neutral λ (7× historical), MC uses real-world PDs</a:t>
            </a:r>
          </a:p>
          <a:p>
            <a:pPr>
              <a:spcAft>
                <a:spcPts val="800"/>
              </a:spcAft>
              <a:defRPr sz="1100">
                <a:solidFill>
                  <a:srgbClr val="CCCCCC"/>
                </a:solidFill>
                <a:latin typeface="Calibri"/>
              </a:defRPr>
            </a:pPr>
            <a:r>
              <a:t>Toggle vs PIK ordering at low LTV</a:t>
            </a:r>
          </a:p>
        </p:txBody>
      </p:sp>
      <p:sp>
        <p:nvSpPr>
          <p:cNvPr id="27" name="Rounded Rectangle 26"/>
          <p:cNvSpPr/>
          <p:nvPr/>
        </p:nvSpPr>
        <p:spPr>
          <a:xfrm>
            <a:off x="457200" y="5669280"/>
            <a:ext cx="8229600" cy="640080"/>
          </a:xfrm>
          <a:prstGeom prst="round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01600" bIns="101600"/>
          <a:lstStyle/>
          <a:p>
            <a:pPr algn="ctr">
              <a:defRPr sz="1200" b="1">
                <a:solidFill>
                  <a:srgbClr val="FFFFFF"/>
                </a:solidFill>
                <a:latin typeface="Calibri"/>
              </a:defRPr>
            </a:pPr>
            <a:r>
              <a:t>Reconciliation: both models are ‘right’ under their calibration assumptions. The HR model answers ‘what if defaults match market-implied rates?’ The MC model answers ‘what if defaults match historical experience?’ The truth lies in between, but for LTV &gt; 75% it doesn’t matter — both say PIK costs a 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