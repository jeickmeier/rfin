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PIK Coupon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9B0"/>
                </a:solidFill>
                <a:latin typeface="Calibri"/>
              </a:defRPr>
            </a:pPr>
            <a:r>
              <a:t>How Much Extra Spread Is Enough?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Modelling breakeven Z-spreads for Cash, PIK, and Toggle coupons</a:t>
            </a:r>
            <a:br/>
            <a:r>
              <a:t>across issuer credit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1188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6B"/>
                </a:solidFill>
                <a:latin typeface="Calibri"/>
              </a:defRPr>
            </a:pPr>
            <a:r>
              <a:t>At what spread should a PIK bond trade versus a</a:t>
            </a:r>
            <a:br/>
            <a:r>
              <a:t>cash-pay bond for the same issuer?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840480" cy="411480"/>
          </a:xfrm>
          <a:prstGeom prst="round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Naive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"PIK just defers coupons — add 50bp"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"The coupon rate is the same either way"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"Compounding offsets the deferral"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011680"/>
            <a:ext cx="384048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the Models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For strong credits (BB+): PIK premium is small (±60bp) and sign is model-dependent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For stressed credits (CCC): PIK premium &gt; +260bp, robust across models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The non-linearity means flat spread bumps are dangerous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846320"/>
            <a:ext cx="6400800" cy="64008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answer depends on credit quality in a way that is impossible to guess without a model. The premium is non-linear and, for strong credits, depends on calibration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Hazard Rate Model: PIK Always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0"/>
                </a:solidFill>
                <a:latin typeface="Calibri"/>
              </a:defRPr>
            </a:pPr>
            <a:r>
              <a:t>Risk-neutral pricing with hazard rates from market spreads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3/6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40080"/>
                <a:gridCol w="914400"/>
                <a:gridCol w="91440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λ (bp)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Price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Price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ΔZ (bp)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BB+ (Solid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113.35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111.46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BB− (Mid HY)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334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107.56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104.88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+60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 (Weak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99.76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B− (Stressed)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911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90.33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85.40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+137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CCC (Deeply Stressed)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76.13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69.59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6B"/>
                </a:solidFill>
                <a:latin typeface="Calibri"/>
              </a:defRPr>
            </a:pPr>
            <a:r>
              <a:t>The Calibration 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325880"/>
          <a:ext cx="29260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82296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HR 5Y PD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Hist 5Y PD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6.9×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25.6%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11.8%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2.2×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1.3×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Under risk-neutral hazard rates, PIK always trades wider: +40bp (BB+) to +224bp (CCC). The concentrated maturity exposure penalises PIK at every credit level</a:t>
            </a:r>
          </a:p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But market spreads embed a risk premium above expected losses. For BB+ the spread implies 7× the historical default rate — the PIK penalty may be overstated for strong credits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7315200" cy="59436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Is the PIK penalty real, or is it driven by overstated default risk? The structural model — which uses historical PDs — tests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Structural Model: The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0"/>
                </a:solidFill>
                <a:latin typeface="Calibri"/>
              </a:defRPr>
            </a:pPr>
            <a:r>
              <a:t>Merton MC with endogenous hazard + dynamic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λ(L) = λ₀ × (L / L₀)²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0"/>
                </a:solidFill>
                <a:latin typeface="Calibri"/>
              </a:defRPr>
            </a:pPr>
            <a:r>
              <a:t>PIK raises leverage → hazard rate rises non-linearly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R(N) = max(floor,  R₀ × N₀ /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0"/>
                </a:solidFill>
                <a:latin typeface="Calibri"/>
              </a:defRPr>
            </a:pPr>
            <a:r>
              <a:t>PIK grows debt claim → recovery per dollar diluted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005840"/>
            <a:ext cx="1371600" cy="59436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PIK Accrual</a:t>
            </a:r>
            <a:br/>
            <a:r>
              <a:t>↓ Higher Notional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005840"/>
            <a:ext cx="1371600" cy="5943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Higher Leverage</a:t>
            </a:r>
            <a:br/>
            <a:r>
              <a:t>↓ Higher 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1371600" cy="5943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Lower Recovery</a:t>
            </a:r>
            <a:br/>
            <a:r>
              <a:t>per dollar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828800"/>
            <a:ext cx="1371600" cy="5943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More Defaults</a:t>
            </a:r>
            <a:br/>
            <a:r>
              <a:t>Before Maturity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6B"/>
                </a:solidFill>
                <a:latin typeface="Calibri"/>
              </a:defRPr>
            </a:pPr>
            <a:r>
              <a:t>MC Breakeven Z-Spreads (25,000 paths, barriers from historical PDs)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788920"/>
          <a:ext cx="72237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005840"/>
                <a:gridCol w="109728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PIK−Cash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Tog−Cash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BB+ (Solid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−39bp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22bp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BB− (Mid HY)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88bp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130bp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−22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+20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 (Weak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292bp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329bp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346bp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B− (Stressed)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710bp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851bp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862bp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+141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+151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CCC (Deeply Stressed)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1,497bp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1,759bp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1,763bp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846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BB+/BB−: MC shows PIK tighter (−59/−22bp) — under historical PDs, PIK compounding survives on ~98% of paths</a:t>
            </a:r>
          </a:p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B− to CCC: PIK premium +141 to +262bp — the feedback loop dominates and both models agree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760720"/>
            <a:ext cx="7315200" cy="50292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 weak credits, the feedback loop is unambiguous. For strong credits, the sign depends on whether you calibrate to market or historical defaults.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PIK Premium Across Credit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0"/>
                </a:solidFill>
                <a:latin typeface="Calibri"/>
              </a:defRPr>
            </a:pPr>
            <a:r>
              <a:t>The hockey-stick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5/6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3657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Mkt Spread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Z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Z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−55bp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−65bp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31bp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−24bp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−54bp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87bp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56bp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−31bp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168bp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166bp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400bp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292bp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329bp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+37bp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552bp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659bp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+107bp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850bp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1,119bp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1,335bp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+216bp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1,200bp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1,702bp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1,990bp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+287bp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63440" y="100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6B"/>
                </a:solidFill>
                <a:latin typeface="Calibri"/>
              </a:defRPr>
            </a:pPr>
            <a:r>
              <a:t>PIK Z-Spread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50bp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7258" y="1351280"/>
            <a:ext cx="269222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58" y="13131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099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100bp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2819" y="1735328"/>
            <a:ext cx="223661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5619" y="16972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93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200bp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082" y="2119376"/>
            <a:ext cx="128398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0882" y="20812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780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300bp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8197" y="2503424"/>
            <a:ext cx="8283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997" y="24653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62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400bp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887472"/>
            <a:ext cx="153249" cy="15240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0529" y="28493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8D3F"/>
                </a:solidFill>
                <a:latin typeface="Calibri"/>
              </a:defRPr>
            </a:pPr>
            <a:r>
              <a:t>+37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46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600bp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71520"/>
            <a:ext cx="443181" cy="152400"/>
          </a:xfrm>
          <a:prstGeom prst="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461" y="32334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4F4F"/>
                </a:solidFill>
                <a:latin typeface="Calibri"/>
              </a:defRPr>
            </a:pPr>
            <a:r>
              <a:t>+107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301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850bp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655568"/>
            <a:ext cx="894646" cy="152400"/>
          </a:xfrm>
          <a:prstGeom prst="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1926" y="36174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4F4F"/>
                </a:solidFill>
                <a:latin typeface="Calibri"/>
              </a:defRPr>
            </a:pPr>
            <a:r>
              <a:t>+216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0142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1200bp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039616"/>
            <a:ext cx="1188720" cy="152400"/>
          </a:xfrm>
          <a:prstGeom prst="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6000" y="40015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4F4F"/>
                </a:solidFill>
                <a:latin typeface="Calibri"/>
              </a:defRPr>
            </a:pPr>
            <a:r>
              <a:t>+287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325880"/>
            <a:ext cx="25400" cy="3108960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" y="4434840"/>
            <a:ext cx="2560320" cy="365760"/>
          </a:xfrm>
          <a:prstGeom prst="round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 IMPACT ZONE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3D"/>
                </a:solidFill>
                <a:latin typeface="Calibri"/>
              </a:defRPr>
            </a:pPr>
            <a:r>
              <a:t>Mkt spread &lt; 300bp</a:t>
            </a:r>
            <a:br/>
            <a:r>
              <a:t>Premium small, sign model-dep.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4434840"/>
            <a:ext cx="2560320" cy="36576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CROSSOVER ZONE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3D"/>
                </a:solidFill>
                <a:latin typeface="Calibri"/>
              </a:defRPr>
            </a:pPr>
            <a:r>
              <a:t>300–500bp market spread</a:t>
            </a:r>
            <a:br/>
            <a:r>
              <a:t>PIK premium 0–75bp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434840"/>
            <a:ext cx="2560320" cy="3657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STRUCTURAL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3D"/>
                </a:solidFill>
                <a:latin typeface="Calibri"/>
              </a:defRPr>
            </a:pPr>
            <a:r>
              <a:t>Mkt spread &gt; 500bp</a:t>
            </a:r>
            <a:br/>
            <a:r>
              <a:t>PIK premium 75–290+ bp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274320" y="5440680"/>
          <a:ext cx="53035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914400"/>
                <a:gridCol w="914400"/>
                <a:gridCol w="91440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BB−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B−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HR ΔZ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MC ΔZ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−59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−22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+37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+141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+262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27432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Calibri"/>
              </a:defRPr>
            </a:pPr>
            <a:r>
              <a:t>ΔZ = PIK Z-spread minus Cash Z-spread (bp)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5440680"/>
            <a:ext cx="2926080" cy="77724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Toggle ≈ full PIK or worse — borrowers PIK on the worst paths (adverse selection)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63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PIK premium is non-linear and credit-quality-dependent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For strong credits (BB+/BB−), the premium is small (±60bp) and model-dependent. For stressed credits (CCC), it exceeds +260bp and is robust across models.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14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toggle option does not protect the investor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Borrowers PIK when credit deteriorates — adverse selection. Toggle Z-spreads can exceed full PIK because the spiral concentrates on the worst paths.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66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Above ~400bp market spread, structural modelling is essential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66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 the structural risk zone, the feedback loop dominates pricing regardless of calibration. A flat spread bump approach will materially misprice PIK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Decision Guide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4617720"/>
          <a:ext cx="8321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Impact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Crossover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Structural Risk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PIK Z-spread premium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±60bp (model-dep.)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 to +75bp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+100 to +290bp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Model needed?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Either model adequate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Structural recommended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Structural required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Toggle vs full PIK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Minimal difference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Toggle may exceed PIK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Toggle ≈ PIK or worse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Key risk factor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Calibration assumption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Leverage trajectory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Feedback loop intensity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