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PIK Coupon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4EC9B0"/>
                </a:solidFill>
                <a:latin typeface="Calibri"/>
              </a:defRPr>
            </a:pPr>
            <a:r>
              <a:t>How Much Extra Spread Is Enough?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Modelling breakeven Z-spreads for Cash, PIK, and Toggle coupons</a:t>
            </a:r>
            <a:br/>
            <a:r>
              <a:t>across issuer credit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611880"/>
            <a:ext cx="2743200" cy="381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2/18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At what spread should a PIK bond trade versus a</a:t>
            </a:r>
            <a:br/>
            <a:r>
              <a:t>cash-pay bond for the same issuer?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3840480" cy="411480"/>
          </a:xfrm>
          <a:prstGeom prst="roundRect">
            <a:avLst/>
          </a:prstGeom>
          <a:solidFill>
            <a:srgbClr val="555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Naive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"PIK just defers coupons — add 50bp"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"The coupon rate is the same either way"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"Compounding offsets the deferral"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2011680"/>
            <a:ext cx="3840480" cy="411480"/>
          </a:xfrm>
          <a:prstGeom prst="round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What the Models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6032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For strong credits (BB+): PIK can trade tighter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For stressed credits (CCC): PIK premium &gt; +260bp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Below ~300bp market spread: PIK actually benefits the investor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846320"/>
            <a:ext cx="6400800" cy="64008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The answer depends on credit quality in a way that is impossible to guess without a model. The premium can even be negative.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Coupon Structures: Cash, PIK, and Toggle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What the investor receives and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3/18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CB85C"/>
                </a:solidFill>
                <a:latin typeface="Calibri"/>
              </a:defRPr>
            </a:pPr>
            <a:r>
              <a:t>Cash-Pay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290320"/>
            <a:ext cx="5943600" cy="50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1463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4.25    4.25    4.25    4.25    4.25    4.25    4.25    4.25    4.25   104.25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69164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3D"/>
                </a:solidFill>
                <a:latin typeface="Calibri"/>
              </a:defRPr>
            </a:pPr>
            <a:r>
              <a:t>Regular coupon payments + par at maturity. Cash flows spread across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4F4F"/>
                </a:solidFill>
                <a:latin typeface="Calibri"/>
              </a:defRPr>
            </a:pPr>
            <a:r>
              <a:t>Full PIK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387600"/>
            <a:ext cx="5943600" cy="508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25603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  0         0         0         0         0         0         0         0         0       151.76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78892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3D"/>
                </a:solidFill>
                <a:latin typeface="Calibri"/>
              </a:defRPr>
            </a:pPr>
            <a:r>
              <a:t>No coupons. Entire value at maturity: N × (1 + c/2)¹⁰ = 151.76. Concentrated exposure.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8D3F"/>
                </a:solidFill>
                <a:latin typeface="Calibri"/>
              </a:defRPr>
            </a:pPr>
            <a:r>
              <a:t>PIK Toggle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3484880"/>
            <a:ext cx="5943600" cy="50800"/>
          </a:xfrm>
          <a:prstGeom prst="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370332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</a:tblGrid>
              <a:tr h="2743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PIK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PIK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Cashflow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4.62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4.62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4.62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113.30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555570"/>
                          </a:solidFill>
                          <a:latin typeface="Calibri"/>
                        </a:defRPr>
                      </a:pPr>
                      <a:r>
                        <a:t>Notional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555570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555570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555570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555570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104.25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108.68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108.68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108.68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108.68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108.68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7200" y="4846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3D"/>
                </a:solidFill>
                <a:latin typeface="Calibri"/>
              </a:defRPr>
            </a:pPr>
            <a:r>
              <a:t>PIK periods (5–6): notional compounds 100 → 104.25 → 108.68.  When cash resumes (period 7+), coupons are 4.62 not 4.25 — computed on the inflated notional.  At maturity the investor receives 108.68 + 4.62 = 113.30.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486400"/>
            <a:ext cx="7315200" cy="64008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PIK periods permanently ratchet the notional upward. Later cash coupons are larger, but so is the principal at risk in default — feeding the leverage spiral.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Hazard Rate: Measuring Default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The simplest credit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4/18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D2D3D"/>
                </a:solidFill>
                <a:latin typeface="Calibri"/>
              </a:defRPr>
            </a:pPr>
            <a:r>
              <a:t>The hazard rate λ is the instantaneous rate of default</a:t>
            </a:r>
          </a:p>
          <a:p>
            <a:pPr>
              <a:spcAft>
                <a:spcPts val="800"/>
              </a:spcAft>
              <a:defRPr sz="1500">
                <a:solidFill>
                  <a:srgbClr val="2D2D3D"/>
                </a:solidFill>
                <a:latin typeface="Calibri"/>
              </a:defRPr>
            </a:pPr>
            <a:r>
              <a:t>Think of it as: 'each year, there is a λ chance of default'</a:t>
            </a:r>
          </a:p>
          <a:p>
            <a:pPr>
              <a:spcAft>
                <a:spcPts val="800"/>
              </a:spcAft>
              <a:defRPr sz="1500">
                <a:solidFill>
                  <a:srgbClr val="2D2D3D"/>
                </a:solidFill>
                <a:latin typeface="Calibri"/>
              </a:defRPr>
            </a:pPr>
            <a:r>
              <a:t>Survival probability decays over time: S(t) = e^(−λ × 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6B"/>
                </a:solidFill>
                <a:latin typeface="Calibri"/>
              </a:defRPr>
            </a:pPr>
            <a:r>
              <a:t>Survival Probability S(t)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08960"/>
          <a:ext cx="50292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05840"/>
                <a:gridCol w="1005840"/>
                <a:gridCol w="1005840"/>
                <a:gridCol w="100584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Hazard Rate λ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143bp (BB+)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98.6%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591bp (B)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94.3%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83.8%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74.4%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66.2%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1468bp (CCC)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0" y="1371600"/>
            <a:ext cx="3017520" cy="228600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 CCC issuer at λ=1468bp has only a 48% chance of surviving to year 5.</a:t>
            </a:r>
            <a:br/>
            <a:br/>
            <a:r>
              <a:t>Every cashflow scheduled beyond that point has ≤48% probability of being received.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3D"/>
                </a:solidFill>
                <a:latin typeface="Calibri"/>
              </a:defRPr>
            </a:pPr>
            <a:r>
              <a:t>The hazard rate is calibrated from the issuer's observed market spread. Higher λ → faster survival decay → lower present value of future cashflows.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Pricing Bonds with Hazard 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Survival-weighted present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5/18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PV  =  Σ  Cashflow(t)  ×  S(t)  ×  D(t)    +    Recovery Leg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70"/>
                </a:solidFill>
                <a:latin typeface="Calibri"/>
              </a:defRPr>
            </a:pPr>
            <a:r>
              <a:t>where S(t) = survival probability, D(t) = risk-free discount factor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Each future cashflow is weighted by the probability it gets paid (survival) and time value (discount)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Later cashflows are penalised more: both S(t) and D(t) are smaller at longer horizons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recovery leg adds value for the default scenario: R × par × default_prob(t₁, t₂) × D(t)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40480"/>
            <a:ext cx="3840480" cy="365760"/>
          </a:xfrm>
          <a:prstGeom prst="round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Cash-Pay Bond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9768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10 semi-annual cashflows of 4.25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Plus 100 at maturity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Survival exposure: spread across 10 dates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Early coupons have high S(t) ≈ 1.0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3840480"/>
            <a:ext cx="3840480" cy="36576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Full PIK Bond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29768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Zero interim cashflows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Single payment of 151.76 at maturity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Survival exposure: 100% at year 5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Entirely dependent on S(5Y)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5943600"/>
            <a:ext cx="6400800" cy="45720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PIK concentrates all value at the worst survival point with the largest notional.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PIK in the Hazard Rate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What the simple model predicts — but is it right?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6/18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280160"/>
          <a:ext cx="74980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371600"/>
                <a:gridCol w="1371600"/>
                <a:gridCol w="13716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λ (bp)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Cash 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Δ 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113.35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110.89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334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107.56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103.76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−3.80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99.76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94.44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911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90.33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83.45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−6.88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76.13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67.34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−8.79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Under fixed hazard rates, the model predicts PIK always trades below cash — concentrated maturity exposure penalises PIK at every credit level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predicted gap widens with credit risk: from −2.5 pts (BB+) to −8.8 pts (CCC)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But this conclusion turns out to be WRONG for strong credits. A structural model (next section) shows PIK actually trades ABOVE cash for BB+ and BB− issuers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5486400"/>
            <a:ext cx="6400800" cy="64008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This is the simple model’s answer — not the final answer. The structural model will reverse the sign for strong credits, where rare defaults make PIK compounding a net benefit.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What the Simple Model Misses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Hazard-rate vs structural: the price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7/18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280160"/>
          <a:ext cx="557784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097280"/>
                <a:gridCol w="109728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HR ΔPrice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MC ΔPrice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5.4 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−3.80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+1.05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4.9 pts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−1.61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3.7 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−6.88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−4.89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2.0 pts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−8.79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−6.17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2.6 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HR = hazard rate model (fixed λ).  MC = Merton Monte Carlo (structural model with feedback).</a:t>
            </a:r>
            <a:br/>
            <a:r>
              <a:t>ΔPrice = PIK price minus Cash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For BB+: the HR model says PIK trades 2.5 pts cheaper. The MC model says PIK trades 3 pts ABOVE cash. Sign reversal!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For strong credits, defaults are rare enough that PIK compounding is a net benefit — a fact that the simple model entirely misses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For weak credits, both models agree PIK is cheaper, but the MC model captures the structural feedback that amplifies the penalty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5669280"/>
            <a:ext cx="6400800" cy="54864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 flat hazard-rate model gets the SIGN wrong for investment-grade PIK, and understates the dynamics for stressed credits.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Merton Model: Default as a Balance Sheet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From fixed hazard rates to structural 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8/18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Firm has assets that fluctuate randomly (geometric Brownian motion)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Firm has a debt barrier — if assets fall below it, the firm defaults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barrier is calibrated from historical default probabilities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Higher asset vol → more chance of hitting the barrier → higher default probability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188720"/>
            <a:ext cx="2743200" cy="32004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Key Inputs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0" y="1600200"/>
          <a:ext cx="27432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Asset value (V)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Market value of firm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Asset vol (σ)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How volatile is V?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Debt barrier 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Default trigger 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Annual PD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Calibrates barrier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566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6B"/>
                </a:solidFill>
                <a:latin typeface="Calibri"/>
              </a:defRPr>
            </a:pPr>
            <a:r>
              <a:t>Our Five Test Issuers: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931920"/>
          <a:ext cx="77724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0342"/>
                <a:gridCol w="1110342"/>
                <a:gridCol w="1110342"/>
                <a:gridCol w="1110342"/>
                <a:gridCol w="1110342"/>
                <a:gridCol w="1110342"/>
                <a:gridCol w="1110348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Assets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Vol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Barrier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Ann PD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PD(5Y)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165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70.0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1.00%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1.66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4.9%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66.4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5.50%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24.0%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39.4%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Barrier is calibrated via from_target_pd() to match each issuer’s historical annual default rate.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Endogenous Hazard: PIK Raises Default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Leverage-dependent hazard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9/18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3E6B"/>
                </a:solidFill>
                <a:latin typeface="Calibri"/>
              </a:defRPr>
            </a:pPr>
            <a:r>
              <a:t>λ(L) = λ₀ × (L / L₀)²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70"/>
                </a:solidFill>
                <a:latin typeface="Calibri"/>
              </a:defRPr>
            </a:pPr>
            <a:r>
              <a:t>Hazard rate at current leverage = base hazard × (current leverage / base leverage)²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PIK accrual grows the debt (notional increases)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Higher debt → higher leverage ratio L = B/V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Higher leverage → higher hazard rate λ(L)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exponent (²) makes it non-linear: doubling leverage quadruples hazard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0" y="2194560"/>
          <a:ext cx="3657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219200"/>
                <a:gridCol w="1219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Leverage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Hazard Rate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Base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0.40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5.2%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−43%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0.53 (base)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11.6%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+28%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0.80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20.7%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+127%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Example: B− issuer (barrier 66.4, assets 125)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303520"/>
            <a:ext cx="7315200" cy="54864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When PIK accrual pushes leverage from 0.53 to 0.90, the hazard rate nearly triples. This is the core mechanism that makes PIK dangerous for stressed credits.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Dynamic Recovery: PIK Dilutes Recovery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More debt competing for the same assets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10/18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3E6B"/>
                </a:solidFill>
                <a:latin typeface="Calibri"/>
              </a:defRPr>
            </a:pPr>
            <a:r>
              <a:t>R(N) = max( floor,  R₀ × N₀ / N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70"/>
                </a:solidFill>
                <a:latin typeface="Calibri"/>
              </a:defRPr>
            </a:pPr>
            <a:r>
              <a:t>Recovery at current notional = base recovery × (base notional / current notional), floored at 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In default, creditors split the remaining assets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PIK grows the total debt claim (notional rises)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Same assets ÷ more debt = lower recovery per dollar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Floor at 10% prevents recovery from reaching zero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0" y="2194560"/>
          <a:ext cx="36576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219200"/>
                <a:gridCol w="12192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Notional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Recovery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Base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100 (base)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112.5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26.7%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−11%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137.5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21.8%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−27%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151.8 (full PIK)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0" y="4114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Example: B− issuer (base recovery 30%)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029200"/>
            <a:ext cx="731520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Double penalty: PIK simultaneously raises the probability of default (via endogenous hazard) AND lowers the amount recovered in default (via diluted recovery).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Feedback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Why PIK risk is self-reinforcing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11/18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1463040" cy="64008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PIK Accrual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011680"/>
            <a:ext cx="1463040" cy="64008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Higher</a:t>
            </a:r>
            <a:br/>
            <a:r>
              <a:t>Notional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474720"/>
            <a:ext cx="146304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Higher</a:t>
            </a:r>
            <a:br/>
            <a:r>
              <a:t>Leverage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4389120"/>
            <a:ext cx="146304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Higher</a:t>
            </a:r>
            <a:br/>
            <a:r>
              <a:t>Hazard 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3474720"/>
            <a:ext cx="146304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More Defaults</a:t>
            </a:r>
            <a:br/>
            <a:r>
              <a:t>Before Maturity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011680"/>
            <a:ext cx="146304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Lower</a:t>
            </a:r>
            <a:br/>
            <a:r>
              <a:t>Recovery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743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486400"/>
            <a:ext cx="8229600" cy="64008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This is why the PIK premium is non-linear: it is a self-reinforcing spiral. Each cycle amplifies the next. For stressed credits, the spiral dominates pricing.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Monte Carlo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Bringing the feedback loop to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12/18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3D"/>
                </a:solidFill>
                <a:latin typeface="Calibri"/>
              </a:defRPr>
            </a:pPr>
            <a:r>
              <a:t>We simulate 25,000 paths of firm asset values over 5 years.</a:t>
            </a:r>
            <a:br/>
            <a:r>
              <a:t>At each time step, the model updates hazard and recovery based on current leverage.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01168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86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Simulate asset paths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86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Assets follow geometric Brownian motion with calibrated volatility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65176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2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Check for default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626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First-passage: has the asset path hit or crossed the debt barrier?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29184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66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Update PIK notional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266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If PIK coupon date: accrete the notional by the coupon amount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931919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651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Recalculate hazard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90651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λ(L) = λ₀ × (L/L₀)²  — leverage has changed due to PIK accrual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57200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546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Recalculate 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546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R(N) = R₀ × N₀/N — more debt dilutes recovery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521208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186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Discount and average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186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PV across all paths → price, Z-spread, expected loss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6B"/>
                </a:solidFill>
                <a:latin typeface="Calibri"/>
              </a:defRPr>
            </a:pPr>
            <a:r>
              <a:t>Steps 3–5 create the feedback loop: PIK → higher notional → recalculated hazard and recovery → different default/survival outcomes.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Breakeven Z-Spreads: 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Cash-equivalent Z-spreads by structure and credit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13/18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74980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05840"/>
                <a:gridCol w="1005840"/>
                <a:gridCol w="1005840"/>
                <a:gridCol w="1097280"/>
                <a:gridCol w="109728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Toggle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PIK−Cash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Tog−Cash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22bp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88bp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292bp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329bp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346bp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710bp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851bp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862bp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+141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+151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1,497bp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1,759bp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1,763bp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Z-spreads are cash-equivalent: the Z-spread on a standard cash-pay bond that reproduces each structure’s MC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BB+ to BB−: PIK Z-spread is BELOW cash — compounding benefit exceeds survival penalty when defaults are rare. The simple model (slide 6) predicted PIK always trades below cash — the structural model reverses this for strong credits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Crossover near B: the feedback loop starts to overcome the compounding benefit (ΔZ = +37bp)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B− to CCC: PIK premium of +141bp to +262bp. Here both models agree PIK is cheaper, but the structural model captures the self-reinforcing spiral that the simple model missed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5943600"/>
            <a:ext cx="6400800" cy="45720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The PIK premium crosses zero near 300bp market spread. Below that, PIK actually benefits investors.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PIK Premium vs Credit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The hockey-stick relationship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14/18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4389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Mkt Spread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Cash Z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Z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Premium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−65bp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31bp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−24bp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−54bp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87bp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56bp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−31bp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168bp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166bp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400bp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292bp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329bp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+37bp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600bp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552bp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659bp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+107bp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1,119bp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1,335bp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+216bp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1,200bp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1,702bp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1,990bp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+287bp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60720" y="1188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6B"/>
                </a:solidFill>
                <a:latin typeface="Calibri"/>
              </a:defRPr>
            </a:pPr>
            <a:r>
              <a:t>PIK Z-Spread Premium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554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50bp</a:t>
            </a:r>
          </a:p>
        </p:txBody>
      </p:sp>
      <p:sp>
        <p:nvSpPr>
          <p:cNvPr id="9" name="Rectangle 8"/>
          <p:cNvSpPr/>
          <p:nvPr/>
        </p:nvSpPr>
        <p:spPr>
          <a:xfrm>
            <a:off x="6821679" y="1579880"/>
            <a:ext cx="310641" cy="177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3039" y="15417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CB85C"/>
                </a:solidFill>
                <a:latin typeface="Calibri"/>
              </a:defRPr>
            </a:pPr>
            <a:r>
              <a:t>-65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0116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100bp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74249" y="2037080"/>
            <a:ext cx="258071" cy="177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5609" y="19989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CB85C"/>
                </a:solidFill>
                <a:latin typeface="Calibri"/>
              </a:defRPr>
            </a:pPr>
            <a:r>
              <a:t>-54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4688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200bp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84169" y="2494280"/>
            <a:ext cx="148151" cy="177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5529" y="24561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CB85C"/>
                </a:solidFill>
                <a:latin typeface="Calibri"/>
              </a:defRPr>
            </a:pPr>
            <a:r>
              <a:t>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926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300bp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22762" y="2951480"/>
            <a:ext cx="9558" cy="177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74122" y="29133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CB85C"/>
                </a:solidFill>
                <a:latin typeface="Calibri"/>
              </a:defRPr>
            </a:pPr>
            <a:r>
              <a:t>-2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33832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400bp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3408680"/>
            <a:ext cx="176826" cy="177800"/>
          </a:xfrm>
          <a:prstGeom prst="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59946" y="33705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8D3F"/>
                </a:solidFill>
                <a:latin typeface="Calibri"/>
              </a:defRPr>
            </a:pPr>
            <a:r>
              <a:t>+37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3840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600bp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0" y="3865880"/>
            <a:ext cx="511363" cy="1778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4483" y="38277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04F4F"/>
                </a:solidFill>
                <a:latin typeface="Calibri"/>
              </a:defRPr>
            </a:pPr>
            <a:r>
              <a:t>+107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42976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850bp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4323080"/>
            <a:ext cx="1032284" cy="1778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5404" y="42849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04F4F"/>
                </a:solidFill>
                <a:latin typeface="Calibri"/>
              </a:defRPr>
            </a:pPr>
            <a:r>
              <a:t>+216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47548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1200bp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0" y="4780280"/>
            <a:ext cx="1371600" cy="1778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54720" y="47421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04F4F"/>
                </a:solidFill>
                <a:latin typeface="Calibri"/>
              </a:defRPr>
            </a:pPr>
            <a:r>
              <a:t>+287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1554480"/>
            <a:ext cx="25400" cy="3657600"/>
          </a:xfrm>
          <a:prstGeom prst="rect">
            <a:avLst/>
          </a:prstGeom>
          <a:solidFill>
            <a:srgbClr val="555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7200" y="5029200"/>
            <a:ext cx="2560320" cy="457200"/>
          </a:xfrm>
          <a:prstGeom prst="round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PIK BENEFITS INVESTOR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77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3D"/>
                </a:solidFill>
                <a:latin typeface="Calibri"/>
              </a:defRPr>
            </a:pPr>
            <a:r>
              <a:t>Market spread &lt; 300bp:</a:t>
            </a:r>
            <a:br/>
            <a:r>
              <a:t>PIK compounding dominates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0" y="5029200"/>
            <a:ext cx="2560320" cy="45720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CROSSOVER ZONE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577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3D"/>
                </a:solidFill>
                <a:latin typeface="Calibri"/>
              </a:defRPr>
            </a:pPr>
            <a:r>
              <a:t>300–500bp market spread:</a:t>
            </a:r>
            <a:br/>
            <a:r>
              <a:t>PIK premium 0–75bp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5029200"/>
            <a:ext cx="2560320" cy="45720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STRUCTURAL RISK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5577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3D"/>
                </a:solidFill>
                <a:latin typeface="Calibri"/>
              </a:defRPr>
            </a:pPr>
            <a:r>
              <a:t>Market spread &gt; 500bp:</a:t>
            </a:r>
            <a:br/>
            <a:r>
              <a:t>PIK premium 75–290+ bp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Toggle Is Not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B− issuer: comparing toggle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15/18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73152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1097280"/>
                <a:gridCol w="1097280"/>
                <a:gridCol w="822960"/>
                <a:gridCol w="13716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Z-Spread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E[Loss]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%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Term. Ntl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Cash-Pay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87.28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710bp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Full PIK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82.39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851bp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29.9%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151.6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Threshold (h &gt; 10%)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82.04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862bp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Stochastic (sigmoid)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82.23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856bp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30.0%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73%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132.9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Optimal (nested MC)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83.40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821bp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566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Threshold toggle Z-spread (862bp) exceeds full PIK (851bp) — adverse selection against the investor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borrower PIKs on 80% of coupons, concentrated on the worst paths — seeding the leverage spiral where it does the most damage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Even the optimal exercise model (821bp) carries a +111bp premium over cash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toggle premium (+151bp over cash) is comparable to the full PIK premium (+141bp)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5486400"/>
            <a:ext cx="640080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 toggle option does not protect the investor. It gives the borrower the ability to accelerate leverage precisely when it does the most damage.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Simple vs Structural: Why the Model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Hazard-rate model vs Merton MC across the credit spectrum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16/18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67512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HR 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HR PIK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MC 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MC PIK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HR ΔZ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MC ΔZ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113.35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110.89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116.48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119.46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107.56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103.76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112.12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113.17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−3.8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+1.1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99.76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94.44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103.87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102.26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90.33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83.45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87.28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82.39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−6.9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−4.9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76.13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67.34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63.60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57.43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−8.8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Δ = PIK price minus Cash price (in points). HR = hazard-rate model. MC = Merton Monte Carlo.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HR model always prices PIK below cash (negative Δ). It sees only the concentrated maturity exposure.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MC model prices PIK ABOVE cash for BB+/BB− (positive Δ). Rare defaults mean PIK compounding is a net benefit.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For stressed credits (B−, CCC), both models agree PIK is cheaper, but the gap narrows because MC includes the leverage spiral that the HR model misses.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sign reversal for strong credits is the key insight: a flat hazard model cannot capture this dynamic.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5669280"/>
            <a:ext cx="6400800" cy="54864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The structural model captures two things the hazard model cannot: (1) the compounding benefit when defaults are rare, and (2) the feedback spiral when defaults are likely.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When Does the PIK Premium Matter?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A practical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17/18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2560320" cy="457200"/>
          </a:xfrm>
          <a:prstGeom prst="round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PIK BENEFITS INVESTOR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3D"/>
                </a:solidFill>
                <a:latin typeface="Calibri"/>
              </a:defRPr>
            </a:pPr>
            <a:r>
              <a:t>BB+ to BB  |  Mkt spread &lt; 300bp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PIK Z-spread is BELOW cash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Compounding benefit dominates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Feedback loop is negligible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Price PIK at or inside cash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188720"/>
            <a:ext cx="2560320" cy="45720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CROSSOVER ZONE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3D"/>
                </a:solidFill>
                <a:latin typeface="Calibri"/>
              </a:defRPr>
            </a:pPr>
            <a:r>
              <a:t>B  |  Mkt spread 300–500bp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031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PIK premium 0–75bp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Simple models understate risk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Structural model adds value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Scrutinise leverage trajectory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88720"/>
            <a:ext cx="2560320" cy="45720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STRUCTURAL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3D"/>
                </a:solidFill>
                <a:latin typeface="Calibri"/>
              </a:defRPr>
            </a:pPr>
            <a:r>
              <a:t>B− to CCC  |  Mkt spread &gt; 500bp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031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PIK premium 100–290+ bp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Feedback loop dominates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Structural model is essential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Flat spread bump is dangerous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6B"/>
                </a:solidFill>
                <a:latin typeface="Calibri"/>
              </a:defRPr>
            </a:pPr>
            <a:r>
              <a:t>Practical Decision Guide: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4206240"/>
          <a:ext cx="83210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2103120"/>
                <a:gridCol w="21031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Benefits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Crossover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Structural Risk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PIK Z-spread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−60 to −20bp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 to +75bp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+100 to +290bp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Model needed?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No — PIK trades inside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Structural recommended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Structural required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Toggle vs full PIK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Minimal difference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Toggle may exceed PIK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Toggle ≈ PIK or worse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Key risk factor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Maturity extension risk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Leverage trajectory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Feedback loop intensity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18/18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37160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4620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PIK premium depends entirely on credit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916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For strong credits (BB+/BB−), PIK can actually trade tighter than cash — compounding benefits outweigh rare defaults. For stressed credits (CCC), the premium exceeds +260bp.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56032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53492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Simple hazard models get the sign wrong for strong credits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The flat-λ model always penalises PIK. The structural model shows PIK trades ABOVE cash for BB+. The crossover is near 300bp market spread.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74904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72364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The toggle option does not protect the investor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0690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Borrowers PIK when credit deteriorates — adverse selection. Toggle Z-spreads can exceed full PIK because the feedback loop is concentrated on the worst paths.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93776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91236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Above ~500bp market spread, structural modelling is essential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578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In the structural risk zone, the feedback loop dominates pricing. A spread bump approach will materially misprice PIK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