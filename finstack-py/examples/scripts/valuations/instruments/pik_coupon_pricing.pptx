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PIK Coupon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4EC9B0"/>
                </a:solidFill>
                <a:latin typeface="Calibri"/>
              </a:defRPr>
            </a:pPr>
            <a:r>
              <a:t>How Much Extra Spread Is Enough?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Modelling breakeven Z-spreads for Cash, PIK, and Toggle coupons</a:t>
            </a:r>
            <a:br/>
            <a:r>
              <a:t>across issuer credit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611880"/>
            <a:ext cx="27432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At what spread should a PIK bond trade versus a</a:t>
            </a:r>
            <a:br/>
            <a:r>
              <a:t>cash-pay bond for the same issuer?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840480" cy="411480"/>
          </a:xfrm>
          <a:prstGeom prst="round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Naive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"PIK just defers coupons — add 50bp"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"The coupon rate is the same either way"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"Compounding offsets the deferral"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011680"/>
            <a:ext cx="3840480" cy="411480"/>
          </a:xfrm>
          <a:prstGeom prst="round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What the Models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strong credits (BB+): PIK premium is small (±60bp) and sign is model-dependent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For stressed credits (CCC): PIK premium &gt; +260bp, robust across models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non-linearity means flat spread bumps are dangerous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846320"/>
            <a:ext cx="640080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The answer depends on credit quality in a way that is impossible to guess without a model. The premium is non-linear and, for strong credits, depends on calibration assumptions.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Coupon Structures: Cash, PIK, and Toggle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What the investor receives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3/18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CB85C"/>
                </a:solidFill>
                <a:latin typeface="Calibri"/>
              </a:defRPr>
            </a:pPr>
            <a:r>
              <a:t>Cash-Pay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290320"/>
            <a:ext cx="5943600" cy="50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463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4.25    4.25    4.25    4.25    4.25    4.25    4.25    4.25    4.25   104.25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6916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Regular coupon payments + par at maturity. Cash flows spread across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F4F"/>
                </a:solidFill>
                <a:latin typeface="Calibri"/>
              </a:defRPr>
            </a:pPr>
            <a:r>
              <a:t>Full PIK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87600"/>
            <a:ext cx="5943600" cy="50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560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  0         0         0         0         0         0         0         0         0       151.76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7889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No coupons. Entire value at maturity: N × (1 + c/2)¹⁰ = 151.76. Concentrated exposure.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D3F"/>
                </a:solidFill>
                <a:latin typeface="Calibri"/>
              </a:defRPr>
            </a:pPr>
            <a:r>
              <a:t>PIK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484880"/>
            <a:ext cx="5943600" cy="50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70332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</a:tblGrid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5CB85C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Cashflow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4.62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113.30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Notional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555570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104.25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04F4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88D3F"/>
                          </a:solidFill>
                          <a:latin typeface="Calibri"/>
                        </a:defRPr>
                      </a:pPr>
                      <a:r>
                        <a:t>108.68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846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3D"/>
                </a:solidFill>
                <a:latin typeface="Calibri"/>
              </a:defRPr>
            </a:pPr>
            <a:r>
              <a:t>PIK periods (5–6): notional compounds 100 → 104.25 → 108.68.  When cash resumes (period 7+), coupons are 4.62 not 4.25 — computed on the inflated notional.  At maturity the investor receives 108.68 + 4.62 = 113.30.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86400"/>
            <a:ext cx="73152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periods permanently ratchet the notional upward. Later cash coupons are larger, but so is the principal at risk in default — feeding the leverage spiral.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Hazard Rate: Measuring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simplest credit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4/18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The hazard rate λ is the instantaneous rate of default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Think of it as: 'each year, there is a λ chance of default'</a:t>
            </a:r>
          </a:p>
          <a:p>
            <a:pPr>
              <a:spcAft>
                <a:spcPts val="800"/>
              </a:spcAft>
              <a:defRPr sz="1500">
                <a:solidFill>
                  <a:srgbClr val="2D2D3D"/>
                </a:solidFill>
                <a:latin typeface="Calibri"/>
              </a:defRPr>
            </a:pPr>
            <a:r>
              <a:t>Survival probability decays over time: S(t) = e^(−λ × 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Survival Probability S(t)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0896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 λ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143bp (BB+)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591bp (B)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74.4%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66.2%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1468bp (CCC)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0" y="1371600"/>
            <a:ext cx="3017520" cy="228600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CCC issuer at λ=1468bp has only a 48% chance of surviving to year 5.</a:t>
            </a:r>
            <a:br/>
            <a:br/>
            <a:r>
              <a:t>Every cashflow scheduled beyond that point has ≤48% probability of being received.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3D"/>
                </a:solidFill>
                <a:latin typeface="Calibri"/>
              </a:defRPr>
            </a:pPr>
            <a:r>
              <a:t>The hazard rate is calibrated from the issuer's observed market spread. Higher λ → faster survival decay → lower present value of future cashflows.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Pricing Bonds with Hazard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Survival-weighted present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5/18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PV  =  Σ  Cashflow(t)  ×  S(t)  ×  D(t)    +    Recovery Leg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where S(t) = survival probability, D(t) = risk-free discount factor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Each future cashflow is weighted by the probability it gets paid (survival) and time value (discount)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Later cashflows are penalised more: both S(t) and D(t) are smaller at longer horizons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recovery leg adds value for the default scenario: R × par × default_prob(t₁, t₂) × D(t)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40480"/>
            <a:ext cx="3840480" cy="36576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Cash-Pay Bond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10 semi-annual cashflows of 4.25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Plus 100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spread across 10 dates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Early coupons have high S(t) ≈ 1.0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840480"/>
            <a:ext cx="3840480" cy="36576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Full PIK Bond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29768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Zero interim cashflows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Single payment of 151.76 at maturity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Survival exposure: 100% at year 5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Entirely dependent on S(5Y)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943600"/>
            <a:ext cx="64008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PIK concentrates all value at the worst survival point with the largest notional.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in the Hazard Rate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Risk-neutral pricing: hazard rates from market spreads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6/18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80160"/>
          <a:ext cx="74980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371600"/>
                <a:gridCol w="137160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λ (bp)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113.35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334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107.56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103.76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−3.80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99.76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94.44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911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90.33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83.45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−6.88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76.13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67.34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−8.79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Under risk-neutral hazard rates (calibrated from market spreads), PIK always prices below cash — concentrated maturity exposure penalises PIK at every credit level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gap widens with credit risk: from −2.5 pts (BB+) to −8.8 pts (CCC)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Note: market spreads embed a credit risk premium above expected losses. For BB+ the spread (85bp) implies ~7% 5Y default prob, versus the historical rate of ~1%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64008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Under risk-neutral pricing, PIK always costs the investor. The question is whether the structural model — which uses historical PDs — tells a different story.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Calibration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Why two models disagree on PIK for strong 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7/18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675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1280160"/>
                <a:gridCol w="914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Mkt Sprd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Hist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3.2×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630bp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36.5%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1.5×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HR 5Y PD = implied from market spread.  Hist 5Y PD = from historical annual default rate.</a:t>
            </a:r>
            <a:br/>
            <a:r>
              <a:t>Ratio = how much the market ‘overstates’ default risk vs historical experience.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Market spreads embed a risk premium — compensation for bearing credit risk beyond expected losses. For BB+, the spread implies 7×the historical default rate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HR model uses market-implied hazard → PIK always costs. The MC model uses historical PDs for barriers → few defaults → PIK compounding survives → PIK appears to benefit investors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gap shrinks for weaker credits (1.3× for CCC) — the risk premium is a smaller fraction of the total spread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669280"/>
            <a:ext cx="7315200" cy="54864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Whether PIK benefits investors for strong credits depends on which default measure you use. Both models agree the effect is small (±60bp) for strong credits and large (100–260bp) for weak 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Merton Model: Default as a Balance Sheet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From fixed hazard rates to structural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8/18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assets that fluctuate randomly (geometric Brownian motion)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Firm has a debt barrier — if assets fall below it, the firm defaults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barrier is calibrated from historical default probabilities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asset vol → more chance of hitting the barrier → higher default probability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188720"/>
            <a:ext cx="2743200" cy="3200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Inputs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0" y="1600200"/>
          <a:ext cx="27432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value (V)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Market value of firm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Asset vol (σ)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How volatile is V?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Debt barrier 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Default trigger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Annual PD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Calibrates barrier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Our Five Test Issuers: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31920"/>
          <a:ext cx="77724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342"/>
                <a:gridCol w="1110342"/>
                <a:gridCol w="1110342"/>
                <a:gridCol w="1110342"/>
                <a:gridCol w="1110342"/>
                <a:gridCol w="1110342"/>
                <a:gridCol w="1110348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Assets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Barrier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Ann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PD(5Y)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70.0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1.00%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66.4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5.50%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Barrier is calibrated via from_target_pd() to match each issuer’s historical annual default rate.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Endogenous Hazard: PIK Raises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Leverage-dependent hazard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9/18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λ(L) = λ₀ × (L / L₀)²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Hazard rate at current leverage = base hazard × (current leverage / base leverage)²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accrual grows the debt (notional increases)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debt → higher leverage ratio L = B/V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Higher leverage → higher hazard rate λ(L)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exponent (²) makes it non-linear: doubling leverage quadruples hazard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Hazard Rate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5.2%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0.53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11.6%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+127%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846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B− issuer (barrier 66.4, assets 125)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7315200" cy="54864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When PIK accrual pushes leverage from 0.53 to 0.90, the hazard rate nearly triples. This is the core mechanism that makes PIK dangerous for stressed credits.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Dynamic Recovery: PIK Dilutes Recovery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More debt competing for the same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10/18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3E6B"/>
                </a:solidFill>
                <a:latin typeface="Calibri"/>
              </a:defRPr>
            </a:pPr>
            <a:r>
              <a:t>R(N) = max( floor,  R₀ × N₀ / N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70"/>
                </a:solidFill>
                <a:latin typeface="Calibri"/>
              </a:defRPr>
            </a:pPr>
            <a:r>
              <a:t>Recovery at current notional = base recovery × (base notional / current notional), floored at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In default, creditors split the remaining assets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PIK grows the total debt claim (notional rises)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Same assets ÷ more debt = lower recovery per dollar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Floor at 10% prevents recovery from reaching zero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0" y="2194560"/>
          <a:ext cx="36576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219200"/>
                <a:gridCol w="12192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Notional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Base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112.5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26.7%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−11%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137.5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151.8 (full PIK)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Example: B− issuer (base recovery 30%)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029200"/>
            <a:ext cx="73152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Double penalty: PIK simultaneously raises the probability of default (via endogenous hazard) AND lowers the amount recovered in default (via diluted recovery).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Why PIK risk is self-reinforcing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11/18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PIK Accrual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011680"/>
            <a:ext cx="1463040" cy="64008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Notional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Leverage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43891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Higher</a:t>
            </a:r>
            <a:br/>
            <a:r>
              <a:t>Hazard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47472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More Defaults</a:t>
            </a:r>
            <a:br/>
            <a:r>
              <a:t>Before Maturity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011680"/>
            <a:ext cx="146304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Lower</a:t>
            </a:r>
            <a:br/>
            <a: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486400"/>
            <a:ext cx="8229600" cy="6400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This is why the PIK premium is non-linear: it is a self-reinforcing spiral. Each cycle amplifies the next. For stressed credits, the spiral dominates pricing.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Monte Carlo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Bringing the feedback loop to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12/18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2D3D"/>
                </a:solidFill>
                <a:latin typeface="Calibri"/>
              </a:defRPr>
            </a:pPr>
            <a:r>
              <a:t>We simulate 25,000 paths of firm asset values over 5 years.</a:t>
            </a:r>
            <a:br/>
            <a:r>
              <a:t>At each time step, the model updates hazard and recovery based on current leverage.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0116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Simulate asset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86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Assets follow geometric Brownian motion with calibrated volatility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65176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Check for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26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First-passage: has the asset path hit or crossed the debt barrier?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6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Update PIK notional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66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If PIK coupon date: accrete the notional by the coupon amount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931919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065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hazard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065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λ(L) = λ₀ × (L/L₀)²  — leverage has changed due to PIK accrual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57200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46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Recalculate recovery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546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R(N) = R₀ × N₀/N — more debt dilutes recovery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212080"/>
            <a:ext cx="320040" cy="32004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186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3D"/>
                </a:solidFill>
                <a:latin typeface="Calibri"/>
              </a:defRPr>
            </a:pPr>
            <a:r>
              <a:t>Discount and average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86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70"/>
                </a:solidFill>
                <a:latin typeface="Calibri"/>
              </a:defRPr>
            </a:pPr>
            <a:r>
              <a:t>PV across all paths → price, Z-spread, expected loss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Steps 3–5 create the feedback loop: PIK → higher notional → recalculated hazard and recovery → different default/survival outcomes.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Structural Model: Breakeven Z-Spreads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MC results using historical PDs for barrier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13/18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4980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05840"/>
                <a:gridCol w="1005840"/>
                <a:gridCol w="1005840"/>
                <a:gridCol w="1097280"/>
                <a:gridCol w="109728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Toggle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Tog−Cash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 (Solid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 (Mid HY)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−22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+20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 (Weak 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346bp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 (Stressed)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+141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+151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 (Deeply Stressed)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1,497bp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1,759bp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1,763bp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Z-spreads are cash-equivalent.  MC barriers calibrated from historical PDs (BB+ = 0.2%/yr → ~2% 5Y default rate).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BB+ to BB−: the MC model shows PIK Z-spread below cash. Under historical default rates (1–5% over 5Y), PIK compounding survives on ~98% of paths — but recall this uses lower PDs than market spreads imply (slide 7)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Crossover near B: the feedback loop starts to dominate (ΔZ = +37bp). Both models agree PIK costs from here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B− to CCC: PIK premium of +141bp to +262bp. The leverage spiral is unambiguous — this result is robust across calibration assumptions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943600"/>
            <a:ext cx="731520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For weak credits (B and below): PIK premium is large and robust. For strong credits: the sign depends on whether you calibrate to market or historical defaults.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PIK Premium vs Credit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The hockey-stick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14/18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4389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Mkt 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Cash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Z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Premium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−54bp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168bp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166bp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329bp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+37bp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552bp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659bp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+107bp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1,119bp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1,335bp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+216bp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1,200bp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1,702bp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1,990bp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+287bp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188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C3E6B"/>
                </a:solidFill>
                <a:latin typeface="Calibri"/>
              </a:defRPr>
            </a:pPr>
            <a:r>
              <a:t>PIK Z-Spread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554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50bp</a:t>
            </a:r>
          </a:p>
        </p:txBody>
      </p:sp>
      <p:sp>
        <p:nvSpPr>
          <p:cNvPr id="9" name="Rectangle 8"/>
          <p:cNvSpPr/>
          <p:nvPr/>
        </p:nvSpPr>
        <p:spPr>
          <a:xfrm>
            <a:off x="6821679" y="1579880"/>
            <a:ext cx="31064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3039" y="15417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011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100bp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74249" y="2037080"/>
            <a:ext cx="25807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5609" y="19989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468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200bp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84169" y="2494280"/>
            <a:ext cx="148151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5529" y="24561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26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300bp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2762" y="2951480"/>
            <a:ext cx="9558" cy="177800"/>
          </a:xfrm>
          <a:prstGeom prst="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4122" y="29133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5CB85C"/>
                </a:solidFill>
                <a:latin typeface="Calibri"/>
              </a:defRPr>
            </a:pPr>
            <a:r>
              <a:t>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3832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400bp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408680"/>
            <a:ext cx="176826" cy="177800"/>
          </a:xfrm>
          <a:prstGeom prst="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59946" y="33705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8D3F"/>
                </a:solidFill>
                <a:latin typeface="Calibri"/>
              </a:defRPr>
            </a:pPr>
            <a:r>
              <a:t>+37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3840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600bp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3865880"/>
            <a:ext cx="511363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4483" y="38277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+107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2976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850bp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4323080"/>
            <a:ext cx="1032284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5404" y="42849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47548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70"/>
                </a:solidFill>
                <a:latin typeface="Calibri"/>
              </a:defRPr>
            </a:pPr>
            <a:r>
              <a:t>1200bp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4780280"/>
            <a:ext cx="1371600" cy="177800"/>
          </a:xfrm>
          <a:prstGeom prst="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54720" y="47421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04F4F"/>
                </a:solidFill>
                <a:latin typeface="Calibri"/>
              </a:defRPr>
            </a:pPr>
            <a:r>
              <a:t>+287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1554480"/>
            <a:ext cx="25400" cy="3657600"/>
          </a:xfrm>
          <a:prstGeom prst="rect">
            <a:avLst/>
          </a:prstGeom>
          <a:solidFill>
            <a:srgbClr val="555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7200" y="502920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LOW IMPACT ZONE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Market spread &lt; 300bp:</a:t>
            </a:r>
            <a:br/>
            <a:r>
              <a:t>Premium small, sign model-dep.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502920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CROSSOVER ZONE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300–500bp market spread:</a:t>
            </a:r>
            <a:br/>
            <a:r>
              <a:t>PIK premium 0–75bp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502920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STRUCTURAL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3D"/>
                </a:solidFill>
                <a:latin typeface="Calibri"/>
              </a:defRPr>
            </a:pPr>
            <a:r>
              <a:t>Market spread &gt; 500bp:</a:t>
            </a:r>
            <a:br/>
            <a:r>
              <a:t>PIK premium 75–290+ bp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The Toggle Is Not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B− issuer: comparing toggle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15/18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7315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097280"/>
                <a:gridCol w="1097280"/>
                <a:gridCol w="822960"/>
                <a:gridCol w="13716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Z-Spread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E[Loss]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PIK %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Term. Ntl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Cash-Pay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87.28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710bp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Full PIK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82.39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851bp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29.9%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151.6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Threshold (h &gt; 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862bp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Stochastic (sigmoid)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82.23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856bp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30.0%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73%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132.9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Optimal (nested MC)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83.40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821bp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5661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Threshold toggle Z-spread (862bp) exceeds full PIK (851bp) — adverse selection against the investor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borrower PIKs on 80% of coupons, concentrated on the worst paths — seeding the leverage spiral where it does the most damage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Even the optimal exercise model (821bp) carries a +111bp premium over cash</a:t>
            </a:r>
          </a:p>
          <a:p>
            <a:pPr>
              <a:spcAft>
                <a:spcPts val="800"/>
              </a:spcAft>
              <a:defRPr sz="1400">
                <a:solidFill>
                  <a:srgbClr val="2D2D3D"/>
                </a:solidFill>
                <a:latin typeface="Calibri"/>
              </a:defRPr>
            </a:pPr>
            <a:r>
              <a:t>The toggle premium (+151bp over cash) is comparable to the full PIK premium (+141bp)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86400"/>
            <a:ext cx="6400800" cy="64008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 toggle option does not protect the investor. It gives the borrower the ability to accelerate leverage precisely when it does the most damage.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Why the Models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Calibration assumptions drive the answer for strong 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16/18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94944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97280"/>
                <a:gridCol w="1097280"/>
                <a:gridCol w="9144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ΔPrice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ΔPrice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HR 5Y PD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 DefRate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3.6×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BB−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−3.8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+1.1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15.5%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5.8%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2.7×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B−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−4.9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36.5%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25.7%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1.4×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−6.2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42.3%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1.2×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70"/>
                </a:solidFill>
                <a:latin typeface="Calibri"/>
              </a:defRPr>
            </a:pPr>
            <a:r>
              <a:t>ΔPrice = PIK minus Cash (points). HR 5Y PD = market-implied. MC DefRate = simulation default 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The HR model uses market-implied defaults (including risk premium) → PIK always costs. The MC model uses historical PDs for barriers → fewer defaults → PIK compounding survives</a:t>
            </a:r>
          </a:p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For BB+: the HR model sees 3.6× more defaults than the MC model. This gap drives the sign reversal in PIK pricing</a:t>
            </a:r>
          </a:p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For CCC: both models see similar default rates (ratio 1.2×). The PIK penalty is robust regardless of calibration</a:t>
            </a:r>
          </a:p>
          <a:p>
            <a:pPr>
              <a:spcAft>
                <a:spcPts val="800"/>
              </a:spcAft>
              <a:defRPr sz="1300">
                <a:solidFill>
                  <a:srgbClr val="2D2D3D"/>
                </a:solidFill>
                <a:latin typeface="Calibri"/>
              </a:defRPr>
            </a:pPr>
            <a:r>
              <a:t>The practical implication: for strong credits, the PIK premium/discount is small either way (±60bp). For weak credits, it's large (+100–260bp) and model choice barely matters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669280"/>
            <a:ext cx="7315200" cy="54864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Model choice matters most where the answer matters least (strong credits). Where the premium is large and actionable (weak credits), both models agree.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3E6B"/>
                </a:solidFill>
                <a:latin typeface="Calibri"/>
              </a:defRPr>
            </a:pPr>
            <a:r>
              <a:t>When Does the PIK Premium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94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70"/>
                </a:solidFill>
                <a:latin typeface="Calibri"/>
              </a:defRPr>
            </a:pPr>
            <a:r>
              <a:t>A practical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17/18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560320" cy="45720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LOW IMPACT ZONE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BB+ to BB  |  Mkt spread &lt; 300bp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is small (±60bp)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Sign is calibration-dependent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is negligible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vs cash difference is minor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188720"/>
            <a:ext cx="2560320" cy="457200"/>
          </a:xfrm>
          <a:prstGeom prst="roundRect">
            <a:avLst/>
          </a:prstGeom>
          <a:solidFill>
            <a:srgbClr val="E8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CROSSOVER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  |  Mkt spread 300–500bp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0–75bp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Simple models understate risk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adds value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Scrutinise leverage trajectory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88720"/>
            <a:ext cx="2560320" cy="457200"/>
          </a:xfrm>
          <a:prstGeom prst="roundRect">
            <a:avLst/>
          </a:prstGeom>
          <a:solidFill>
            <a:srgbClr val="E0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STRUCTURAL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737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3D"/>
                </a:solidFill>
                <a:latin typeface="Calibri"/>
              </a:defRPr>
            </a:pPr>
            <a:r>
              <a:t>B− to CCC  |  Mkt spread &gt; 500bp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PIK premium 100–290+ bp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Feedback loop dominates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Structural model is essential</a:t>
            </a:r>
          </a:p>
          <a:p>
            <a:pPr>
              <a:spcAft>
                <a:spcPts val="400"/>
              </a:spcAft>
              <a:defRPr sz="1200">
                <a:solidFill>
                  <a:srgbClr val="2D2D3D"/>
                </a:solidFill>
                <a:latin typeface="Calibri"/>
              </a:defRPr>
            </a:pPr>
            <a:r>
              <a:t>Flat spread bump is dangerous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6B"/>
                </a:solidFill>
                <a:latin typeface="Calibri"/>
              </a:defRPr>
            </a:pPr>
            <a:r>
              <a:t>Practical Decision Guide: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4206240"/>
          <a:ext cx="83210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103120"/>
                <a:gridCol w="21031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 Impact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Crossover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Structural Risk</a:t>
                      </a:r>
                    </a:p>
                  </a:txBody>
                  <a:tcPr>
                    <a:solidFill>
                      <a:srgbClr val="2C3E6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PIK Z-spread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±60bp (model-dep.)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0 to +75bp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+100 to +290bp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Model needed?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Either model adequate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recommended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Structural required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vs full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Minimal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may exceed PIK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Toggle ≈ PIK or worse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Key risk factor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Calibration assumption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Leverage trajectory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2D2D3D"/>
                          </a:solidFill>
                          <a:latin typeface="Calibri"/>
                        </a:defRPr>
                      </a:pPr>
                      <a:r>
                        <a:t>Feedback loop intensity</a:t>
                      </a:r>
                    </a:p>
                  </a:txBody>
                  <a:tcPr>
                    <a:solidFill>
                      <a:srgbClr val="E8EB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5570"/>
                </a:solidFill>
                <a:latin typeface="Calibri"/>
              </a:defRPr>
            </a:pPr>
            <a:r>
              <a:t>18/18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7160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462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PIK premium is non-linear and credit-quality-dependent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For strong credits (BB+/BB−), the premium is small (±60bp) and its sign depends on calibration. For stressed credits (CCC), the premium exceeds +260bp and is robust across models.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56032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349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 disagreement is largest where the stakes are smallest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For strong credits, models disagree on the sign but the magnitude is small. For weak credits, models agree: PIK premium is large and the feedback spiral dominates.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74904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23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The toggle option does not protect the investor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0690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Borrowers PIK when credit deteriorates — adverse selection. Toggle Z-spreads can exceed full PIK because the feedback loop is concentrated on the worst paths.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93776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91236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Above ~400bp market spread, structural modelling is essential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578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 the structural risk zone, the feedback loop dominates pricing regardless of calibration. A flat spread bump approach will materially misprice PIK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