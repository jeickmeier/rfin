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PIK Coupon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EC9B0"/>
                </a:solidFill>
                <a:latin typeface="Calibri"/>
              </a:defRPr>
            </a:pPr>
            <a:r>
              <a:t>How Much Extra Spread Is Enough?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Modelling breakeven Z-spreads for Cash, PIK, and Toggle coupons</a:t>
            </a:r>
            <a:br/>
            <a:r>
              <a:t>across issuer credit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11880"/>
            <a:ext cx="27432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At what spread should a PIK bond trade versus a</a:t>
            </a:r>
            <a:br/>
            <a:r>
              <a:t>cash-pay bond for the same issuer?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840480" cy="411480"/>
          </a:xfrm>
          <a:prstGeom prst="round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Naive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"PIK just defers coupons — add 50bp"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"The coupon rate is the same either way"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"Compounding offsets the deferral"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11680"/>
            <a:ext cx="3840480" cy="41148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the Models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strong credits (BB+, 2.0× coverage): PIK premium is small (±60bp) and sign is model-dependent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stressed credits (CCC, 1.15× coverage): PIK premium &gt; +260bp, robust across models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non-linearity means flat spread bumps are dangerous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640080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The answer depends on credit quality in a way that is impossible to guess without a model. The premium is non-linear and, for strong credits, depends on calibration assumptions.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Hazard Rate Model: PIK Always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Risk-neutral pricing with hazard rates from market spreads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3/6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49377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"/>
                <a:gridCol w="640080"/>
                <a:gridCol w="822960"/>
                <a:gridCol w="822960"/>
                <a:gridCol w="82296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LTV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ΔZ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111.46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334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107.56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104.88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96.05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911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90.33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85.40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+137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76.13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69.59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005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The Calibration Gap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720" y="1325880"/>
          <a:ext cx="29260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57200"/>
                <a:gridCol w="731520"/>
                <a:gridCol w="731520"/>
                <a:gridCol w="5486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LTV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Hist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25.6%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2.2×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LTV = Debt / Enterprise Value at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Under risk-neutral hazard rates, PIK always trades wider: +40bp at 50% LTV (BB+) to +224bp at 87% LTV (CCC). Concentrated maturity exposure penalises PIK at every level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But market spreads embed a risk premium above expected losses. At 50% LTV the spread implies 7× the historical default rate — the PIK penalty may be overstated for low-LTV credits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120640"/>
            <a:ext cx="7315200" cy="59436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Is the PIK penalty real, or is it driven by overstated default risk? The structural model — which uses historical PDs — tests this.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Structural Model: The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Merton MC with endogenous hazard + dynamic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6B"/>
                </a:solidFill>
                <a:latin typeface="Calibri"/>
              </a:defRPr>
            </a:pPr>
            <a:r>
              <a:t>λ(L) = λ₀ × (L / L₀)²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PIK raises leverage → hazard rate rises non-linearly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6B"/>
                </a:solidFill>
                <a:latin typeface="Calibri"/>
              </a:defRPr>
            </a:pPr>
            <a:r>
              <a:t>R(N) = max(floor,  R₀ × N₀ / 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PIK grows debt claim → recovery per dollar diluted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005840"/>
            <a:ext cx="1371600" cy="59436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PIK Accrual</a:t>
            </a:r>
            <a:br/>
            <a:r>
              <a:t>↓ Higher Notional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005840"/>
            <a:ext cx="1371600" cy="5943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Higher Leverage</a:t>
            </a:r>
            <a:br/>
            <a:r>
              <a:t>↓ Higher 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1828800"/>
            <a:ext cx="1371600" cy="5943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Lower Recovery</a:t>
            </a:r>
            <a:br/>
            <a:r>
              <a:t>per dollar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1828800"/>
            <a:ext cx="1371600" cy="5943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More Defaults</a:t>
            </a:r>
            <a:br/>
            <a:r>
              <a:t>Before Maturity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645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6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9659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645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6B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6B"/>
                </a:solidFill>
                <a:latin typeface="Calibri"/>
              </a:defRPr>
            </a:pPr>
            <a:r>
              <a:t>MC Breakeven Z-Spreads (25,000 paths, barriers from historical PDs)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2788920"/>
          <a:ext cx="68580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57200"/>
                <a:gridCol w="914400"/>
                <a:gridCol w="914400"/>
                <a:gridCol w="914400"/>
                <a:gridCol w="1005840"/>
                <a:gridCol w="100584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LTV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Toggle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346bp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+151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1,497bp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1,759bp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1,763bp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" y="4846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At 50–61% LTV: MC shows PIK tighter (−59/−22bp) — under historical PDs, PIK compounding survives on ~98% of paths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At 80–87% LTV: PIK premium +141 to +262bp — the feedback loop dominates and both models agree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760720"/>
            <a:ext cx="7315200" cy="50292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For weak credits, the feedback loop is unambiguous. For strong credits, the sign depends on whether you calibrate to market or historical defaults.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Premium Across Credit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hockey-stick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5/6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05840"/>
          <a:ext cx="3657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Mkt 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1,119bp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1,335bp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+216bp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1,200bp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1,702bp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1,990bp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663440" y="1005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6B"/>
                </a:solidFill>
                <a:latin typeface="Calibri"/>
              </a:defRPr>
            </a:pPr>
            <a:r>
              <a:t>PIK Z-Spread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25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50bp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7258" y="1351280"/>
            <a:ext cx="269222" cy="1524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58" y="13131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CB85C"/>
                </a:solidFill>
                <a:latin typeface="Calibri"/>
              </a:defRPr>
            </a:pPr>
            <a:r>
              <a:t>-65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099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100bp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02819" y="1735328"/>
            <a:ext cx="223661" cy="1524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5619" y="16972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CB85C"/>
                </a:solidFill>
                <a:latin typeface="Calibri"/>
              </a:defRPr>
            </a:pPr>
            <a:r>
              <a:t>-54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200bp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082" y="2119376"/>
            <a:ext cx="128398" cy="1524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0882" y="20812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CB85C"/>
                </a:solidFill>
                <a:latin typeface="Calibri"/>
              </a:defRPr>
            </a:pPr>
            <a:r>
              <a:t>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7802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300bp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8197" y="2503424"/>
            <a:ext cx="8283" cy="1524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0997" y="246532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CB85C"/>
                </a:solidFill>
                <a:latin typeface="Calibri"/>
              </a:defRPr>
            </a:pPr>
            <a:r>
              <a:t>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62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400bp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887472"/>
            <a:ext cx="153249" cy="1524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0529" y="284937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8D3F"/>
                </a:solidFill>
                <a:latin typeface="Calibri"/>
              </a:defRPr>
            </a:pPr>
            <a:r>
              <a:t>+37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2461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600bp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271520"/>
            <a:ext cx="443181" cy="1524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0461" y="32334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04F4F"/>
                </a:solidFill>
                <a:latin typeface="Calibri"/>
              </a:defRPr>
            </a:pPr>
            <a:r>
              <a:t>+107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301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850bp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655568"/>
            <a:ext cx="894646" cy="1524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1926" y="361746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04F4F"/>
                </a:solidFill>
                <a:latin typeface="Calibri"/>
              </a:defRPr>
            </a:pPr>
            <a:r>
              <a:t>+216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01421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70"/>
                </a:solidFill>
                <a:latin typeface="Calibri"/>
              </a:defRPr>
            </a:pPr>
            <a:r>
              <a:t>1200bp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039616"/>
            <a:ext cx="1188720" cy="1524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6000" y="40015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04F4F"/>
                </a:solidFill>
                <a:latin typeface="Calibri"/>
              </a:defRPr>
            </a:pPr>
            <a:r>
              <a:t>+287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1325880"/>
            <a:ext cx="25400" cy="3108960"/>
          </a:xfrm>
          <a:prstGeom prst="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74320" y="4434840"/>
            <a:ext cx="2560320" cy="36576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LOW IMPACT ZONE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3D"/>
                </a:solidFill>
                <a:latin typeface="Calibri"/>
              </a:defRPr>
            </a:pPr>
            <a:r>
              <a:t>LTV &lt; 65%  |  Mkt spread &lt; 300bp</a:t>
            </a:r>
            <a:br/>
            <a:r>
              <a:t>Premium small, sign model-dep.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08960" y="4434840"/>
            <a:ext cx="2560320" cy="36576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3D"/>
                </a:solidFill>
                <a:latin typeface="Calibri"/>
              </a:defRPr>
            </a:pPr>
            <a:r>
              <a:t>LTV 65–75%  |  300–500bp spread</a:t>
            </a:r>
            <a:br/>
            <a:r>
              <a:t>PIK premium 0–75bp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434840"/>
            <a:ext cx="2560320" cy="3657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3D"/>
                </a:solidFill>
                <a:latin typeface="Calibri"/>
              </a:defRPr>
            </a:pPr>
            <a:r>
              <a:t>LTV &gt; 75%  |  Mkt spread &gt; 500bp</a:t>
            </a:r>
            <a:br/>
            <a:r>
              <a:t>PIK premium 75–290+ bp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274320" y="5440680"/>
          <a:ext cx="530352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914400"/>
                <a:gridCol w="914400"/>
                <a:gridCol w="91440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BB+ (50%)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BB− (61%)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 (71%)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B− (80%)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CCC (87%)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HR ΔZ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MC ΔZ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274320" y="6355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ΔZ = PIK Z-spread minus Cash Z-spread (bp)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5440680"/>
            <a:ext cx="2926080" cy="77724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Toggle ≈ full PIK or worse — borrowers PIK on the worst paths (adverse selection)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8288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188720"/>
            <a:ext cx="365760" cy="36576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633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PIK premium is non-linear and credit-quality-dependent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630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For strong credits (BB+/BB−, 2.0× coverage), the premium is small (±60bp) and model-dependent. For stressed credits (CCC, 1.15× coverage), it exceeds +260bp and is robust across models.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240280"/>
            <a:ext cx="365760" cy="36576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148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The toggle option does not protect the investor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146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Borrowers PIK when credit deteriorates — adverse selection. Toggle Z-spreads can exceed full PIK because the spiral concentrates on the worst paths.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291840"/>
            <a:ext cx="365760" cy="36576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664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Above ~75% LTV (~400bp spread), structural modelling is essential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66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In the structural risk zone, the feedback loop dominates pricing regardless of calibration. A flat spread bump approach will materially misprice PIK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Decision Guide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4617720"/>
          <a:ext cx="83210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103120"/>
                <a:gridCol w="21031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 Impact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(LTV &lt; 65%)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Crossover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(LTV 65–75%)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Structural Risk</a:t>
                      </a:r>
                    </a:p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(LTV &gt; 75%)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PIK Z-spread premium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±60bp (model-dep.)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0 to +75bp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+100 to +290bp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Model needed?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Either model adequate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Structural recommended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Structural required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Toggle vs full PIK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Minimal difference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Toggle may exceed PIK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Toggle ≈ PIK or worse</a:t>
                      </a:r>
                    </a:p>
                  </a:txBody>
                  <a:tcPr>
                    <a:solidFill>
                      <a:srgbClr val="2538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Key risk factor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Calibration assumption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Leverage trajectory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Feedback loop intensity</a:t>
                      </a:r>
                    </a:p>
                  </a:txBody>
                  <a:tcPr>
                    <a:solidFill>
                      <a:srgbClr val="1F2F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