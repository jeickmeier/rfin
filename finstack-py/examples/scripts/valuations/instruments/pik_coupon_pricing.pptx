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PIK Coupon Pricing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83464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4EC9B0"/>
                </a:solidFill>
                <a:latin typeface="Calibri"/>
              </a:defRPr>
            </a:pPr>
            <a:r>
              <a:t>How Much Extra Spread Is Enough?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Calibri"/>
              </a:defRPr>
            </a:pPr>
            <a:r>
              <a:t>Modelling breakeven spreads for Cash, PIK, and Toggle coupons</a:t>
            </a:r>
            <a:br/>
            <a:r>
              <a:t>across issuer credit quality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611880"/>
            <a:ext cx="2743200" cy="38100"/>
          </a:xfrm>
          <a:prstGeom prst="rect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274320"/>
            <a:ext cx="457200" cy="45720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82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C3E6B"/>
                </a:solidFill>
                <a:latin typeface="Calibri"/>
              </a:defRPr>
            </a:pPr>
            <a:r>
              <a:t>The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55570"/>
                </a:solidFill>
                <a:latin typeface="Calibri"/>
              </a:defRPr>
            </a:pPr>
            <a:r>
              <a:t>2/18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C3E6B"/>
                </a:solidFill>
                <a:latin typeface="Calibri"/>
              </a:defRPr>
            </a:pPr>
            <a:r>
              <a:t>At what spread should a PIK bond trade versus a</a:t>
            </a:r>
            <a:br/>
            <a:r>
              <a:t>cash-pay bond for the same issuer?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011680"/>
            <a:ext cx="3840480" cy="411480"/>
          </a:xfrm>
          <a:prstGeom prst="roundRect">
            <a:avLst/>
          </a:prstGeom>
          <a:solidFill>
            <a:srgbClr val="5555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Naive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560320"/>
            <a:ext cx="3840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"PIK just defers coupons — add 50bp"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"The coupon rate is the same"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"Compounding offsets the delay"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46320" y="2011680"/>
            <a:ext cx="3840480" cy="411480"/>
          </a:xfrm>
          <a:prstGeom prst="roundRect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What the Models Show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2560320"/>
            <a:ext cx="3840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For strong credits: PIK premium ≈ 0bp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For stressed credits: PIK premium &gt; 500bp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The relationship is highly non-linear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4846320"/>
            <a:ext cx="6400800" cy="640080"/>
          </a:xfrm>
          <a:prstGeom prst="roundRect">
            <a:avLst/>
          </a:prstGeom>
          <a:solidFill>
            <a:srgbClr val="E88D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The answer depends on credit quality in a way that is impossible to guess without a model.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274320"/>
            <a:ext cx="457200" cy="45720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82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C3E6B"/>
                </a:solidFill>
                <a:latin typeface="Calibri"/>
              </a:defRPr>
            </a:pPr>
            <a:r>
              <a:t>Coupon Structures: Cash, PIK, and Toggle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594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70"/>
                </a:solidFill>
                <a:latin typeface="Calibri"/>
              </a:defRPr>
            </a:pPr>
            <a:r>
              <a:t>What the investor receives and when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55570"/>
                </a:solidFill>
                <a:latin typeface="Calibri"/>
              </a:defRPr>
            </a:pPr>
            <a:r>
              <a:t>3/18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5CB85C"/>
                </a:solidFill>
                <a:latin typeface="Calibri"/>
              </a:defRPr>
            </a:pPr>
            <a:r>
              <a:t>Cash-Pay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0" y="1473200"/>
            <a:ext cx="5943600" cy="50800"/>
          </a:xfrm>
          <a:prstGeom prst="rect">
            <a:avLst/>
          </a:prstGeom>
          <a:solidFill>
            <a:srgbClr val="5CB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0" y="164592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55570"/>
                </a:solidFill>
                <a:latin typeface="Calibri"/>
              </a:defRPr>
            </a:pPr>
            <a:r>
              <a:t>4.25    4.25    4.25    4.25    4.25    4.25    4.25    4.25    4.25   104.25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920240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3D"/>
                </a:solidFill>
                <a:latin typeface="Calibri"/>
              </a:defRPr>
            </a:pPr>
            <a:r>
              <a:t>Regular coupon payments + par at maturity. Cash flows spread across time.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432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04F4F"/>
                </a:solidFill>
                <a:latin typeface="Calibri"/>
              </a:defRPr>
            </a:pPr>
            <a:r>
              <a:t>Full PIK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0" y="2844800"/>
            <a:ext cx="5943600" cy="50800"/>
          </a:xfrm>
          <a:prstGeom prst="rect">
            <a:avLst/>
          </a:prstGeom>
          <a:solidFill>
            <a:srgbClr val="E0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86000" y="301752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55570"/>
                </a:solidFill>
                <a:latin typeface="Calibri"/>
              </a:defRPr>
            </a:pPr>
            <a:r>
              <a:t>  0         0         0         0         0         0         0         0         0       151.76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3291840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3D"/>
                </a:solidFill>
                <a:latin typeface="Calibri"/>
              </a:defRPr>
            </a:pPr>
            <a:r>
              <a:t>No coupons. Entire value at maturity: N × (1 + c/2)^10 = 151.76. Concentrated exposure.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1148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88D3F"/>
                </a:solidFill>
                <a:latin typeface="Calibri"/>
              </a:defRPr>
            </a:pPr>
            <a:r>
              <a:t>PIK Toggle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0" y="4216400"/>
            <a:ext cx="5943600" cy="50800"/>
          </a:xfrm>
          <a:prstGeom prst="rect">
            <a:avLst/>
          </a:prstGeom>
          <a:solidFill>
            <a:srgbClr val="E88D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286000" y="438912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55570"/>
                </a:solidFill>
                <a:latin typeface="Calibri"/>
              </a:defRPr>
            </a:pPr>
            <a:r>
              <a:t>4.25    4.25    4.25      0       0      4.25    4.25    4.25    4.25   108.33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4663440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3D"/>
                </a:solidFill>
                <a:latin typeface="Calibri"/>
              </a:defRPr>
            </a:pPr>
            <a:r>
              <a:t>Borrower chooses cash or PIK each period. Typically PIKs when credit deteriorates.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371600" y="5486400"/>
            <a:ext cx="6400800" cy="548640"/>
          </a:xfrm>
          <a:prstGeom prst="roundRect">
            <a:avLst/>
          </a:prstGeom>
          <a:solidFill>
            <a:srgbClr val="2C3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Key: PIK concentrates all value at the longest maturity with a larger notional.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274320"/>
            <a:ext cx="457200" cy="45720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82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C3E6B"/>
                </a:solidFill>
                <a:latin typeface="Calibri"/>
              </a:defRPr>
            </a:pPr>
            <a:r>
              <a:t>The Hazard Rate: Measuring Default 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594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70"/>
                </a:solidFill>
                <a:latin typeface="Calibri"/>
              </a:defRPr>
            </a:pPr>
            <a:r>
              <a:t>The simplest credit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55570"/>
                </a:solidFill>
                <a:latin typeface="Calibri"/>
              </a:defRPr>
            </a:pPr>
            <a:r>
              <a:t>4/18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D2D3D"/>
                </a:solidFill>
                <a:latin typeface="Calibri"/>
              </a:defRPr>
            </a:pPr>
            <a:r>
              <a:t>The hazard rate λ is the instantaneous rate of default</a:t>
            </a:r>
          </a:p>
          <a:p>
            <a:pPr>
              <a:spcAft>
                <a:spcPts val="800"/>
              </a:spcAft>
              <a:defRPr sz="1500">
                <a:solidFill>
                  <a:srgbClr val="2D2D3D"/>
                </a:solidFill>
                <a:latin typeface="Calibri"/>
              </a:defRPr>
            </a:pPr>
            <a:r>
              <a:t>Think of it as: 'each year, there is a λ chance of default'</a:t>
            </a:r>
          </a:p>
          <a:p>
            <a:pPr>
              <a:spcAft>
                <a:spcPts val="800"/>
              </a:spcAft>
              <a:defRPr sz="1500">
                <a:solidFill>
                  <a:srgbClr val="2D2D3D"/>
                </a:solidFill>
                <a:latin typeface="Calibri"/>
              </a:defRPr>
            </a:pPr>
            <a:r>
              <a:t>Survival probability decays over time: S(t) = e^(−λ × 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743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C3E6B"/>
                </a:solidFill>
                <a:latin typeface="Calibri"/>
              </a:defRPr>
            </a:pPr>
            <a:r>
              <a:t>Survival Probability S(t)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3108960"/>
          <a:ext cx="502920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1005840"/>
                <a:gridCol w="1005840"/>
                <a:gridCol w="1005840"/>
                <a:gridCol w="100584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Hazard Rate λ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1Y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3Y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5Y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7Y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150bp (BB+)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98.5%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95.6%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92.8%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90.0%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600bp (B)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94.2%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83.5%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74.1%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65.7%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1400bp (CCC)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86.9%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65.7%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49.7%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37.5%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669280" y="1371600"/>
            <a:ext cx="3017520" cy="2286000"/>
          </a:xfrm>
          <a:prstGeom prst="roundRect">
            <a:avLst/>
          </a:prstGeom>
          <a:solidFill>
            <a:srgbClr val="2C3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A CCC issuer at λ=1400bp has only a 50% chance of surviving to year 5.</a:t>
            </a:r>
            <a:br/>
            <a:br/>
            <a:r>
              <a:t>Every cashflow scheduled beyond that point has ≤50% probability of being received.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0292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2D3D"/>
                </a:solidFill>
                <a:latin typeface="Calibri"/>
              </a:defRPr>
            </a:pPr>
            <a:r>
              <a:t>The hazard rate is a single number that captures the market's view of default risk. Higher λ → faster decay of survival → lower present value of future cashflows.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274320"/>
            <a:ext cx="457200" cy="45720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82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C3E6B"/>
                </a:solidFill>
                <a:latin typeface="Calibri"/>
              </a:defRPr>
            </a:pPr>
            <a:r>
              <a:t>Pricing Bonds with Hazard Rates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594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70"/>
                </a:solidFill>
                <a:latin typeface="Calibri"/>
              </a:defRPr>
            </a:pPr>
            <a:r>
              <a:t>Survival-weighted present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55570"/>
                </a:solidFill>
                <a:latin typeface="Calibri"/>
              </a:defRPr>
            </a:pPr>
            <a:r>
              <a:t>5/18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C3E6B"/>
                </a:solidFill>
                <a:latin typeface="Calibri"/>
              </a:defRPr>
            </a:pPr>
            <a:r>
              <a:t>PV  =  Σ  Cashflow(t)  ×  S(t)  ×  D(t)    +    Recovery Leg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55570"/>
                </a:solidFill>
                <a:latin typeface="Calibri"/>
              </a:defRPr>
            </a:pPr>
            <a:r>
              <a:t>where S(t) = survival probability, D(t) = risk-free discount factor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0312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Each future cashflow is weighted by the probability it gets paid (survival) and time value (discount)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Later cashflows are penalised more: both S(t) and D(t) are smaller at longer horizons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The recovery leg adds back value for the scenario where default occurs: R × par × default_prob(t₁, t₂) × D(t)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40480"/>
            <a:ext cx="3840480" cy="365760"/>
          </a:xfrm>
          <a:prstGeom prst="roundRect">
            <a:avLst/>
          </a:prstGeom>
          <a:solidFill>
            <a:srgbClr val="5CB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Cash-Pay Bond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97680"/>
            <a:ext cx="3840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2D2D3D"/>
                </a:solidFill>
                <a:latin typeface="Calibri"/>
              </a:defRPr>
            </a:pPr>
            <a:r>
              <a:t>10 semi-annual cashflows of 4.25</a:t>
            </a:r>
          </a:p>
          <a:p>
            <a:pPr>
              <a:spcAft>
                <a:spcPts val="400"/>
              </a:spcAft>
              <a:defRPr sz="1200">
                <a:solidFill>
                  <a:srgbClr val="2D2D3D"/>
                </a:solidFill>
                <a:latin typeface="Calibri"/>
              </a:defRPr>
            </a:pPr>
            <a:r>
              <a:t>Plus 100 at maturity</a:t>
            </a:r>
          </a:p>
          <a:p>
            <a:pPr>
              <a:spcAft>
                <a:spcPts val="400"/>
              </a:spcAft>
              <a:defRPr sz="1200">
                <a:solidFill>
                  <a:srgbClr val="2D2D3D"/>
                </a:solidFill>
                <a:latin typeface="Calibri"/>
              </a:defRPr>
            </a:pPr>
            <a:r>
              <a:t>Survival exposure: spread across 10 dates</a:t>
            </a:r>
          </a:p>
          <a:p>
            <a:pPr>
              <a:spcAft>
                <a:spcPts val="400"/>
              </a:spcAft>
              <a:defRPr sz="1200">
                <a:solidFill>
                  <a:srgbClr val="2D2D3D"/>
                </a:solidFill>
                <a:latin typeface="Calibri"/>
              </a:defRPr>
            </a:pPr>
            <a:r>
              <a:t>Early coupons have high S(t) ≈ 1.0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46320" y="3840480"/>
            <a:ext cx="3840480" cy="365760"/>
          </a:xfrm>
          <a:prstGeom prst="roundRect">
            <a:avLst/>
          </a:prstGeom>
          <a:solidFill>
            <a:srgbClr val="E0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Full PIK Bond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4297680"/>
            <a:ext cx="3840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2D2D3D"/>
                </a:solidFill>
                <a:latin typeface="Calibri"/>
              </a:defRPr>
            </a:pPr>
            <a:r>
              <a:t>Zero interim cashflows</a:t>
            </a:r>
          </a:p>
          <a:p>
            <a:pPr>
              <a:spcAft>
                <a:spcPts val="400"/>
              </a:spcAft>
              <a:defRPr sz="1200">
                <a:solidFill>
                  <a:srgbClr val="2D2D3D"/>
                </a:solidFill>
                <a:latin typeface="Calibri"/>
              </a:defRPr>
            </a:pPr>
            <a:r>
              <a:t>Single payment of 151.76 at maturity</a:t>
            </a:r>
          </a:p>
          <a:p>
            <a:pPr>
              <a:spcAft>
                <a:spcPts val="400"/>
              </a:spcAft>
              <a:defRPr sz="1200">
                <a:solidFill>
                  <a:srgbClr val="2D2D3D"/>
                </a:solidFill>
                <a:latin typeface="Calibri"/>
              </a:defRPr>
            </a:pPr>
            <a:r>
              <a:t>Survival exposure: 100% at year 5</a:t>
            </a:r>
          </a:p>
          <a:p>
            <a:pPr>
              <a:spcAft>
                <a:spcPts val="400"/>
              </a:spcAft>
              <a:defRPr sz="1200">
                <a:solidFill>
                  <a:srgbClr val="2D2D3D"/>
                </a:solidFill>
                <a:latin typeface="Calibri"/>
              </a:defRPr>
            </a:pPr>
            <a:r>
              <a:t>Entirely dependent on S(5Y)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71600" y="5943600"/>
            <a:ext cx="6400800" cy="457200"/>
          </a:xfrm>
          <a:prstGeom prst="roundRect">
            <a:avLst/>
          </a:prstGeom>
          <a:solidFill>
            <a:srgbClr val="E88D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PIK concentrates all value at the worst survival point with the largest notional.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274320"/>
            <a:ext cx="457200" cy="45720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82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C3E6B"/>
                </a:solidFill>
                <a:latin typeface="Calibri"/>
              </a:defRPr>
            </a:pPr>
            <a:r>
              <a:t>PIK in the Hazard Rate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594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70"/>
                </a:solidFill>
                <a:latin typeface="Calibri"/>
              </a:defRPr>
            </a:pPr>
            <a:r>
              <a:t>Timing and notional effects only — no feedback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55570"/>
                </a:solidFill>
                <a:latin typeface="Calibri"/>
              </a:defRPr>
            </a:pPr>
            <a:r>
              <a:t>6/18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280160"/>
          <a:ext cx="7498080" cy="19202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97280"/>
                <a:gridCol w="1371600"/>
                <a:gridCol w="1371600"/>
                <a:gridCol w="1371600"/>
              </a:tblGrid>
              <a:tr h="320039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Issuer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λ (bp)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Cash Price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PIK Price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Δ Price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BB+ (Solid HY)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113.13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115.94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+2.80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BB- (Mid HY)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350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107.07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108.76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+1.69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B (Weak HY)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99.44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99.74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+0.30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B- (Stressed)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900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90.50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89.21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−1.29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44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CCC (Deeply Stressed)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77.41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73.97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−3.43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8404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At low hazard rates (BB+): PIK trades above cash — compounding offsets the survival penalty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Crossover near B: the survival penalty starts to dominate the compounding benefit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At high hazard rates (CCC): PIK trades 3.4 pts below cash — concentrated maturity exposure hurts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3035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70"/>
                </a:solidFill>
                <a:latin typeface="Calibri"/>
              </a:defRPr>
            </a:pPr>
            <a:r>
              <a:t>Δ Price = PIK price minus Cash price. Negative means PIK is cheaper (investor demands more spread).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5760720"/>
            <a:ext cx="6400800" cy="457200"/>
          </a:xfrm>
          <a:prstGeom prst="roundRect">
            <a:avLst/>
          </a:prstGeom>
          <a:solidFill>
            <a:srgbClr val="2C3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This model captures timing + notional effects. But it treats λ as fixed — it doesn't know PIK makes the firm riskier.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274320"/>
            <a:ext cx="457200" cy="45720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82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C3E6B"/>
                </a:solidFill>
                <a:latin typeface="Calibri"/>
              </a:defRPr>
            </a:pPr>
            <a:r>
              <a:t>What the Simple Model Misses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594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70"/>
                </a:solidFill>
                <a:latin typeface="Calibri"/>
              </a:defRPr>
            </a:pPr>
            <a:r>
              <a:t>The gap between hazard-rate and structural pricing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55570"/>
                </a:solidFill>
                <a:latin typeface="Calibri"/>
              </a:defRPr>
            </a:pPr>
            <a:r>
              <a:t>7/18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371600" y="1280160"/>
          <a:ext cx="5577840" cy="19202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97280"/>
                <a:gridCol w="1097280"/>
                <a:gridCol w="1097280"/>
              </a:tblGrid>
              <a:tr h="320039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Issuer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HR Δ Price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MC Δ Price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Gap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BB+ (Solid HY)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+2.80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+0.29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2.5 pts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BB- (Mid HY)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+1.69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+0.00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1.7 pts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B (Weak HY)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+0.30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−2.60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2.9 pts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B- (Stressed)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−1.29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−7.08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5.8 pts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44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CCC (Deeply Stressed)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−3.43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−12.32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8.9 pts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70"/>
                </a:solidFill>
                <a:latin typeface="Calibri"/>
              </a:defRPr>
            </a:pPr>
            <a:r>
              <a:t>HR = hazard rate model (fixed λ).  MC = Merton Monte Carlo (structural model with feedback).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404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For CCC credits: the simple model says PIK is 3.4 pts cheaper. The full model says 12.3 pts cheaper.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The 8.9 point gap is the feedback loop — PIK accrual makes the firm riskier, which the flat hazard rate ignores.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The gap grows dramatically with credit risk. For BB+ it barely matters; for CCC it is the dominant effect.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5669280"/>
            <a:ext cx="6400800" cy="548640"/>
          </a:xfrm>
          <a:prstGeom prst="roundRect">
            <a:avLst/>
          </a:prstGeom>
          <a:solidFill>
            <a:srgbClr val="E0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To price PIK accurately for stressed credits, we need a model where the hazard rate responds to the growing PIK notional.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274320"/>
            <a:ext cx="457200" cy="45720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82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C3E6B"/>
                </a:solidFill>
                <a:latin typeface="Calibri"/>
              </a:defRPr>
            </a:pPr>
            <a:r>
              <a:t>The Merton Model: Default as a Balance Sheet Event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594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70"/>
                </a:solidFill>
                <a:latin typeface="Calibri"/>
              </a:defRPr>
            </a:pPr>
            <a:r>
              <a:t>From fixed hazard rates to structural 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55570"/>
                </a:solidFill>
                <a:latin typeface="Calibri"/>
              </a:defRPr>
            </a:pPr>
            <a:r>
              <a:t>8/18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Firm has assets that fluctuate randomly (geometric Brownian motion)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Firm has a debt barrier — if assets fall below it, the firm defaults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The distance-to-default (DD) measures how far assets are from the barrier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Higher asset volatility → more chance of hitting the barrier → higher default probability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0" y="1188720"/>
            <a:ext cx="2743200" cy="320040"/>
          </a:xfrm>
          <a:prstGeom prst="roundRect">
            <a:avLst/>
          </a:prstGeom>
          <a:solidFill>
            <a:srgbClr val="2C3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Key Inputs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0" y="1600200"/>
          <a:ext cx="274320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Input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Meaning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Asset value (V)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Market value of firm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Asset vol (σ)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How volatile is V?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Debt barrier 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Default trigger level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Coverage (V/B)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Asset cushion above default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5661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C3E6B"/>
                </a:solidFill>
                <a:latin typeface="Calibri"/>
              </a:defRPr>
            </a:pPr>
            <a:r>
              <a:t>Our Five Test Issuers: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931920"/>
          <a:ext cx="7315200" cy="19202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9200"/>
                <a:gridCol w="1219200"/>
                <a:gridCol w="1219200"/>
                <a:gridCol w="1219200"/>
                <a:gridCol w="1219200"/>
                <a:gridCol w="1219200"/>
              </a:tblGrid>
              <a:tr h="320039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Issuer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Assets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Vol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Coverage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DD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PD(5Y)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BB+ (Solid HY)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2.00x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3.4%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BB- (Mid HY)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165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25%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1.65x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1.02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15.4%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B (Weak HY)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1.40x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0.50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30.9%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B- (Stressed)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125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35%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1.25x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0.18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42.7%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44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CCC (Deeply Stressed)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40%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1.15x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−0.04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51.5%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70"/>
                </a:solidFill>
                <a:latin typeface="Calibri"/>
              </a:defRPr>
            </a:pPr>
            <a:r>
              <a:t>Debt barrier = 100 for all issuers (matching bond notional). Coverage = asset value / barrier.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274320"/>
            <a:ext cx="457200" cy="45720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82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C3E6B"/>
                </a:solidFill>
                <a:latin typeface="Calibri"/>
              </a:defRPr>
            </a:pPr>
            <a:r>
              <a:t>Endogenous Hazard: PIK Raises Default 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594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70"/>
                </a:solidFill>
                <a:latin typeface="Calibri"/>
              </a:defRPr>
            </a:pPr>
            <a:r>
              <a:t>Leverage-dependent hazard rate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55570"/>
                </a:solidFill>
                <a:latin typeface="Calibri"/>
              </a:defRPr>
            </a:pPr>
            <a:r>
              <a:t>9/18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2C3E6B"/>
                </a:solidFill>
                <a:latin typeface="Calibri"/>
              </a:defRPr>
            </a:pPr>
            <a:r>
              <a:t>λ(L) = λ₀ × (L / L₀)²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916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55570"/>
                </a:solidFill>
                <a:latin typeface="Calibri"/>
              </a:defRPr>
            </a:pPr>
            <a:r>
              <a:t>Hazard rate at current leverage = base hazard × (current leverage / base leverage)²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9456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PIK accrual grows the debt (notional increases)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Higher debt → higher leverage ratio L = B/V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Higher leverage → higher hazard rate λ(L)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The exponent (²) makes it non-linear: doubling leverage quadruples hazard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0" y="2194560"/>
          <a:ext cx="36576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9200"/>
                <a:gridCol w="1219200"/>
                <a:gridCol w="12192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Leverage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Hazard Rate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vs Base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0.60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5.1%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−44%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0.70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6.9%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−23%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0.80 (base)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9.0%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0.90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11.4%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+27%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14.1%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+56%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1.10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17.0%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+89%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20.3%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+125%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0" y="48463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55570"/>
                </a:solidFill>
                <a:latin typeface="Calibri"/>
              </a:defRPr>
            </a:pPr>
            <a:r>
              <a:t>Example: B- issuer (base leverage 0.80)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5303520"/>
            <a:ext cx="7315200" cy="548640"/>
          </a:xfrm>
          <a:prstGeom prst="roundRect">
            <a:avLst/>
          </a:prstGeom>
          <a:solidFill>
            <a:srgbClr val="E88D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When PIK accrual pushes leverage from 0.80 to 1.20, the hazard rate more than doubles. This is the core mechanism that makes PIK dangerous for stressed credits.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274320"/>
            <a:ext cx="457200" cy="45720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82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C3E6B"/>
                </a:solidFill>
                <a:latin typeface="Calibri"/>
              </a:defRPr>
            </a:pPr>
            <a:r>
              <a:t>Dynamic Recovery: PIK Dilutes Recovery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594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70"/>
                </a:solidFill>
                <a:latin typeface="Calibri"/>
              </a:defRPr>
            </a:pPr>
            <a:r>
              <a:t>More debt competing for the same assets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55570"/>
                </a:solidFill>
                <a:latin typeface="Calibri"/>
              </a:defRPr>
            </a:pPr>
            <a:r>
              <a:t>10/18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2C3E6B"/>
                </a:solidFill>
                <a:latin typeface="Calibri"/>
              </a:defRPr>
            </a:pPr>
            <a:r>
              <a:t>R(N) = max( floor,  R₀ × N₀ / N 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916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55570"/>
                </a:solidFill>
                <a:latin typeface="Calibri"/>
              </a:defRPr>
            </a:pPr>
            <a:r>
              <a:t>Recovery at current notional = base recovery × (base notional / current notional), floored at 10%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9456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In default, creditors split the remaining assets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PIK grows the total debt claim (notional rises)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Same assets ÷ more debt = lower recovery per dollar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Floor at 10% prevents recovery from reaching zero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0" y="2194560"/>
          <a:ext cx="3657600" cy="22402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9200"/>
                <a:gridCol w="1219200"/>
                <a:gridCol w="1219200"/>
              </a:tblGrid>
              <a:tr h="320039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Notional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Recovery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vs Base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30.0%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100 (base)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30.0%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112.5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26.7%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−11%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125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24.0%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−20%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137.5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21.8%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−27%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5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150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20.0%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−33%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0" y="43891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55570"/>
                </a:solidFill>
                <a:latin typeface="Calibri"/>
              </a:defRPr>
            </a:pPr>
            <a:r>
              <a:t>Example: B- issuer (base recovery 30%)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5029200"/>
            <a:ext cx="7315200" cy="640080"/>
          </a:xfrm>
          <a:prstGeom prst="roundRect">
            <a:avLst/>
          </a:prstGeom>
          <a:solidFill>
            <a:srgbClr val="E0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Double penalty: PIK simultaneously raises the probability of default (via endogenous hazard) AND lowers the amount recovered in default (via diluted recovery).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274320"/>
            <a:ext cx="457200" cy="45720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82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C3E6B"/>
                </a:solidFill>
                <a:latin typeface="Calibri"/>
              </a:defRPr>
            </a:pPr>
            <a:r>
              <a:t>The Feedback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594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70"/>
                </a:solidFill>
                <a:latin typeface="Calibri"/>
              </a:defRPr>
            </a:pPr>
            <a:r>
              <a:t>Why PIK risk is self-reinforcing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55570"/>
                </a:solidFill>
                <a:latin typeface="Calibri"/>
              </a:defRPr>
            </a:pPr>
            <a:r>
              <a:t>11/18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0" y="1371600"/>
            <a:ext cx="1463040" cy="640080"/>
          </a:xfrm>
          <a:prstGeom prst="roundRect">
            <a:avLst/>
          </a:prstGeom>
          <a:solidFill>
            <a:srgbClr val="E88D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PIK Accrual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0" y="2011680"/>
            <a:ext cx="1463040" cy="640080"/>
          </a:xfrm>
          <a:prstGeom prst="roundRect">
            <a:avLst/>
          </a:prstGeom>
          <a:solidFill>
            <a:srgbClr val="E88D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Higher</a:t>
            </a:r>
            <a:br/>
            <a:r>
              <a:t>Notional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3474720"/>
            <a:ext cx="1463040" cy="640080"/>
          </a:xfrm>
          <a:prstGeom prst="roundRect">
            <a:avLst/>
          </a:prstGeom>
          <a:solidFill>
            <a:srgbClr val="E0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Higher</a:t>
            </a:r>
            <a:br/>
            <a:r>
              <a:t>Leverage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4389120"/>
            <a:ext cx="1463040" cy="640080"/>
          </a:xfrm>
          <a:prstGeom prst="roundRect">
            <a:avLst/>
          </a:prstGeom>
          <a:solidFill>
            <a:srgbClr val="E0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Higher</a:t>
            </a:r>
            <a:br/>
            <a:r>
              <a:t>Hazard Rate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86000" y="3474720"/>
            <a:ext cx="1463040" cy="640080"/>
          </a:xfrm>
          <a:prstGeom prst="roundRect">
            <a:avLst/>
          </a:prstGeom>
          <a:solidFill>
            <a:srgbClr val="E0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More Defaults</a:t>
            </a:r>
            <a:br/>
            <a:r>
              <a:t>Before Maturity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2011680"/>
            <a:ext cx="1463040" cy="640080"/>
          </a:xfrm>
          <a:prstGeom prst="roundRect">
            <a:avLst/>
          </a:prstGeom>
          <a:solidFill>
            <a:srgbClr val="E0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Lower</a:t>
            </a:r>
            <a:br/>
            <a:r>
              <a:t>Recovery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1463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C3E6B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6517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C3E6B"/>
                </a:solidFill>
                <a:latin typeface="Calibri"/>
              </a:defRPr>
            </a:pPr>
            <a:r>
              <a:t>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42976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C3E6B"/>
                </a:solidFill>
                <a:latin typeface="Calibri"/>
              </a:defRPr>
            </a:pPr>
            <a:r>
              <a:t>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4572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C3E6B"/>
                </a:solidFill>
                <a:latin typeface="Calibri"/>
              </a:defRPr>
            </a:pPr>
            <a:r>
              <a:t>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27432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C3E6B"/>
                </a:solidFill>
                <a:latin typeface="Calibri"/>
              </a:defRPr>
            </a:pPr>
            <a:r>
              <a:t>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C3E6B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486400"/>
            <a:ext cx="8229600" cy="640080"/>
          </a:xfrm>
          <a:prstGeom prst="roundRect">
            <a:avLst/>
          </a:prstGeom>
          <a:solidFill>
            <a:srgbClr val="2C3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This is why the PIK premium is non-linear: it is a self-reinforcing spiral. Each cycle amplifies the next. For stressed credits, the spiral dominates pricing.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274320"/>
            <a:ext cx="457200" cy="45720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82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C3E6B"/>
                </a:solidFill>
                <a:latin typeface="Calibri"/>
              </a:defRPr>
            </a:pPr>
            <a:r>
              <a:t>Monte Carlo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594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70"/>
                </a:solidFill>
                <a:latin typeface="Calibri"/>
              </a:defRPr>
            </a:pPr>
            <a:r>
              <a:t>Bringing the feedback loop to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55570"/>
                </a:solidFill>
                <a:latin typeface="Calibri"/>
              </a:defRPr>
            </a:pPr>
            <a:r>
              <a:t>12/18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D2D3D"/>
                </a:solidFill>
                <a:latin typeface="Calibri"/>
              </a:defRPr>
            </a:pPr>
            <a:r>
              <a:t>We simulate 25,000 paths of firm asset values over 5 years.</a:t>
            </a:r>
            <a:br/>
            <a:r>
              <a:t>At each time step, the model updates hazard and recovery based on current leverage.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2011680"/>
            <a:ext cx="320040" cy="32004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9862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D3D"/>
                </a:solidFill>
                <a:latin typeface="Calibri"/>
              </a:defRPr>
            </a:pPr>
            <a:r>
              <a:t>Simulate asset paths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19862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70"/>
                </a:solidFill>
                <a:latin typeface="Calibri"/>
              </a:defRPr>
            </a:pPr>
            <a:r>
              <a:t>Assets follow geometric Brownian motion with calibrated volatility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2651760"/>
            <a:ext cx="320040" cy="32004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26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D3D"/>
                </a:solidFill>
                <a:latin typeface="Calibri"/>
              </a:defRPr>
            </a:pPr>
            <a:r>
              <a:t>Check for default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6263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70"/>
                </a:solidFill>
                <a:latin typeface="Calibri"/>
              </a:defRPr>
            </a:pPr>
            <a:r>
              <a:t>First-passage: has the asset path hit or crossed the debt barrier?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3291840"/>
            <a:ext cx="320040" cy="32004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2664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D3D"/>
                </a:solidFill>
                <a:latin typeface="Calibri"/>
              </a:defRPr>
            </a:pPr>
            <a:r>
              <a:t>Update PIK notional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32664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70"/>
                </a:solidFill>
                <a:latin typeface="Calibri"/>
              </a:defRPr>
            </a:pPr>
            <a:r>
              <a:t>If PIK coupon date: accrete the notional by the coupon amount</a:t>
            </a:r>
          </a:p>
        </p:txBody>
      </p:sp>
      <p:sp>
        <p:nvSpPr>
          <p:cNvPr id="16" name="Oval 15"/>
          <p:cNvSpPr/>
          <p:nvPr/>
        </p:nvSpPr>
        <p:spPr>
          <a:xfrm>
            <a:off x="457200" y="3931919"/>
            <a:ext cx="320040" cy="32004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906519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D3D"/>
                </a:solidFill>
                <a:latin typeface="Calibri"/>
              </a:defRPr>
            </a:pPr>
            <a:r>
              <a:t>Recalculate hazard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3906519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70"/>
                </a:solidFill>
                <a:latin typeface="Calibri"/>
              </a:defRPr>
            </a:pPr>
            <a:r>
              <a:t>λ(L) = λ₀ × (L/L₀)²  — leverage has changed due to PIK accrual</a:t>
            </a:r>
          </a:p>
        </p:txBody>
      </p:sp>
      <p:sp>
        <p:nvSpPr>
          <p:cNvPr id="19" name="Oval 18"/>
          <p:cNvSpPr/>
          <p:nvPr/>
        </p:nvSpPr>
        <p:spPr>
          <a:xfrm>
            <a:off x="457200" y="4572000"/>
            <a:ext cx="320040" cy="32004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5466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D3D"/>
                </a:solidFill>
                <a:latin typeface="Calibri"/>
              </a:defRPr>
            </a:pPr>
            <a:r>
              <a:t>Recalculate recovery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45466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70"/>
                </a:solidFill>
                <a:latin typeface="Calibri"/>
              </a:defRPr>
            </a:pPr>
            <a:r>
              <a:t>R(N) = R₀ × N₀/N — more debt dilutes recovery</a:t>
            </a:r>
          </a:p>
        </p:txBody>
      </p:sp>
      <p:sp>
        <p:nvSpPr>
          <p:cNvPr id="22" name="Oval 21"/>
          <p:cNvSpPr/>
          <p:nvPr/>
        </p:nvSpPr>
        <p:spPr>
          <a:xfrm>
            <a:off x="457200" y="5212080"/>
            <a:ext cx="320040" cy="32004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1866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D3D"/>
                </a:solidFill>
                <a:latin typeface="Calibri"/>
              </a:defRPr>
            </a:pPr>
            <a:r>
              <a:t>Discount and average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51866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70"/>
                </a:solidFill>
                <a:latin typeface="Calibri"/>
              </a:defRPr>
            </a:pPr>
            <a:r>
              <a:t>PV across all paths → price, spread, expected loss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9436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C3E6B"/>
                </a:solidFill>
                <a:latin typeface="Calibri"/>
              </a:defRPr>
            </a:pPr>
            <a:r>
              <a:t>Steps 3-5 create the feedback loop: PIK → higher notional → recalculated hazard and recovery → different default/survival outcomes.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274320"/>
            <a:ext cx="457200" cy="45720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82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C3E6B"/>
                </a:solidFill>
                <a:latin typeface="Calibri"/>
              </a:defRPr>
            </a:pPr>
            <a:r>
              <a:t>Breakeven Spreads: The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594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70"/>
                </a:solidFill>
                <a:latin typeface="Calibri"/>
              </a:defRPr>
            </a:pPr>
            <a:r>
              <a:t>Merton MC effective spreads by structure and credit quality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55570"/>
                </a:solidFill>
                <a:latin typeface="Calibri"/>
              </a:defRPr>
            </a:pPr>
            <a:r>
              <a:t>13/18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80160"/>
          <a:ext cx="7955280" cy="19202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05840"/>
                <a:gridCol w="1005840"/>
                <a:gridCol w="1188720"/>
                <a:gridCol w="1097280"/>
                <a:gridCol w="1371600"/>
              </a:tblGrid>
              <a:tr h="320039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Issuer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Cash (bp)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PIK (bp)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Toggle (bp)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PIK − Cash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Toggle − Cash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BB+ (Solid HY)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—*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—*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—*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BB- (Mid HY)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—*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—*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—*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+0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+0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B (Weak HY)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B- (Stressed)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453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689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743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+236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+290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44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CCC (Deeply Stressed)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773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1,288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1,388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+515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+615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6576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55570"/>
                </a:solidFill>
                <a:latin typeface="Calibri"/>
              </a:defRPr>
            </a:pPr>
            <a:r>
              <a:t>* BB+ and BB- bonds price above par (negative spread to risk-free). PIK premium still applies to the relative difference.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1148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BB+ to BB-: PIK premium is negligible (0-5bp). Defaults are too rare for the feedback loop to matter.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B: PIK premium of ~67bp. The feedback loop starts to bite.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B- : PIK premium of ~236bp. The spiral is significant — PIK spread is 50% higher than cash.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CCC: PIK premium of ~515bp. The feedback loop dominates — PIK spread is 67% higher than cash.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5943600"/>
            <a:ext cx="6400800" cy="457200"/>
          </a:xfrm>
          <a:prstGeom prst="roundRect">
            <a:avLst/>
          </a:prstGeom>
          <a:solidFill>
            <a:srgbClr val="E88D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The PIK premium is NOT a flat "add 50bp." It ranges from zero to 500+ bp.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274320"/>
            <a:ext cx="457200" cy="45720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82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C3E6B"/>
                </a:solidFill>
                <a:latin typeface="Calibri"/>
              </a:defRPr>
            </a:pPr>
            <a:r>
              <a:t>PIK Premium vs Asset Coverage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594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70"/>
                </a:solidFill>
                <a:latin typeface="Calibri"/>
              </a:defRPr>
            </a:pPr>
            <a:r>
              <a:t>The hockey-stick relationship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55570"/>
                </a:solidFill>
                <a:latin typeface="Calibri"/>
              </a:defRPr>
            </a:pPr>
            <a:r>
              <a:t>14/18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188720"/>
          <a:ext cx="438912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097280"/>
                <a:gridCol w="1097280"/>
                <a:gridCol w="109728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Coverage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Cash (bp)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PIK (bp)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Premium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1.10x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716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864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+149bp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1.25x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296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392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+96bp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1.40x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+67bp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1.55x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−160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−110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+50bp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1.70x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−296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−259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+38bp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1.85x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−395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−366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+29bp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2.00x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−465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−442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+24bp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2.15x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−520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−501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+19bp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760720" y="11887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C3E6B"/>
                </a:solidFill>
                <a:latin typeface="Calibri"/>
              </a:defRPr>
            </a:pPr>
            <a:r>
              <a:t>PIK Premium (bp)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0" y="15544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70"/>
                </a:solidFill>
                <a:latin typeface="Calibri"/>
              </a:defRPr>
            </a:pPr>
            <a:r>
              <a:t>1.10x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579880"/>
            <a:ext cx="2286000" cy="177800"/>
          </a:xfrm>
          <a:prstGeom prst="rect">
            <a:avLst/>
          </a:prstGeom>
          <a:solidFill>
            <a:srgbClr val="E0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54720" y="15417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04F4F"/>
                </a:solidFill>
                <a:latin typeface="Calibri"/>
              </a:defRPr>
            </a:pPr>
            <a:r>
              <a:t>+149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0" y="1965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70"/>
                </a:solidFill>
                <a:latin typeface="Calibri"/>
              </a:defRPr>
            </a:pPr>
            <a:r>
              <a:t>1.25x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991360"/>
            <a:ext cx="1472859" cy="177800"/>
          </a:xfrm>
          <a:prstGeom prst="rect">
            <a:avLst/>
          </a:prstGeom>
          <a:solidFill>
            <a:srgbClr val="E0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1579" y="19532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04F4F"/>
                </a:solidFill>
                <a:latin typeface="Calibri"/>
              </a:defRPr>
            </a:pPr>
            <a:r>
              <a:t>+96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0" y="23774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70"/>
                </a:solidFill>
                <a:latin typeface="Calibri"/>
              </a:defRPr>
            </a:pPr>
            <a:r>
              <a:t>1.40x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2402840"/>
            <a:ext cx="1027932" cy="177800"/>
          </a:xfrm>
          <a:prstGeom prst="rect">
            <a:avLst/>
          </a:prstGeom>
          <a:solidFill>
            <a:srgbClr val="E88D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96652" y="23647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88D3F"/>
                </a:solidFill>
                <a:latin typeface="Calibri"/>
              </a:defRPr>
            </a:pPr>
            <a:r>
              <a:t>+67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0" y="27889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70"/>
                </a:solidFill>
                <a:latin typeface="Calibri"/>
              </a:defRPr>
            </a:pPr>
            <a:r>
              <a:t>1.55x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2814320"/>
            <a:ext cx="767114" cy="177800"/>
          </a:xfrm>
          <a:prstGeom prst="rect">
            <a:avLst/>
          </a:prstGeom>
          <a:solidFill>
            <a:srgbClr val="E88D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35834" y="27762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88D3F"/>
                </a:solidFill>
                <a:latin typeface="Calibri"/>
              </a:defRPr>
            </a:pPr>
            <a:r>
              <a:t>+50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60720" y="32004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70"/>
                </a:solidFill>
                <a:latin typeface="Calibri"/>
              </a:defRPr>
            </a:pPr>
            <a:r>
              <a:t>1.70x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3225800"/>
            <a:ext cx="583006" cy="177800"/>
          </a:xfrm>
          <a:prstGeom prst="rect">
            <a:avLst/>
          </a:prstGeom>
          <a:solidFill>
            <a:srgbClr val="5CB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1726" y="31877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5CB85C"/>
                </a:solidFill>
                <a:latin typeface="Calibri"/>
              </a:defRPr>
            </a:pPr>
            <a:r>
              <a:t>+38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60720" y="36118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70"/>
                </a:solidFill>
                <a:latin typeface="Calibri"/>
              </a:defRPr>
            </a:pPr>
            <a:r>
              <a:t>1.85x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0" y="3637280"/>
            <a:ext cx="444926" cy="177800"/>
          </a:xfrm>
          <a:prstGeom prst="rect">
            <a:avLst/>
          </a:prstGeom>
          <a:solidFill>
            <a:srgbClr val="5CB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13646" y="35991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5CB85C"/>
                </a:solidFill>
                <a:latin typeface="Calibri"/>
              </a:defRPr>
            </a:pPr>
            <a:r>
              <a:t>+29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60720" y="40233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70"/>
                </a:solidFill>
                <a:latin typeface="Calibri"/>
              </a:defRPr>
            </a:pPr>
            <a:r>
              <a:t>2.00x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4048760"/>
            <a:ext cx="368214" cy="177800"/>
          </a:xfrm>
          <a:prstGeom prst="rect">
            <a:avLst/>
          </a:prstGeom>
          <a:solidFill>
            <a:srgbClr val="5CB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36934" y="40106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5CB85C"/>
                </a:solidFill>
                <a:latin typeface="Calibri"/>
              </a:defRPr>
            </a:pPr>
            <a:r>
              <a:t>+24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60720" y="44348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70"/>
                </a:solidFill>
                <a:latin typeface="Calibri"/>
              </a:defRPr>
            </a:pPr>
            <a:r>
              <a:t>2.15x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17920" y="4460240"/>
            <a:ext cx="291503" cy="177800"/>
          </a:xfrm>
          <a:prstGeom prst="rect">
            <a:avLst/>
          </a:prstGeom>
          <a:solidFill>
            <a:srgbClr val="5CB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60223" y="44221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5CB85C"/>
                </a:solidFill>
                <a:latin typeface="Calibri"/>
              </a:defRPr>
            </a:pPr>
            <a:r>
              <a:t>+19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029200"/>
            <a:ext cx="2560320" cy="457200"/>
          </a:xfrm>
          <a:prstGeom prst="roundRect">
            <a:avLst/>
          </a:prstGeom>
          <a:solidFill>
            <a:srgbClr val="E0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DANGER ZONE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55778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3D"/>
                </a:solidFill>
                <a:latin typeface="Calibri"/>
              </a:defRPr>
            </a:pPr>
            <a:r>
              <a:t>Below 1.3x coverage:</a:t>
            </a:r>
            <a:br/>
            <a:r>
              <a:t>PIK premium 80-150+ bp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00400" y="5029200"/>
            <a:ext cx="2560320" cy="457200"/>
          </a:xfrm>
          <a:prstGeom prst="roundRect">
            <a:avLst/>
          </a:prstGeom>
          <a:solidFill>
            <a:srgbClr val="E88D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CAUTION ZONE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55778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3D"/>
                </a:solidFill>
                <a:latin typeface="Calibri"/>
              </a:defRPr>
            </a:pPr>
            <a:r>
              <a:t>1.3x - 1.6x coverage:</a:t>
            </a:r>
            <a:br/>
            <a:r>
              <a:t>PIK premium 40-80bp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943600" y="5029200"/>
            <a:ext cx="2560320" cy="457200"/>
          </a:xfrm>
          <a:prstGeom prst="roundRect">
            <a:avLst/>
          </a:prstGeom>
          <a:solidFill>
            <a:srgbClr val="5CB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SAFE ZONE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0" y="55778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3D"/>
                </a:solidFill>
                <a:latin typeface="Calibri"/>
              </a:defRPr>
            </a:pPr>
            <a:r>
              <a:t>Above 1.6x coverage:</a:t>
            </a:r>
            <a:br/>
            <a:r>
              <a:t>PIK premium &lt; 40bp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274320"/>
            <a:ext cx="457200" cy="45720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82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C3E6B"/>
                </a:solidFill>
                <a:latin typeface="Calibri"/>
              </a:defRPr>
            </a:pPr>
            <a:r>
              <a:t>The Toggle Is Not Free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594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70"/>
                </a:solidFill>
                <a:latin typeface="Calibri"/>
              </a:defRPr>
            </a:pPr>
            <a:r>
              <a:t>B- issuer: comparing toggle strategies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55570"/>
                </a:solidFill>
                <a:latin typeface="Calibri"/>
              </a:defRPr>
            </a:pPr>
            <a:r>
              <a:t>15/18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80160"/>
          <a:ext cx="7132320" cy="19202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914400"/>
                <a:gridCol w="914400"/>
                <a:gridCol w="1097280"/>
                <a:gridCol w="822960"/>
                <a:gridCol w="1371600"/>
              </a:tblGrid>
              <a:tr h="320039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Strategy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Price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Spread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E[Loss]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PIK %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Term. Notional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Cash-Pay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63.67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453bp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45.8%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100.0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Full PIK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56.59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689bp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51.8%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151.8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Threshold (h &gt; 10%)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55.08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743bp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53.1%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102.1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Stochastic (sigmoid)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55.08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743bp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53.1%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21%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106.8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44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Optimal (nested MC)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55.48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728bp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52.8%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106.2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56616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Counterintuitive: toggle spreads can exceed full PIK (743 vs 689bp)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The borrower PIKs precisely when credit is deteriorating — adverse selection against the investor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Even with only 13% of coupons PIK'd, the spread impact is significant (+290bp over cash)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The optimal exercise model (nested MC) finds the best strategy for the borrower — worst for investors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5486400"/>
            <a:ext cx="6400800" cy="640080"/>
          </a:xfrm>
          <a:prstGeom prst="roundRect">
            <a:avLst/>
          </a:prstGeom>
          <a:solidFill>
            <a:srgbClr val="E0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A toggle option does not protect the investor. It gives the borrower the ability to accelerate leverage precisely when it does the most damage.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274320"/>
            <a:ext cx="457200" cy="45720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82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C3E6B"/>
                </a:solidFill>
                <a:latin typeface="Calibri"/>
              </a:defRPr>
            </a:pPr>
            <a:r>
              <a:t>Implied Hazard Premium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594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70"/>
                </a:solidFill>
                <a:latin typeface="Calibri"/>
              </a:defRPr>
            </a:pPr>
            <a:r>
              <a:t>How much extra default risk does the market charge for PIK?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55570"/>
                </a:solidFill>
                <a:latin typeface="Calibri"/>
              </a:defRPr>
            </a:pPr>
            <a:r>
              <a:t>16/18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2D3D"/>
                </a:solidFill>
                <a:latin typeface="Calibri"/>
              </a:defRPr>
            </a:pPr>
            <a:r>
              <a:t>Question: Given the MC model price, what flat hazard rate λ would reproduce it?</a:t>
            </a:r>
            <a:br/>
            <a:r>
              <a:t>The difference between PIK-implied λ and Cash-implied λ is the structural hazard premium.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2011680"/>
          <a:ext cx="6858000" cy="19202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914400"/>
                <a:gridCol w="914400"/>
                <a:gridCol w="914400"/>
                <a:gridCol w="1828800"/>
              </a:tblGrid>
              <a:tr h="320039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Issuer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Base λ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λ Cash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λ PIK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Δλ (PIK premium)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BB+ (Solid HY)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+79bp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BB- (Mid HY)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350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665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677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+12bp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B (Weak HY)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1,569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1,558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−11bp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B- (Stressed)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900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2,435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2,617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+182bp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44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CCC (Deeply Stressed)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2,976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3,685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+708bp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1148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For CCC credits, the PIK-implied hazard is ~708bp above the cash-implied hazard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This is the structural premium — the extra default risk created by the feedback loop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Simple models (flat λ) cannot capture this because they treat λ as fixed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5669280"/>
            <a:ext cx="6400800" cy="457200"/>
          </a:xfrm>
          <a:prstGeom prst="roundRect">
            <a:avLst/>
          </a:prstGeom>
          <a:solidFill>
            <a:srgbClr val="2C3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The implied hazard approach converts the structural model's insight into the hazard-rate language that flat-curve models understand.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274320"/>
            <a:ext cx="457200" cy="45720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82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C3E6B"/>
                </a:solidFill>
                <a:latin typeface="Calibri"/>
              </a:defRPr>
            </a:pPr>
            <a:r>
              <a:t>When Does the PIK Premium Matter?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594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70"/>
                </a:solidFill>
                <a:latin typeface="Calibri"/>
              </a:defRPr>
            </a:pPr>
            <a:r>
              <a:t>A practical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55570"/>
                </a:solidFill>
                <a:latin typeface="Calibri"/>
              </a:defRPr>
            </a:pPr>
            <a:r>
              <a:t>17/18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2560320" cy="457200"/>
          </a:xfrm>
          <a:prstGeom prst="roundRect">
            <a:avLst/>
          </a:prstGeom>
          <a:solidFill>
            <a:srgbClr val="5CB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LOW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373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D2D3D"/>
                </a:solidFill>
                <a:latin typeface="Calibri"/>
              </a:defRPr>
            </a:pPr>
            <a:r>
              <a:t>BB+ to BB  |  Coverage &gt; 1.6x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0312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2D2D3D"/>
                </a:solidFill>
                <a:latin typeface="Calibri"/>
              </a:defRPr>
            </a:pPr>
            <a:r>
              <a:t>PIK premium &lt; 50bp</a:t>
            </a:r>
          </a:p>
          <a:p>
            <a:pPr>
              <a:spcAft>
                <a:spcPts val="400"/>
              </a:spcAft>
              <a:defRPr sz="1200">
                <a:solidFill>
                  <a:srgbClr val="2D2D3D"/>
                </a:solidFill>
                <a:latin typeface="Calibri"/>
              </a:defRPr>
            </a:pPr>
            <a:r>
              <a:t>Feedback loop is negligible</a:t>
            </a:r>
          </a:p>
          <a:p>
            <a:pPr>
              <a:spcAft>
                <a:spcPts val="400"/>
              </a:spcAft>
              <a:defRPr sz="1200">
                <a:solidFill>
                  <a:srgbClr val="2D2D3D"/>
                </a:solidFill>
                <a:latin typeface="Calibri"/>
              </a:defRPr>
            </a:pPr>
            <a:r>
              <a:t>Simple spread adjustment is fine</a:t>
            </a:r>
          </a:p>
          <a:p>
            <a:pPr>
              <a:spcAft>
                <a:spcPts val="400"/>
              </a:spcAft>
              <a:defRPr sz="1200">
                <a:solidFill>
                  <a:srgbClr val="2D2D3D"/>
                </a:solidFill>
                <a:latin typeface="Calibri"/>
              </a:defRPr>
            </a:pPr>
            <a:r>
              <a:t>Focus on relative value, not model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1188720"/>
            <a:ext cx="2560320" cy="457200"/>
          </a:xfrm>
          <a:prstGeom prst="roundRect">
            <a:avLst/>
          </a:prstGeom>
          <a:solidFill>
            <a:srgbClr val="E88D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MODERATE RISK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17373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D2D3D"/>
                </a:solidFill>
                <a:latin typeface="Calibri"/>
              </a:defRPr>
            </a:pPr>
            <a:r>
              <a:t>B  |  Coverage 1.3x - 1.6x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10312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2D2D3D"/>
                </a:solidFill>
                <a:latin typeface="Calibri"/>
              </a:defRPr>
            </a:pPr>
            <a:r>
              <a:t>PIK premium 50 - 200bp</a:t>
            </a:r>
          </a:p>
          <a:p>
            <a:pPr>
              <a:spcAft>
                <a:spcPts val="400"/>
              </a:spcAft>
              <a:defRPr sz="1200">
                <a:solidFill>
                  <a:srgbClr val="2D2D3D"/>
                </a:solidFill>
                <a:latin typeface="Calibri"/>
              </a:defRPr>
            </a:pPr>
            <a:r>
              <a:t>Simple models understate risk</a:t>
            </a:r>
          </a:p>
          <a:p>
            <a:pPr>
              <a:spcAft>
                <a:spcPts val="400"/>
              </a:spcAft>
              <a:defRPr sz="1200">
                <a:solidFill>
                  <a:srgbClr val="2D2D3D"/>
                </a:solidFill>
                <a:latin typeface="Calibri"/>
              </a:defRPr>
            </a:pPr>
            <a:r>
              <a:t>Structural model adds material value</a:t>
            </a:r>
          </a:p>
          <a:p>
            <a:pPr>
              <a:spcAft>
                <a:spcPts val="400"/>
              </a:spcAft>
              <a:defRPr sz="1200">
                <a:solidFill>
                  <a:srgbClr val="2D2D3D"/>
                </a:solidFill>
                <a:latin typeface="Calibri"/>
              </a:defRPr>
            </a:pPr>
            <a:r>
              <a:t>Scrutinise leverage trajectory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188720"/>
            <a:ext cx="2560320" cy="457200"/>
          </a:xfrm>
          <a:prstGeom prst="roundRect">
            <a:avLst/>
          </a:prstGeom>
          <a:solidFill>
            <a:srgbClr val="E0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HIGH RISK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17373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D2D3D"/>
                </a:solidFill>
                <a:latin typeface="Calibri"/>
              </a:defRPr>
            </a:pPr>
            <a:r>
              <a:t>B- to CCC  |  Coverage &lt; 1.3x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210312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2D2D3D"/>
                </a:solidFill>
                <a:latin typeface="Calibri"/>
              </a:defRPr>
            </a:pPr>
            <a:r>
              <a:t>PIK premium 200 - 500+ bp</a:t>
            </a:r>
          </a:p>
          <a:p>
            <a:pPr>
              <a:spcAft>
                <a:spcPts val="400"/>
              </a:spcAft>
              <a:defRPr sz="1200">
                <a:solidFill>
                  <a:srgbClr val="2D2D3D"/>
                </a:solidFill>
                <a:latin typeface="Calibri"/>
              </a:defRPr>
            </a:pPr>
            <a:r>
              <a:t>Feedback loop dominates</a:t>
            </a:r>
          </a:p>
          <a:p>
            <a:pPr>
              <a:spcAft>
                <a:spcPts val="400"/>
              </a:spcAft>
              <a:defRPr sz="1200">
                <a:solidFill>
                  <a:srgbClr val="2D2D3D"/>
                </a:solidFill>
                <a:latin typeface="Calibri"/>
              </a:defRPr>
            </a:pPr>
            <a:r>
              <a:t>Structural model is essential</a:t>
            </a:r>
          </a:p>
          <a:p>
            <a:pPr>
              <a:spcAft>
                <a:spcPts val="400"/>
              </a:spcAft>
              <a:defRPr sz="1200">
                <a:solidFill>
                  <a:srgbClr val="2D2D3D"/>
                </a:solidFill>
                <a:latin typeface="Calibri"/>
              </a:defRPr>
            </a:pPr>
            <a:r>
              <a:t>Simple spread bump is dangerous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84048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C3E6B"/>
                </a:solidFill>
                <a:latin typeface="Calibri"/>
              </a:defRPr>
            </a:pPr>
            <a:r>
              <a:t>Practical Decision Guide: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457200" y="4206240"/>
          <a:ext cx="832104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011680"/>
                <a:gridCol w="2011680"/>
                <a:gridCol w="201168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Question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Low Risk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Moderate Risk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High Risk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PIK premium estimate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~25-50bp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~50-200bp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200-500+bp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Model needed?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Spread bump OK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Structural recommended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Structural required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Toggle vs full PIK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Minimal difference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Toggle may exceed PIK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Toggle can exceed PIK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Key sensitivity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Duration, coupon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Leverage trajectory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Feedback loop intensity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467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55570"/>
                </a:solidFill>
                <a:latin typeface="Calibri"/>
              </a:defRPr>
            </a:pPr>
            <a:r>
              <a:t>18/18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Key Takeaways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1828800" cy="38100"/>
          </a:xfrm>
          <a:prstGeom prst="rect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31520" y="1371600"/>
            <a:ext cx="411480" cy="41148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346200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Calibri"/>
              </a:defRPr>
            </a:pPr>
            <a:r>
              <a:t>PIK premium is non-linear in credit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69164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Negligible for strong credits (BB), massive for weak ones (CCC: 500+bp). A flat spread bump across the portfolio is wrong.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2560320"/>
            <a:ext cx="411480" cy="41148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534920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Calibri"/>
              </a:defRPr>
            </a:pPr>
            <a:r>
              <a:t>Simple hazard models capture timing but miss the feedback loop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88036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The flat-λ model underestimates the PIK discount by up to 9 points for stressed credits. The gap is the endogenous leverage-hazard spiral.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" y="3749040"/>
            <a:ext cx="411480" cy="41148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723640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Calibri"/>
              </a:defRPr>
            </a:pPr>
            <a:r>
              <a:t>The toggle option does not protect the investor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06908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Borrowers PIK when credit deteriorates — adverse selection. Toggle spreads can exceed full PIK. Price toggles as 'PIK plus optionality cost.'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4937760"/>
            <a:ext cx="411480" cy="41148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912360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Calibri"/>
              </a:defRPr>
            </a:pPr>
            <a:r>
              <a:t>Below ~1.3x coverage, structural modelling is essential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25780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In the danger zone, the feedback loop dominates pricing. A spread bump approach will materially misprice PIK risk.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