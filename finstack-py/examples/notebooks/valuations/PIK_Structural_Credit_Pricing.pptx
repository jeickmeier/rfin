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59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 snapToObjects="1">
      <p:cViewPr varScale="1">
        <p:scale>
          <a:sx n="104" d="100"/>
          <a:sy n="104" d="100"/>
        </p:scale>
        <p:origin x="232" y="5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PIK Structural Credit Pricing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2743200"/>
            <a:ext cx="4876495" cy="36576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44594" y="3944277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  <a:latin typeface="Calibri"/>
              </a:defRPr>
            </a:pPr>
            <a:r>
              <a:rPr dirty="0"/>
              <a:t>How Much Extra Spread Should Investors Demand for PIK Risk?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44594" y="4858677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99999"/>
                </a:solidFill>
                <a:latin typeface="Calibri"/>
              </a:defRPr>
            </a:pPr>
            <a:r>
              <a:t>Structural Credit + Monte Carlo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A838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ACC"/>
                </a:solidFill>
                <a:latin typeface="Calibri"/>
              </a:defRPr>
            </a:pPr>
            <a:r>
              <a:t>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What Are PIK Bonds?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898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How cash-pay, full PIK, and PIK toggle structures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7393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ACC"/>
                </a:solidFill>
                <a:latin typeface="Calibri"/>
              </a:defRPr>
            </a:pPr>
            <a:r>
              <a:t>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42884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rPr dirty="0"/>
              <a:t>The Credit Spectrum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721451"/>
            <a:ext cx="9144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rPr dirty="0"/>
              <a:t>BB+ to CCC- — how credit quality shapes PIK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50591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ACC"/>
                </a:solidFill>
                <a:latin typeface="Calibri"/>
              </a:defRPr>
            </a:pPr>
            <a:r>
              <a:t>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599" y="1758611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rPr dirty="0"/>
              <a:t>Modelling Framework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599" y="205121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Merton structural model [1,2] and reduced-form hazard rate model [3,4]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272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ACC"/>
                </a:solidFill>
                <a:latin typeface="Calibri"/>
              </a:defRPr>
            </a:pPr>
            <a:r>
              <a:t>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1272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The PIK Feedback Loop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41985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Why deferred coupons create a self-reinforcing leverage spiral [5,6]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0390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ACC"/>
                </a:solidFill>
                <a:latin typeface="Calibri"/>
              </a:defRPr>
            </a:pPr>
            <a: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80390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The PIK Premium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How much extra spread should investors demand? (+58bp to +628bp)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80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ACC"/>
                </a:solidFill>
                <a:latin typeface="Calibri"/>
              </a:defRPr>
            </a:pPr>
            <a:r>
              <a:t>6.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480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What Drives the Premium?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7731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Sensitivity to coverage, volatility, and model assumptions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1572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ACC"/>
                </a:solidFill>
                <a:latin typeface="Calibri"/>
              </a:defRPr>
            </a:pPr>
            <a:r>
              <a:t>7.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15721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Borrower Optionality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449824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Toggle exercise and its cost to lenders [8]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8338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ACC"/>
                </a:solidFill>
                <a:latin typeface="Calibri"/>
              </a:defRPr>
            </a:pPr>
            <a:r>
              <a:t>8.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8338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Conclusions &amp; Implications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6126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Key findings for investors and risk managers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[1] Merton (1974)  [2] Black &amp; Cox (1976)  [3] Duffie &amp; Singleton (1999)  [4] Jarrow &amp; Turnbull (1995)  [5] Leland (1994)  [6] Collin-Dufresne &amp; Goldstein (2001)  [7] Glasserman (2003)  [8] Longstaff &amp; Schwartz (2001)  —  see References slide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Are PIK Bonds?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1247120" cy="502920"/>
          </a:xfrm>
          <a:prstGeom prst="rect">
            <a:avLst/>
          </a:prstGeom>
          <a:solidFill>
            <a:srgbClr val="FFF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822960"/>
            <a:ext cx="54864" cy="50292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1">
                <a:solidFill>
                  <a:srgbClr val="333333"/>
                </a:solidFill>
                <a:latin typeface="Calibri"/>
              </a:defRPr>
            </a:pPr>
            <a:r>
              <a:t>PIK bonds defer cash coupons into notional growth. If the issuer defaults while notional has grown, investors lose more. The question: how much extra spread compensates for this risk?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99999"/>
                </a:solidFill>
                <a:latin typeface="Calibri"/>
              </a:defRPr>
            </a:pPr>
            <a:r>
              <a:t>Stylized 5-year 8.5% semi-annual fixed-coupon bond (4.5% risk-free + 400bp credit spread)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920240"/>
          <a:ext cx="5943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Structure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Coupon Mechanics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PIK Schedule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Cash-Pay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All coupons paid in cash at each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Full PIK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All coupons accreted to notional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Full PIK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PIK Toggle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Borrower decides cash vs PIK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State-dependent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0" y="19202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Key Parameters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28600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4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Risk-free rate: 4.5%</a:t>
            </a:r>
          </a:p>
          <a:p>
            <a:pPr>
              <a:spcAft>
                <a:spcPts val="504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Coupon spread: 400bp (total coupon = 8.5%)</a:t>
            </a:r>
          </a:p>
          <a:p>
            <a:pPr>
              <a:spcAft>
                <a:spcPts val="504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Maturity: 5 years</a:t>
            </a:r>
          </a:p>
          <a:p>
            <a:pPr>
              <a:spcAft>
                <a:spcPts val="504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Notional: 100</a:t>
            </a:r>
          </a:p>
          <a:p>
            <a:pPr>
              <a:spcAft>
                <a:spcPts val="504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Monte Carlo paths: 25,000</a:t>
            </a:r>
          </a:p>
          <a:p>
            <a:pPr>
              <a:spcAft>
                <a:spcPts val="504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Antithetic variates + Brownian bridge [7]</a:t>
            </a:r>
          </a:p>
          <a:p>
            <a:pPr>
              <a:spcAft>
                <a:spcPts val="504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Seed: 42 (reproducible)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31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PIK Mechanics in Detail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976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4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Cash-Pay: investor receives coupon cash each period. Notional stays at par.</a:t>
            </a:r>
          </a:p>
          <a:p>
            <a:pPr>
              <a:spcAft>
                <a:spcPts val="504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Full PIK: no cash coupons — each coupon accretes to notional. At maturity, N(T) = 100 × (1 + 4.25%)^10 = 151.6</a:t>
            </a:r>
          </a:p>
          <a:p>
            <a:pPr>
              <a:spcAft>
                <a:spcPts val="504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PIK Toggle: borrower chooses each period whether to pay cash or PIK. Creates adverse selection risk [8].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Calibri"/>
              </a:defRPr>
            </a:pPr>
            <a:r>
              <a:t>[7] Glasserman (2003), Monte Carlo Methods in Financial Engineering  [8] Longstaff &amp; Schwartz (2001), Valuing American Options by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Merton (1974) Structural Credit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1247120" cy="548640"/>
          </a:xfrm>
          <a:prstGeom prst="rect">
            <a:avLst/>
          </a:prstGeom>
          <a:solidFill>
            <a:srgbClr val="FFF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822960"/>
            <a:ext cx="54864" cy="54864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1">
                <a:solidFill>
                  <a:srgbClr val="333333"/>
                </a:solidFill>
                <a:latin typeface="Calibri"/>
              </a:defRPr>
            </a:pPr>
            <a:r>
              <a:t>The Merton model treats the company’s equity as a call option on its assets. Default occurs when assets fall below the debt barrier. This structural approach naturally captures how PIK-inflated debt changes default dynamics — unlike hazard-rate models.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68"/>
              </a:spcAft>
              <a:defRPr sz="1300" b="1">
                <a:solidFill>
                  <a:srgbClr val="1A1A2E"/>
                </a:solidFill>
                <a:latin typeface="Calibri"/>
              </a:defRPr>
            </a:pPr>
            <a:r>
              <a:t>Asset Dynamics (GBM under risk-neutral measure) [1]:</a:t>
            </a:r>
          </a:p>
          <a:p>
            <a:pPr>
              <a:spcAft>
                <a:spcPts val="468"/>
              </a:spcAft>
              <a:defRPr sz="1300" b="0">
                <a:solidFill>
                  <a:srgbClr val="007ACC"/>
                </a:solidFill>
                <a:latin typeface="Calibri"/>
              </a:defRPr>
            </a:pPr>
            <a:r>
              <a:t>dV = (r - q) · V · dt + σv · V · dW</a:t>
            </a:r>
          </a:p>
          <a:p>
            <a:pPr>
              <a:spcAft>
                <a:spcPts val="468"/>
              </a:spcAft>
              <a:defRPr sz="1300" b="0">
                <a:solidFill>
                  <a:srgbClr val="1A1A2E"/>
                </a:solidFill>
                <a:latin typeface="Calibri"/>
              </a:defRPr>
            </a:pPr>
            <a:endParaRPr/>
          </a:p>
          <a:p>
            <a:pPr>
              <a:spcAft>
                <a:spcPts val="468"/>
              </a:spcAft>
              <a:defRPr sz="1300" b="1">
                <a:solidFill>
                  <a:srgbClr val="1A1A2E"/>
                </a:solidFill>
                <a:latin typeface="Calibri"/>
              </a:defRPr>
            </a:pPr>
            <a:r>
              <a:t>Distance-to-Default:</a:t>
            </a:r>
          </a:p>
          <a:p>
            <a:pPr>
              <a:spcAft>
                <a:spcPts val="468"/>
              </a:spcAft>
              <a:defRPr sz="1300" b="0">
                <a:solidFill>
                  <a:srgbClr val="007ACC"/>
                </a:solidFill>
                <a:latin typeface="Calibri"/>
              </a:defRPr>
            </a:pPr>
            <a:r>
              <a:t>DD = [ln(V/B) + (r - q - ½σ²) · T] / (σ · √T)</a:t>
            </a:r>
          </a:p>
          <a:p>
            <a:pPr>
              <a:spcAft>
                <a:spcPts val="468"/>
              </a:spcAft>
              <a:defRPr sz="1300" b="0">
                <a:solidFill>
                  <a:srgbClr val="1A1A2E"/>
                </a:solidFill>
                <a:latin typeface="Calibri"/>
              </a:defRPr>
            </a:pPr>
            <a:endParaRPr/>
          </a:p>
          <a:p>
            <a:pPr>
              <a:spcAft>
                <a:spcPts val="468"/>
              </a:spcAft>
              <a:defRPr sz="1300" b="1">
                <a:solidFill>
                  <a:srgbClr val="1A1A2E"/>
                </a:solidFill>
                <a:latin typeface="Calibri"/>
              </a:defRPr>
            </a:pPr>
            <a:r>
              <a:t>Default Probability:</a:t>
            </a:r>
          </a:p>
          <a:p>
            <a:pPr>
              <a:spcAft>
                <a:spcPts val="468"/>
              </a:spcAft>
              <a:defRPr sz="1300" b="0">
                <a:solidFill>
                  <a:srgbClr val="007ACC"/>
                </a:solidFill>
                <a:latin typeface="Calibri"/>
              </a:defRPr>
            </a:pPr>
            <a:r>
              <a:t>PD(T) = N(-DD)  where N(·) is the standard normal CDF</a:t>
            </a:r>
          </a:p>
          <a:p>
            <a:pPr>
              <a:spcAft>
                <a:spcPts val="468"/>
              </a:spcAft>
              <a:defRPr sz="1300" b="0">
                <a:solidFill>
                  <a:srgbClr val="1A1A2E"/>
                </a:solidFill>
                <a:latin typeface="Calibri"/>
              </a:defRPr>
            </a:pPr>
            <a:endParaRPr/>
          </a:p>
          <a:p>
            <a:pPr>
              <a:spcAft>
                <a:spcPts val="468"/>
              </a:spcAft>
              <a:defRPr sz="1300" b="1">
                <a:solidFill>
                  <a:srgbClr val="1A1A2E"/>
                </a:solidFill>
                <a:latin typeface="Calibri"/>
              </a:defRPr>
            </a:pPr>
            <a:r>
              <a:t>Implied Credit Spread:</a:t>
            </a:r>
          </a:p>
          <a:p>
            <a:pPr>
              <a:spcAft>
                <a:spcPts val="468"/>
              </a:spcAft>
              <a:defRPr sz="1300" b="0">
                <a:solidFill>
                  <a:srgbClr val="007ACC"/>
                </a:solidFill>
                <a:latin typeface="Calibri"/>
              </a:defRPr>
            </a:pPr>
            <a:r>
              <a:t>s = -ln(1 - PD · LGD) / T,  LGD = 1 - R</a:t>
            </a:r>
          </a:p>
          <a:p>
            <a:pPr>
              <a:spcAft>
                <a:spcPts val="468"/>
              </a:spcAft>
              <a:defRPr sz="1300" b="0">
                <a:solidFill>
                  <a:srgbClr val="1A1A2E"/>
                </a:solidFill>
                <a:latin typeface="Calibri"/>
              </a:defRPr>
            </a:pPr>
            <a:endParaRPr/>
          </a:p>
          <a:p>
            <a:pPr>
              <a:spcAft>
                <a:spcPts val="468"/>
              </a:spcAft>
              <a:defRPr sz="1300" b="1">
                <a:solidFill>
                  <a:srgbClr val="1A1A2E"/>
                </a:solidFill>
                <a:latin typeface="Calibri"/>
              </a:defRPr>
            </a:pPr>
            <a:r>
              <a:t>Terminal vs First-Passage [2]:</a:t>
            </a:r>
          </a:p>
          <a:p>
            <a:pPr>
              <a:spcAft>
                <a:spcPts val="468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Terminal: default only at maturity (Merton 1974)</a:t>
            </a:r>
          </a:p>
          <a:p>
            <a:pPr>
              <a:spcAft>
                <a:spcPts val="468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First-passage: default at any time V &lt; B (Black &amp; Cox 1976)</a:t>
            </a:r>
          </a:p>
          <a:p>
            <a:pPr>
              <a:spcAft>
                <a:spcPts val="468"/>
              </a:spcAft>
              <a:defRPr sz="1300" b="0">
                <a:solidFill>
                  <a:srgbClr val="CC3333"/>
                </a:solidFill>
                <a:latin typeface="Calibri"/>
              </a:defRPr>
            </a:pPr>
            <a:r>
              <a:t>• First-passage defaults are 1.5-2x higher than terminal rates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Analytical Credit Metrics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1920240"/>
          <a:ext cx="4480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Issuer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Barrier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DD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PD(5Y)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Impl Spread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BB+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136.8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12.94%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134 bp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BB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132.5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1.08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13.90%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159 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BB-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107.3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14.70%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185 bp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B+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106.8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0.95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16.99%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234 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19.51%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282 bp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B-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70.0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0.69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24.60%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378 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CCC+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74.7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30.76%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525 bp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CCC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69.6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0.37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35.75%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674 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CCC-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44.32%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946 bp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0" y="530352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5"/>
              </a:spcAft>
              <a:defRPr sz="1100" b="0">
                <a:solidFill>
                  <a:srgbClr val="999999"/>
                </a:solidFill>
                <a:latin typeface="Calibri"/>
              </a:defRPr>
            </a:pPr>
            <a:r>
              <a:t>Barriers calibrated to match market-implied PD</a:t>
            </a:r>
          </a:p>
          <a:p>
            <a:pPr>
              <a:spcAft>
                <a:spcPts val="395"/>
              </a:spcAft>
              <a:defRPr sz="1100" b="0">
                <a:solidFill>
                  <a:srgbClr val="999999"/>
                </a:solidFill>
                <a:latin typeface="Calibri"/>
              </a:defRPr>
            </a:pPr>
            <a:r>
              <a:t>via from_target_pd (terminal basis)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Calibri"/>
              </a:defRPr>
            </a:pPr>
            <a:r>
              <a:t>[1] Merton, R.C. (1974), On the Pricing of Corporate Debt, Journal of Finance 29(2)  [2] Black, F. &amp; Cox, J.C. (1976), Valuing Corporate Securities, Journal of Finance 31(2)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Reduced-Form Hazard Rate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1247120" cy="594360"/>
          </a:xfrm>
          <a:prstGeom prst="rect">
            <a:avLst/>
          </a:prstGeom>
          <a:solidFill>
            <a:srgbClr val="FFF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822960"/>
            <a:ext cx="54864" cy="59436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1">
                <a:solidFill>
                  <a:srgbClr val="333333"/>
                </a:solidFill>
                <a:latin typeface="Calibri"/>
              </a:defRPr>
            </a:pPr>
            <a:r>
              <a:t>The hazard rate model prices bonds using a constant default intensity λ calibrated to market spreads. It captures the timing and notional effects of PIK but cannot capture the leverage feedback loop — it serves as our baseline for measuring what the structural model adds.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303520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Model Formulation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68"/>
              </a:spcAft>
              <a:defRPr sz="1300" b="1">
                <a:solidFill>
                  <a:srgbClr val="1A1A2E"/>
                </a:solidFill>
                <a:latin typeface="Calibri"/>
              </a:defRPr>
            </a:pPr>
            <a:r>
              <a:t>Survival function:</a:t>
            </a:r>
          </a:p>
          <a:p>
            <a:pPr>
              <a:spcAft>
                <a:spcPts val="468"/>
              </a:spcAft>
              <a:defRPr sz="1300" b="0">
                <a:solidFill>
                  <a:srgbClr val="007ACC"/>
                </a:solidFill>
                <a:latin typeface="Calibri"/>
              </a:defRPr>
            </a:pPr>
            <a:r>
              <a:t>S(t) = exp(-λ · t)</a:t>
            </a:r>
          </a:p>
          <a:p>
            <a:pPr>
              <a:spcAft>
                <a:spcPts val="468"/>
              </a:spcAft>
              <a:defRPr sz="1300" b="0">
                <a:solidFill>
                  <a:srgbClr val="1A1A2E"/>
                </a:solidFill>
                <a:latin typeface="Calibri"/>
              </a:defRPr>
            </a:pPr>
            <a:endParaRPr/>
          </a:p>
          <a:p>
            <a:pPr>
              <a:spcAft>
                <a:spcPts val="468"/>
              </a:spcAft>
              <a:defRPr sz="1300" b="1">
                <a:solidFill>
                  <a:srgbClr val="1A1A2E"/>
                </a:solidFill>
                <a:latin typeface="Calibri"/>
              </a:defRPr>
            </a:pPr>
            <a:r>
              <a:t>Bond pricing with default [3,4]:</a:t>
            </a:r>
          </a:p>
          <a:p>
            <a:pPr>
              <a:spcAft>
                <a:spcPts val="468"/>
              </a:spcAft>
              <a:defRPr sz="1300" b="0">
                <a:solidFill>
                  <a:srgbClr val="007ACC"/>
                </a:solidFill>
                <a:latin typeface="Calibri"/>
              </a:defRPr>
            </a:pPr>
            <a:r>
              <a:t>PV = Σ cᵢ · D(tᵢ) · S(tᵢ)  +  N · D(T) · S(T)</a:t>
            </a:r>
          </a:p>
          <a:p>
            <a:pPr>
              <a:spcAft>
                <a:spcPts val="468"/>
              </a:spcAft>
              <a:defRPr sz="1300" b="0">
                <a:solidFill>
                  <a:srgbClr val="007ACC"/>
                </a:solidFill>
                <a:latin typeface="Calibri"/>
              </a:defRPr>
            </a:pPr>
            <a:r>
              <a:t>    + R · N · Σ D(tᵢ) · [S(tₙ₋₁) - S(tᵢ)]</a:t>
            </a:r>
          </a:p>
          <a:p>
            <a:pPr>
              <a:spcAft>
                <a:spcPts val="468"/>
              </a:spcAft>
              <a:defRPr sz="1300" b="0">
                <a:solidFill>
                  <a:srgbClr val="1A1A2E"/>
                </a:solidFill>
                <a:latin typeface="Calibri"/>
              </a:defRPr>
            </a:pPr>
            <a:endParaRPr/>
          </a:p>
          <a:p>
            <a:pPr>
              <a:spcAft>
                <a:spcPts val="468"/>
              </a:spcAft>
              <a:defRPr sz="1300" b="1">
                <a:solidFill>
                  <a:srgbClr val="1A1A2E"/>
                </a:solidFill>
                <a:latin typeface="Calibri"/>
              </a:defRPr>
            </a:pPr>
            <a:r>
              <a:t>Credit triangle approximation:</a:t>
            </a:r>
          </a:p>
          <a:p>
            <a:pPr>
              <a:spcAft>
                <a:spcPts val="468"/>
              </a:spcAft>
              <a:defRPr sz="1300" b="0">
                <a:solidFill>
                  <a:srgbClr val="007ACC"/>
                </a:solidFill>
                <a:latin typeface="Calibri"/>
              </a:defRPr>
            </a:pPr>
            <a:r>
              <a:t>λ₀ ≈ s / (1 - R)</a:t>
            </a:r>
          </a:p>
          <a:p>
            <a:pPr>
              <a:spcAft>
                <a:spcPts val="468"/>
              </a:spcAft>
              <a:defRPr sz="1300" b="0">
                <a:solidFill>
                  <a:srgbClr val="1A1A2E"/>
                </a:solidFill>
                <a:latin typeface="Calibri"/>
              </a:defRPr>
            </a:pPr>
            <a:endParaRPr/>
          </a:p>
          <a:p>
            <a:pPr>
              <a:spcAft>
                <a:spcPts val="468"/>
              </a:spcAft>
              <a:defRPr sz="1300" b="0">
                <a:solidFill>
                  <a:srgbClr val="CC3333"/>
                </a:solidFill>
                <a:latin typeface="Calibri"/>
              </a:defRPr>
            </a:pPr>
            <a:r>
              <a:t>• λ is FLAT — does not respond to leverage changes</a:t>
            </a:r>
          </a:p>
          <a:p>
            <a:pPr>
              <a:spcAft>
                <a:spcPts val="468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Captures PIK timing: PIK shifts notional to maturity</a:t>
            </a:r>
          </a:p>
          <a:p>
            <a:pPr>
              <a:spcAft>
                <a:spcPts val="468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Misses feedback: PIK → higher leverage → higher λ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554480"/>
            <a:ext cx="5303520" cy="36576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645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Two Models, Two Purposes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68"/>
              </a:spcAft>
              <a:defRPr sz="1300" b="1">
                <a:solidFill>
                  <a:srgbClr val="007ACC"/>
                </a:solidFill>
                <a:latin typeface="Calibri"/>
              </a:defRPr>
            </a:pPr>
            <a:r>
              <a:t>Hazard Rate (Reduced-Form):</a:t>
            </a:r>
          </a:p>
          <a:p>
            <a:pPr>
              <a:spcAft>
                <a:spcPts val="468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Constant λ calibrated from market</a:t>
            </a:r>
          </a:p>
          <a:p>
            <a:pPr>
              <a:spcAft>
                <a:spcPts val="468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Tractable, closed-form pricing</a:t>
            </a:r>
          </a:p>
          <a:p>
            <a:pPr>
              <a:spcAft>
                <a:spcPts val="468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PIK premium from timing effect only</a:t>
            </a:r>
          </a:p>
          <a:p>
            <a:pPr>
              <a:spcAft>
                <a:spcPts val="468"/>
              </a:spcAft>
              <a:defRPr sz="1300" b="0">
                <a:solidFill>
                  <a:srgbClr val="1A1A2E"/>
                </a:solidFill>
                <a:latin typeface="Calibri"/>
              </a:defRPr>
            </a:pPr>
            <a:endParaRPr/>
          </a:p>
          <a:p>
            <a:pPr>
              <a:spcAft>
                <a:spcPts val="468"/>
              </a:spcAft>
              <a:defRPr sz="1300" b="1">
                <a:solidFill>
                  <a:srgbClr val="E8A838"/>
                </a:solidFill>
                <a:latin typeface="Calibri"/>
              </a:defRPr>
            </a:pPr>
            <a:r>
              <a:t>Merton MC (Structural + Feedback):</a:t>
            </a:r>
          </a:p>
          <a:p>
            <a:pPr>
              <a:spcAft>
                <a:spcPts val="468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Asset dynamics drive default</a:t>
            </a:r>
          </a:p>
          <a:p>
            <a:pPr>
              <a:spcAft>
                <a:spcPts val="468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Endogenous λ(L) rises with leverage [5]</a:t>
            </a:r>
          </a:p>
          <a:p>
            <a:pPr>
              <a:spcAft>
                <a:spcPts val="468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Dynamic recovery R(N) falls with PIK accrual</a:t>
            </a:r>
          </a:p>
          <a:p>
            <a:pPr>
              <a:spcAft>
                <a:spcPts val="468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Captures the feedback loop</a:t>
            </a:r>
          </a:p>
          <a:p>
            <a:pPr>
              <a:spcAft>
                <a:spcPts val="468"/>
              </a:spcAft>
              <a:defRPr sz="1300" b="0">
                <a:solidFill>
                  <a:srgbClr val="1A1A2E"/>
                </a:solidFill>
                <a:latin typeface="Calibri"/>
              </a:defRPr>
            </a:pPr>
            <a:endParaRPr/>
          </a:p>
          <a:p>
            <a:pPr>
              <a:spcAft>
                <a:spcPts val="468"/>
              </a:spcAft>
              <a:defRPr sz="1300" b="1">
                <a:solidFill>
                  <a:srgbClr val="CC3333"/>
                </a:solidFill>
                <a:latin typeface="Calibri"/>
              </a:defRPr>
            </a:pPr>
            <a:r>
              <a:t>Gap between models = value of the feedback loop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745892"/>
            <a:ext cx="10972800" cy="6549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504"/>
              </a:spcAft>
              <a:defRPr sz="1400" b="1">
                <a:solidFill>
                  <a:srgbClr val="1A1A2E"/>
                </a:solidFill>
                <a:latin typeface="Calibri"/>
              </a:defRPr>
            </a:pPr>
            <a:r>
              <a:rPr dirty="0"/>
              <a:t>The difference between the two models isolates the structural feedback premium:</a:t>
            </a:r>
          </a:p>
          <a:p>
            <a:pPr>
              <a:spcAft>
                <a:spcPts val="504"/>
              </a:spcAft>
              <a:defRPr sz="1400" b="0">
                <a:solidFill>
                  <a:srgbClr val="CC3333"/>
                </a:solidFill>
                <a:latin typeface="Calibri"/>
              </a:defRPr>
            </a:pPr>
            <a:r>
              <a:rPr dirty="0"/>
              <a:t>At CCC-: HR premium = +220bp, MC premium = +628bp → feedback adds +408bp (≈ 2/3 of total PIK premium)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Calibri"/>
              </a:defRPr>
            </a:pPr>
            <a:r>
              <a:t>[3] Duffie, D. &amp; Singleton, K.J. (1999), Modeling Term Structures of Defaultable Bonds, RFS 12(4)  [4] Jarrow, R.A. &amp; Turnbull, S.M. (1995), Pricing Derivatives on Financial Securities Subject to Credit Risk, JoF 50(1)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The PIK Feedback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1247120" cy="594360"/>
          </a:xfrm>
          <a:prstGeom prst="rect">
            <a:avLst/>
          </a:prstGeom>
          <a:solidFill>
            <a:srgbClr val="FFF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822960"/>
            <a:ext cx="54864" cy="59436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1">
                <a:solidFill>
                  <a:srgbClr val="333333"/>
                </a:solidFill>
                <a:latin typeface="Calibri"/>
              </a:defRPr>
            </a:pPr>
            <a:r>
              <a:t>PIK creates a vicious cycle: unpaid coupons inflate the debt, pushing leverage higher, which raises default probability AND lowers recovery. This self-reinforcing spiral is the core mechanism driving the PIK premium.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303520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Endogenous Hazard (Power-Law) [5,6]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4"/>
              </a:spcAft>
              <a:defRPr sz="1400" b="1">
                <a:solidFill>
                  <a:srgbClr val="007ACC"/>
                </a:solidFill>
                <a:latin typeface="Calibri"/>
              </a:defRPr>
            </a:pPr>
            <a:r>
              <a:t>λ(L) = λ₀ · (L / L₀)ᵝ</a:t>
            </a:r>
          </a:p>
          <a:p>
            <a:pPr>
              <a:spcAft>
                <a:spcPts val="504"/>
              </a:spcAft>
              <a:defRPr sz="1400" b="0">
                <a:solidFill>
                  <a:srgbClr val="1A1A2E"/>
                </a:solidFill>
                <a:latin typeface="Calibri"/>
              </a:defRPr>
            </a:pPr>
            <a:endParaRPr/>
          </a:p>
          <a:p>
            <a:pPr>
              <a:spcAft>
                <a:spcPts val="504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λ₀ = base hazard, calibrated from market spreads</a:t>
            </a:r>
          </a:p>
          <a:p>
            <a:pPr>
              <a:spcAft>
                <a:spcPts val="504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L₀ = base leverage at origination (B/V)</a:t>
            </a:r>
          </a:p>
          <a:p>
            <a:pPr>
              <a:spcAft>
                <a:spcPts val="504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β = exponent controlling feedback speed</a:t>
            </a:r>
          </a:p>
          <a:p>
            <a:pPr>
              <a:spcAft>
                <a:spcPts val="504"/>
              </a:spcAft>
              <a:defRPr sz="1400" b="0">
                <a:solidFill>
                  <a:srgbClr val="1A1A2E"/>
                </a:solidFill>
                <a:latin typeface="Calibri"/>
              </a:defRPr>
            </a:pPr>
            <a:endParaRPr/>
          </a:p>
          <a:p>
            <a:pPr>
              <a:spcAft>
                <a:spcPts val="504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As PIK inflates notional and leverage rises,</a:t>
            </a:r>
          </a:p>
          <a:p>
            <a:pPr>
              <a:spcAft>
                <a:spcPts val="504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hazard accelerates non-linearly.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554480"/>
            <a:ext cx="5303520" cy="36576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645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Dynamic Recovery (Floored Inverse)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4"/>
              </a:spcAft>
              <a:defRPr sz="1400" b="1">
                <a:solidFill>
                  <a:srgbClr val="E8A838"/>
                </a:solidFill>
                <a:latin typeface="Calibri"/>
              </a:defRPr>
            </a:pPr>
            <a:r>
              <a:t>R(N) = max(floor, R₀ · N₀ / N)</a:t>
            </a:r>
          </a:p>
          <a:p>
            <a:pPr>
              <a:spcAft>
                <a:spcPts val="504"/>
              </a:spcAft>
              <a:defRPr sz="1400" b="0">
                <a:solidFill>
                  <a:srgbClr val="1A1A2E"/>
                </a:solidFill>
                <a:latin typeface="Calibri"/>
              </a:defRPr>
            </a:pPr>
            <a:endParaRPr/>
          </a:p>
          <a:p>
            <a:pPr>
              <a:spcAft>
                <a:spcPts val="504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R₀ = base recovery at par notional N₀</a:t>
            </a:r>
          </a:p>
          <a:p>
            <a:pPr>
              <a:spcAft>
                <a:spcPts val="504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floor = minimum recovery rate (10%)</a:t>
            </a:r>
          </a:p>
          <a:p>
            <a:pPr>
              <a:spcAft>
                <a:spcPts val="504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α variant: R(N) = R₀ · (N₀/N)^α</a:t>
            </a:r>
          </a:p>
          <a:p>
            <a:pPr>
              <a:spcAft>
                <a:spcPts val="504"/>
              </a:spcAft>
              <a:defRPr sz="1400" b="0">
                <a:solidFill>
                  <a:srgbClr val="1A1A2E"/>
                </a:solidFill>
                <a:latin typeface="Calibri"/>
              </a:defRPr>
            </a:pPr>
            <a:endParaRPr/>
          </a:p>
          <a:p>
            <a:pPr>
              <a:spcAft>
                <a:spcPts val="504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PIK-inflated notional means recovery &lt; base rate.</a:t>
            </a:r>
          </a:p>
          <a:p>
            <a:pPr>
              <a:spcAft>
                <a:spcPts val="504"/>
              </a:spcAft>
              <a:defRPr sz="1400" b="1">
                <a:solidFill>
                  <a:srgbClr val="333333"/>
                </a:solidFill>
                <a:latin typeface="Calibri"/>
              </a:defRPr>
            </a:pPr>
            <a:r>
              <a:t>Primary driver of full-PIK premium.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72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Feedback Demonstration: B+ Issuer (barrier = 106.8, base leverage = 0.63)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4937760"/>
          <a:ext cx="5486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38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LTV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Hazard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Notional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Recovery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79.6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35.00%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0.70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4.62%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111.4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31.41%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7.64%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143.3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24.43%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9.44%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159.2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21.99%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11.42%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175.1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19.99%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Calibri"/>
              </a:defRPr>
            </a:pPr>
            <a:r>
              <a:t>[5] Leland, H.E. (1994), Corporate Debt Value, Bond Covenants, and Optimal Capital Structure, JoF 49(4)  [6] Collin-Dufresne, P. &amp; Goldstein, R.S. (2001), Do Credit Spreads Reflect Stationary Leverage Ratios?, JoF 56(5)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The Credit Spectrum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1247120" cy="502920"/>
          </a:xfrm>
          <a:prstGeom prst="rect">
            <a:avLst/>
          </a:prstGeom>
          <a:solidFill>
            <a:srgbClr val="FFF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822960"/>
            <a:ext cx="54864" cy="50292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1">
                <a:solidFill>
                  <a:srgbClr val="333333"/>
                </a:solidFill>
                <a:latin typeface="Calibri"/>
              </a:defRPr>
            </a:pPr>
            <a:r>
              <a:t>We test PIK economics across 9 issuers from BB+ to CCC-. The same PIK structure behaves very differently across credit quality — a BB+ PIK barely matters, but a CCC- PIK premium can exceed 600bp.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2496167"/>
              </p:ext>
            </p:extLst>
          </p:nvPr>
        </p:nvGraphicFramePr>
        <p:xfrm>
          <a:off x="457200" y="1554480"/>
          <a:ext cx="82296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Issuer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Assets (V)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n-CA" dirty="0"/>
                        <a:t>Asset </a:t>
                      </a:r>
                      <a:r>
                        <a:rPr dirty="0"/>
                        <a:t>Vol (</a:t>
                      </a:r>
                      <a:r>
                        <a:rPr dirty="0" err="1"/>
                        <a:t>σ</a:t>
                      </a:r>
                      <a:r>
                        <a:rPr dirty="0"/>
                        <a:t>)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Mkt Spread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h₀ (cal)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h≈s/(1-R)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R₀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BB+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150bp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BB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190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175bp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2.99%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3.18%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45%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BB-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200bp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3.18%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3.33%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B+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170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250bp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3.72%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3.85%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300bp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4.34%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4.44%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B-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130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400bp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5.65%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5.71%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CCC+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550bp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7.35%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7.33%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CCC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115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700bp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8.85%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8.75%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CCC-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975bp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11.71%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11.47%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dirty="0"/>
                        <a:t>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937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Market-Implied Default Probabilities: PD(t) = 1 - exp(-λt)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530352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Issuer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λ (bp)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PD(1Y)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PD(3Y)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PD(5Y)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PD(7Y)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PD(10Y)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BB+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7.98%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12.94%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17.63%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24.20%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434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4.25%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12.21%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19.51%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26.20%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35.21%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CCC-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1171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11.05%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29.63%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44.32%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55.95%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69.00%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Calibri"/>
              </a:defRPr>
            </a:pPr>
            <a:r>
              <a:t>Hazard rates calibrated via reduced-form model [3,4]. Credit triangle approximation: λ ≈ s / (1 - R), see Duffie &amp; Singleton (1999).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The PIK Premium: How Much Extra Spread?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1247120" cy="502920"/>
          </a:xfrm>
          <a:prstGeom prst="rect">
            <a:avLst/>
          </a:prstGeom>
          <a:solidFill>
            <a:srgbClr val="FFF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822960"/>
            <a:ext cx="54864" cy="50292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1">
                <a:solidFill>
                  <a:srgbClr val="333333"/>
                </a:solidFill>
                <a:latin typeface="Calibri"/>
              </a:defRPr>
            </a:pPr>
            <a:r>
              <a:t>After calibrating to market, investors should demand +58bp (BB+) to +628bp (CCC-) additional spread for full PIK structures. The premium scales exponentially with credit risk.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63040"/>
          <a:ext cx="98755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Issuer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Mkt Spread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Cash* Z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PIK* Z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Toggle* Z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PIK-Cash*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Toggle-Cash*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BB+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150bp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149bp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206bp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150bp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+58bp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+1bp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BB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175bp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174bp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241bp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176bp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+68bp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+2bp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BB-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200bp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199bp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275bp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228bp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+76bp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+29bp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B+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250bp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253bp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358bp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295bp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+105bp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+43bp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300bp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302bp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438bp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424bp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+136bp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+122bp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B-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400bp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407bp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616bp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621bp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+209bp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+214bp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CCC+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550bp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548bp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848bp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845bp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+300bp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+297bp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CCC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700bp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698bp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1096bp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1095bp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+398bp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+397bp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CCC-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975bp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981bp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1609bp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1586bp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+628bp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+606bp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21208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4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* = MC-calibrated: cash Z-spread matches market by construction</a:t>
            </a:r>
          </a:p>
          <a:p>
            <a:pPr>
              <a:spcAft>
                <a:spcPts val="504"/>
              </a:spcAft>
              <a:defRPr sz="1400" b="1">
                <a:solidFill>
                  <a:srgbClr val="CC3333"/>
                </a:solidFill>
                <a:latin typeface="Calibri"/>
              </a:defRPr>
            </a:pPr>
            <a:r>
              <a:t>Calibrated PIK premiums are wider: +628bp at CCC- (vs +409bp uncalibrated)</a:t>
            </a:r>
          </a:p>
          <a:p>
            <a:pPr>
              <a:spcAft>
                <a:spcPts val="504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Uncalibrated barriers inflate cash-pay spreads disproportionately — see Appendix 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Calibri"/>
              </a:defRPr>
            </a:pPr>
            <a:r>
              <a:t>Z-spreads computed on cash-equivalent basis for cross-structure comparability. MC calibration: bisect on barrier to match cash Z-spread to market. See [7] for MC methodology.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Why Simple Models Underestimate PIK Risk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1247120" cy="502920"/>
          </a:xfrm>
          <a:prstGeom prst="rect">
            <a:avLst/>
          </a:prstGeom>
          <a:solidFill>
            <a:srgbClr val="FFF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822960"/>
            <a:ext cx="54864" cy="50292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1">
                <a:solidFill>
                  <a:srgbClr val="333333"/>
                </a:solidFill>
                <a:latin typeface="Calibri"/>
              </a:defRPr>
            </a:pPr>
            <a:r>
              <a:t>Traditional hazard-rate models [3,4] miss 2/3 of the PIK premium for stressed issuers. A CCC- PIK bond is mispriced by ~400bp if you ignore the leverage spiral [5,6]. Structural models with feedback are essential for accurate pricing.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63040"/>
          <a:ext cx="95097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Issuer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λ (bp)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HR Cash Z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HR PIK Z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HR PIK-Cash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MC Cash* Z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MC PIK* Z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MC PIK-Cash*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BB+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149bp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197bp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+48bp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149bp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206bp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+58bp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BB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299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174bp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227bp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+53bp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174bp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241bp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+68bp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BB-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199bp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257bp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+58bp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199bp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275bp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+76bp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B+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372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249bp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316bp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+67bp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253bp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358bp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+105bp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299bp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375bp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+76bp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302bp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438bp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+136bp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B-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565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398bp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493bp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+95bp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407bp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616bp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+209bp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CCC+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548bp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673bp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+125bp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548bp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848bp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+300bp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CCC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885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698bp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855bp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+157bp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698bp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1096bp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+398bp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CCC-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1171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973bp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1193bp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+220bp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981bp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1609bp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+628bp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21208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4"/>
              </a:spcAft>
              <a:defRPr sz="1400" b="1">
                <a:solidFill>
                  <a:srgbClr val="CC3333"/>
                </a:solidFill>
                <a:latin typeface="Calibri"/>
              </a:defRPr>
            </a:pPr>
            <a:r>
              <a:t>At CCC-: Hazard-rate PIK premium = +220bp vs Structural MC = +628bp</a:t>
            </a:r>
          </a:p>
          <a:p>
            <a:pPr>
              <a:spcAft>
                <a:spcPts val="504"/>
              </a:spcAft>
              <a:defRPr sz="1400" b="1">
                <a:solidFill>
                  <a:srgbClr val="1A1A2E"/>
                </a:solidFill>
                <a:latin typeface="Calibri"/>
              </a:defRPr>
            </a:pPr>
            <a:r>
              <a:t>The structural feedback (endogenous hazard + dynamic recovery) accounts for nearly 2/3 of the PIK premium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Calibri"/>
              </a:defRPr>
            </a:pPr>
            <a:r>
              <a:t>HR = reduced-form hazard rate model [3,4] with flat λ. MC = Merton structural model [1,2] with endogenous hazard [5] and dynamic recovery, calibrated to market.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Drives the Premium: Asset Coverage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1247120" cy="502920"/>
          </a:xfrm>
          <a:prstGeom prst="rect">
            <a:avLst/>
          </a:prstGeom>
          <a:solidFill>
            <a:srgbClr val="FFF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822960"/>
            <a:ext cx="54864" cy="50292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1">
                <a:solidFill>
                  <a:srgbClr val="333333"/>
                </a:solidFill>
                <a:latin typeface="Calibri"/>
              </a:defRPr>
            </a:pPr>
            <a:r>
              <a:t>Asset coverage is the single most important driver. The premium drops from +372bp at 1.1x coverage to just +26bp at 2.15x. Better collateral dramatically reduces PIK risk.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99999"/>
                </a:solidFill>
                <a:latin typeface="Calibri"/>
              </a:defRPr>
            </a:pPr>
            <a:r>
              <a:t>Sweep V from 110 to 220 (coverage 1.10x to 2.15x), fixed barrier at par, σ=30%, h₀=6%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828800"/>
          <a:ext cx="96926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Coverage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Cash Price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PIK Price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Discount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Cash Z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PIK Z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PIK Premium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1.10x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92.98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79.81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+13.17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557bp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929bp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+372bp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1.25x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97.05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86.67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+10.38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454bp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728bp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+273bp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1.40x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100.42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92.34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+8.08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372bp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574bp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+202bp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1.55x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103.33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97.23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+6.10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304bp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450bp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+146bp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1.70x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105.66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101.16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+4.50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251bp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355bp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+104bp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1.85x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107.64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104.49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+3.15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207bp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277bp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+71bp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2.00x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109.19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107.10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+2.09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173bp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219bp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+46bp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2.15x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110.48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109.28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+1.20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145bp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171bp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+26bp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12064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4"/>
              </a:spcAft>
              <a:defRPr sz="1400" b="1">
                <a:solidFill>
                  <a:srgbClr val="1A1A2E"/>
                </a:solidFill>
                <a:latin typeface="Calibri"/>
              </a:defRPr>
            </a:pPr>
            <a:r>
              <a:t>Key Insight: PIK premium is strongly non-linear in coverage</a:t>
            </a:r>
          </a:p>
          <a:p>
            <a:pPr>
              <a:spcAft>
                <a:spcPts val="504"/>
              </a:spcAft>
              <a:defRPr sz="1400" b="0">
                <a:solidFill>
                  <a:srgbClr val="CC3333"/>
                </a:solidFill>
                <a:latin typeface="Calibri"/>
              </a:defRPr>
            </a:pPr>
            <a:r>
              <a:t>• At 1.10x coverage: +372bp PIK premium (asset barely covers debt)</a:t>
            </a:r>
          </a:p>
          <a:p>
            <a:pPr>
              <a:spcAft>
                <a:spcPts val="504"/>
              </a:spcAft>
              <a:defRPr sz="1400" b="0">
                <a:solidFill>
                  <a:srgbClr val="339966"/>
                </a:solidFill>
                <a:latin typeface="Calibri"/>
              </a:defRPr>
            </a:pPr>
            <a:r>
              <a:t>• At 2.15x coverage: +26bp PIK premium (defaults are rare, PIK accrual harmless)</a:t>
            </a:r>
          </a:p>
          <a:p>
            <a:pPr>
              <a:spcAft>
                <a:spcPts val="504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The relationship is convex — premiums accelerate as coverage drops below 1.5x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Calibri"/>
              </a:defRPr>
            </a:pPr>
            <a:r>
              <a:t>Structural framework per Merton (1974) [1] with first-passage default [2] and endogenous hazard [5]. Coverage = V/B at origination.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Drives the Premium: Asset Volatility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1247120" cy="502920"/>
          </a:xfrm>
          <a:prstGeom prst="rect">
            <a:avLst/>
          </a:prstGeom>
          <a:solidFill>
            <a:srgbClr val="FFF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822960"/>
            <a:ext cx="54864" cy="50292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1">
                <a:solidFill>
                  <a:srgbClr val="333333"/>
                </a:solidFill>
                <a:latin typeface="Calibri"/>
              </a:defRPr>
            </a:pPr>
            <a:r>
              <a:t>Higher volatility amplifies PIK risk exponentially — at 45% vol the PIK premium is 9x larger than at 20% vol. Volatile sectors (e.g. tech, energy) face outsized PIK costs.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99999"/>
                </a:solidFill>
                <a:latin typeface="Calibri"/>
              </a:defRPr>
            </a:pPr>
            <a:r>
              <a:t>Fixed 1.40x coverage (V=140, barrier=par), sweep σ from 20% to 45%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828800"/>
          <a:ext cx="96926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6571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Vol (σ)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Cash Price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PIK Price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Discount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Cash Z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PIK Z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PIK Premium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109.17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107.07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+2.10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173bp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219bp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+46bp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104.58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99.34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+5.24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275bp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398bp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+123bp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100.42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92.34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+8.08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372bp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574bp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+202bp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96.90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86.42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+10.48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458bp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735bp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+277bp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93.81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81.20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+12.61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536bp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887bp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+351bp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57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45%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91.06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76.58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+14.48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608bp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1031bp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+424bp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3891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4"/>
              </a:spcAft>
              <a:defRPr sz="1400" b="1">
                <a:solidFill>
                  <a:srgbClr val="1A1A2E"/>
                </a:solidFill>
                <a:latin typeface="Calibri"/>
              </a:defRPr>
            </a:pPr>
            <a:r>
              <a:t>Volatility amplifies PIK risk through three channels:</a:t>
            </a:r>
          </a:p>
          <a:p>
            <a:pPr>
              <a:spcAft>
                <a:spcPts val="504"/>
              </a:spcAft>
              <a:defRPr sz="1400" b="0">
                <a:solidFill>
                  <a:srgbClr val="1A1A2E"/>
                </a:solidFill>
                <a:latin typeface="Calibri"/>
              </a:defRPr>
            </a:pPr>
            <a:endParaRPr/>
          </a:p>
          <a:p>
            <a:pPr>
              <a:spcAft>
                <a:spcPts val="504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1. More frequent barrier crossings → higher default rate [2]</a:t>
            </a:r>
          </a:p>
          <a:p>
            <a:pPr>
              <a:spcAft>
                <a:spcPts val="504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2. More extreme PIK paths → wider leverage swings → deeper recovery erosion</a:t>
            </a:r>
          </a:p>
          <a:p>
            <a:pPr>
              <a:spcAft>
                <a:spcPts val="504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3. Non-linear amplification → both default frequency AND loss severity worsen simultaneously</a:t>
            </a:r>
          </a:p>
          <a:p>
            <a:pPr>
              <a:spcAft>
                <a:spcPts val="504"/>
              </a:spcAft>
              <a:defRPr sz="1400" b="0">
                <a:solidFill>
                  <a:srgbClr val="1A1A2E"/>
                </a:solidFill>
                <a:latin typeface="Calibri"/>
              </a:defRPr>
            </a:pPr>
            <a:endParaRPr/>
          </a:p>
          <a:p>
            <a:pPr>
              <a:spcAft>
                <a:spcPts val="504"/>
              </a:spcAft>
              <a:defRPr sz="1400" b="1">
                <a:solidFill>
                  <a:srgbClr val="CC3333"/>
                </a:solidFill>
                <a:latin typeface="Calibri"/>
              </a:defRPr>
            </a:pPr>
            <a:r>
              <a:t>PIK premium at 20% vol: +46bp.  At 45% vol: +424bp  (×9.2x increase)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Calibri"/>
              </a:defRPr>
            </a:pPr>
            <a:r>
              <a:t>GBM asset dynamics [1] with first-passage barrier crossing [2] and Brownian bridge correction [7].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Drives the Premium: Feedback Speed (β and α)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1247120" cy="502920"/>
          </a:xfrm>
          <a:prstGeom prst="rect">
            <a:avLst/>
          </a:prstGeom>
          <a:solidFill>
            <a:srgbClr val="FFF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822960"/>
            <a:ext cx="54864" cy="50292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1">
                <a:solidFill>
                  <a:srgbClr val="333333"/>
                </a:solidFill>
                <a:latin typeface="Calibri"/>
              </a:defRPr>
            </a:pPr>
            <a:r>
              <a:t>The speed of the feedback loop is a key modelling assumption. How fast hazard rises with leverage (β) and how fast recovery erodes with notional growth (α) can swing the premium by 100bp+. Getting these parameters right is critical.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  <a:latin typeface="Calibri"/>
              </a:defRPr>
            </a:pPr>
            <a:r>
              <a:t>Endogenous Hazard Speed (β) [5,6] → Drives Toggle Premium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828800"/>
          <a:ext cx="47548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Issuer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β=0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β=1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β=2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β=4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BB-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Toggle-Cash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+0bp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+2bp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+29bp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+66bp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Toggle-Cash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+0bp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+53bp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+122bp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+145bp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Toggle-Cash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+398bp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+393bp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+397bp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+399bp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1792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A838"/>
                </a:solidFill>
                <a:latin typeface="Calibri"/>
              </a:defRPr>
            </a:pPr>
            <a:r>
              <a:t>Recovery Decay Speed (α) → Drives PIK Premium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17920" y="1828800"/>
          <a:ext cx="47548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Issuer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α=0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α=0.5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α=1.0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α=2.0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BB-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PIK-Cash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+16bp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+48bp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+76bp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+118bp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PIK-Cash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+66bp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+104bp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+136bp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+186bp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PIK-Cash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+294bp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+351bp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+398bp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+473bp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402336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68"/>
              </a:spcAft>
              <a:defRPr sz="1300" b="1">
                <a:solidFill>
                  <a:srgbClr val="1A1A2E"/>
                </a:solidFill>
                <a:latin typeface="Calibri"/>
              </a:defRPr>
            </a:pPr>
            <a:r>
              <a:t>Two distinct feedback channels:</a:t>
            </a:r>
          </a:p>
          <a:p>
            <a:pPr>
              <a:spcAft>
                <a:spcPts val="468"/>
              </a:spcAft>
              <a:defRPr sz="1300" b="0">
                <a:solidFill>
                  <a:srgbClr val="1A1A2E"/>
                </a:solidFill>
                <a:latin typeface="Calibri"/>
              </a:defRPr>
            </a:pPr>
            <a:endParaRPr/>
          </a:p>
          <a:p>
            <a:pPr>
              <a:spcAft>
                <a:spcPts val="468"/>
              </a:spcAft>
              <a:defRPr sz="1300" b="1">
                <a:solidFill>
                  <a:srgbClr val="007ACC"/>
                </a:solidFill>
                <a:latin typeface="Calibri"/>
              </a:defRPr>
            </a:pPr>
            <a:r>
              <a:t>β (Hazard Speed) [5,6]:</a:t>
            </a:r>
          </a:p>
          <a:p>
            <a:pPr>
              <a:spcAft>
                <a:spcPts val="468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Controls how quickly hazard ramps as leverage rises</a:t>
            </a:r>
          </a:p>
          <a:p>
            <a:pPr>
              <a:spcAft>
                <a:spcPts val="468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Drives the toggle exercise decision (PIK when hazard is high)</a:t>
            </a:r>
          </a:p>
          <a:p>
            <a:pPr>
              <a:spcAft>
                <a:spcPts val="468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At β=0, toggle sees flat hazard and rarely PIKs; at β=4, toggle aggressively PIKs</a:t>
            </a:r>
          </a:p>
          <a:p>
            <a:pPr>
              <a:spcAft>
                <a:spcPts val="468"/>
              </a:spcAft>
              <a:defRPr sz="1300" b="0">
                <a:solidFill>
                  <a:srgbClr val="1A1A2E"/>
                </a:solidFill>
                <a:latin typeface="Calibri"/>
              </a:defRPr>
            </a:pPr>
            <a:endParaRPr/>
          </a:p>
          <a:p>
            <a:pPr>
              <a:spcAft>
                <a:spcPts val="468"/>
              </a:spcAft>
              <a:defRPr sz="1300" b="1">
                <a:solidFill>
                  <a:srgbClr val="E8A838"/>
                </a:solidFill>
                <a:latin typeface="Calibri"/>
              </a:defRPr>
            </a:pPr>
            <a:r>
              <a:t>α (Recovery Decay):</a:t>
            </a:r>
          </a:p>
          <a:p>
            <a:pPr>
              <a:spcAft>
                <a:spcPts val="468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Controls how fast recovery erodes as PIK inflates notional</a:t>
            </a:r>
          </a:p>
          <a:p>
            <a:pPr>
              <a:spcAft>
                <a:spcPts val="468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Directly affects loss severity — primary driver of full-PIK premium</a:t>
            </a:r>
          </a:p>
          <a:p>
            <a:pPr>
              <a:spcAft>
                <a:spcPts val="468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At α=0, recovery is constant; at α=2.0, recovery collapses quickly</a:t>
            </a:r>
          </a:p>
          <a:p>
            <a:pPr>
              <a:spcAft>
                <a:spcPts val="468"/>
              </a:spcAft>
              <a:defRPr sz="1300" b="0">
                <a:solidFill>
                  <a:srgbClr val="1A1A2E"/>
                </a:solidFill>
                <a:latin typeface="Calibri"/>
              </a:defRPr>
            </a:pPr>
            <a:endParaRPr/>
          </a:p>
          <a:p>
            <a:pPr>
              <a:spcAft>
                <a:spcPts val="468"/>
              </a:spcAft>
              <a:defRPr sz="1300" b="1">
                <a:solidFill>
                  <a:srgbClr val="CC3333"/>
                </a:solidFill>
                <a:latin typeface="Calibri"/>
              </a:defRPr>
            </a:pPr>
            <a:r>
              <a:t>Both effects are strongly non-linear in credit 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Calibri"/>
              </a:defRPr>
            </a:pPr>
            <a:r>
              <a:t>[5] Leland (1994): endogenous default barrier and leverage-dependent hazard.  [6] Collin-Dufresne &amp; Goldstein (2001): stationary leverage ratios and credit spread dynamics.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Borrower Optionality: Toggle Strategies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1247120" cy="502920"/>
          </a:xfrm>
          <a:prstGeom prst="rect">
            <a:avLst/>
          </a:prstGeom>
          <a:solidFill>
            <a:srgbClr val="FFF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822960"/>
            <a:ext cx="54864" cy="50292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1">
                <a:solidFill>
                  <a:srgbClr val="333333"/>
                </a:solidFill>
                <a:latin typeface="Calibri"/>
              </a:defRPr>
            </a:pPr>
            <a:r>
              <a:t>Borrowers exercise the toggle at the worst time for lenders — they PIK when the company is most stressed, seeding the leverage spiral on already-distressed paths. Optimal exercise [8] produces spreads nearly as wide as full PIK (adverse selection).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B+ Issuer Results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737360"/>
          <a:ext cx="10058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Strategy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Price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Z-Spread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E[Loss]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Def Rate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PIK%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Terminal Notional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Cash-Pay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108.21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194bp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7.89%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16.77%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100.0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Full PIK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105.46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255bp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10.24%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16.77%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151.6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Threshold (h &gt; 10%)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106.51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232bp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9.34%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16.77%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100.9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Stochastic (sigmoid)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106.59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230bp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9.27%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16.77%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15.5%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105.2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Optimal (nested MC) [8]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105.99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244bp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9.78%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16.77%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104.1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29768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4"/>
              </a:spcAft>
              <a:defRPr sz="1400" b="1">
                <a:solidFill>
                  <a:srgbClr val="1A1A2E"/>
                </a:solidFill>
                <a:latin typeface="Calibri"/>
              </a:defRPr>
            </a:pPr>
            <a:r>
              <a:t>Toggle Exercise Strategies:</a:t>
            </a:r>
          </a:p>
          <a:p>
            <a:pPr>
              <a:spcAft>
                <a:spcPts val="504"/>
              </a:spcAft>
              <a:defRPr sz="1400" b="0">
                <a:solidFill>
                  <a:srgbClr val="1A1A2E"/>
                </a:solidFill>
                <a:latin typeface="Calibri"/>
              </a:defRPr>
            </a:pPr>
            <a:endParaRPr/>
          </a:p>
          <a:p>
            <a:pPr>
              <a:spcAft>
                <a:spcPts val="504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Threshold:  Deterministic rule — PIK when hazard rate &gt; 10%</a:t>
            </a:r>
          </a:p>
          <a:p>
            <a:pPr>
              <a:spcAft>
                <a:spcPts val="504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Stochastic: Smooth sigmoid — P(PIK) = σ(a + b · x), avoids hard threshold discontinuity</a:t>
            </a:r>
          </a:p>
          <a:p>
            <a:pPr>
              <a:spcAft>
                <a:spcPts val="504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Optimal:    Forward-looking nested MC [8] — maximizes equity value (most expensive to compute)</a:t>
            </a:r>
          </a:p>
          <a:p>
            <a:pPr>
              <a:spcAft>
                <a:spcPts val="504"/>
              </a:spcAft>
              <a:defRPr sz="1400" b="0">
                <a:solidFill>
                  <a:srgbClr val="1A1A2E"/>
                </a:solidFill>
                <a:latin typeface="Calibri"/>
              </a:defRPr>
            </a:pPr>
            <a:endParaRPr/>
          </a:p>
          <a:p>
            <a:pPr>
              <a:spcAft>
                <a:spcPts val="504"/>
              </a:spcAft>
              <a:defRPr sz="1400" b="1">
                <a:solidFill>
                  <a:srgbClr val="CC3333"/>
                </a:solidFill>
                <a:latin typeface="Calibri"/>
              </a:defRPr>
            </a:pPr>
            <a:r>
              <a:t>Insight: Optimal exercise produces spreads close to full PIK (244bp vs 255bp)</a:t>
            </a:r>
          </a:p>
          <a:p>
            <a:pPr>
              <a:spcAft>
                <a:spcPts val="504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The borrower rationally chooses PIK when it's worst for the lender (adverse selection)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Calibri"/>
              </a:defRPr>
            </a:pPr>
            <a:r>
              <a:t>[8] Longstaff, F.A. &amp; Schwartz, E.S. (2001), Valuing American Options by Simulation: A Simple Least-Squares Approach, RFS 14(1). Adapted for toggle exercise as nested MC.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Conclusions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54864" cy="41148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1">
                <a:solidFill>
                  <a:srgbClr val="E8A838"/>
                </a:solidFill>
                <a:latin typeface="Calibri"/>
              </a:defRPr>
            </a:pPr>
            <a:r>
              <a:t>Five key takeaways: PIK risk is non-linear, feedback-driven, and underestimated by standard models.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A838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463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PIK premium is non-linear in LTV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828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BB+ (~50% LTV): PIK barely matters. CCC (~87% LTV): PIK premium can exceed 500bp.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A838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4688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The feedback loop drives PIK risk [5,6]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834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Endogenous hazard + dynamic recovery create a self-reinforcing spiral that dramatically worsens PIK economics.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A838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4747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Simple hazard rates miss the story [3,4]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Flat λ captures timing/notional effects but underestimates premium by 2-3x for stressed issuers. CCC-: +220bp (HR) vs +628bp (MC).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80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A838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4805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Toggle is not free [8]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846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Borrower PIKs precisely when credit deteriorates — negative convexity for the investor. Toggle premium sits between cash and full PIK.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486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A838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4864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Volatility amplifies PIK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852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Higher σ increases both default frequency AND loss severity [1,2]. At 40% vol, PIK premium &gt;350bp; at 20% vol, only ~46bp.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Reference numbers: see References slide. [1] Merton (1974)  [2] Black &amp; Cox (1976)  [3] Duffie &amp; Singleton (1999)  [5] Leland (1994)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Conclusions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54864" cy="41148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1">
                <a:solidFill>
                  <a:srgbClr val="E8A838"/>
                </a:solidFill>
                <a:latin typeface="Calibri"/>
              </a:defRPr>
            </a:pPr>
            <a:r>
              <a:t>Model robustness, duration implications, and measurement considerations for practitioners.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A838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463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MC-to-market calibration eliminates fudge factors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828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Calibrating the barrier directly to market Z-spread ensures cash base case matches by construction. PIK differentials are computed consistently.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A838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4688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Toggle can be worse than full PIK (adverse selection)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834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Toggle concentrates PIK on the worst paths, seeding the leverage spiral on already-stressed paths. Can produce larger investor losses than mandatory full PIK.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A838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4747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PIK bonds carry ~0.75yr longer modified duration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Full-PIK ModDur ~4.8yr vs ~4.1yr for cash-pay (~18% extension). Greater interest rate sensitivity and higher DV01 per dollar of notional.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80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A838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4805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Metrics use the right cashflow basis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846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Spread/yield metrics: cash-equivalent basis for cross-structure comparability. Risk metrics (duration, DV01): actual PIK cashflows for true rate sensitivity.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486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A838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4864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Calibration parameter choice does not affect PIK premiums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852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Full-PIK premium is identical under barrier or vol calibration. Toggle shows small differences. Model is robust to calibration method.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Key Takeaway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828800"/>
            <a:ext cx="4876495" cy="36576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22860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  <a:latin typeface="Calibri"/>
              </a:defRPr>
            </a:pPr>
            <a:r>
              <a:t>PIK risk is fundamentally a leverage spiral risk.</a:t>
            </a:r>
            <a:br/>
            <a:r>
              <a:t>Structural models with endogenous hazard and dynamic recovery</a:t>
            </a:r>
            <a:br/>
            <a:r>
              <a:t>reveal premiums 2-3x larger than simple hazard-rate approaches,</a:t>
            </a:r>
            <a:br/>
            <a:r>
              <a:t>especially for stressed issuers where it matters most.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4389120"/>
            <a:ext cx="4876495" cy="36576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53513" y="4767236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8A838"/>
                </a:solidFill>
                <a:latin typeface="Calibri"/>
              </a:defRPr>
            </a:pPr>
            <a:r>
              <a:t>+58bp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53513" y="540731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BB+ PIK Premium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8152" y="4767236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8A838"/>
                </a:solidFill>
                <a:latin typeface="Calibri"/>
              </a:defRPr>
            </a:pPr>
            <a:r>
              <a:t>+628bp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8152" y="540731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CCC- PIK Premium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0098" y="4767237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8A838"/>
                </a:solidFill>
                <a:latin typeface="Calibri"/>
              </a:defRPr>
            </a:pPr>
            <a:r>
              <a:rPr dirty="0"/>
              <a:t>+0.75yr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0098" y="5407317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Duration Extension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ACC"/>
                </a:solidFill>
                <a:latin typeface="Calibri"/>
              </a:defRPr>
            </a:pPr>
            <a:r>
              <a:t>[1]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05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Merton, R.C. (1974)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10058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"On the Pricing of Corporate Debt: The Risk Structure of Interest Rates." Journal of Finance, 29(2), 449-470.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934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ACC"/>
                </a:solidFill>
                <a:latin typeface="Calibri"/>
              </a:defRPr>
            </a:pPr>
            <a:r>
              <a:t>[2]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0934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Black, F. &amp; Cox, J.C. (1976)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609344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"Valuing Corporate Securities: Some Effects of Bond Indenture Provisions." Journal of Finance, 31(2), 351-367.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1284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ACC"/>
                </a:solidFill>
                <a:latin typeface="Calibri"/>
              </a:defRPr>
            </a:pPr>
            <a:r>
              <a:t>[3]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128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Duffie, D. &amp; Singleton, K.J. (1999)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21284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"Modeling Term Structures of Defaultable Bonds." Review of Financial Studies, 12(4), 687-720.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163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ACC"/>
                </a:solidFill>
                <a:latin typeface="Calibri"/>
              </a:defRPr>
            </a:pPr>
            <a:r>
              <a:t>[4]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8163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Jarrow, R.A. &amp; Turnbull, S.M. (1995)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81635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"Pricing Derivatives on Financial Securities Subject to Credit Risk." Journal of Finance, 50(1), 53-85.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41985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ACC"/>
                </a:solidFill>
                <a:latin typeface="Calibri"/>
              </a:defRPr>
            </a:pPr>
            <a:r>
              <a:t>[5]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41985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Leland, H.E. (1994)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3419856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"Corporate Debt Value, Bond Covenants, and Optimal Capital Structure." Journal of Finance, 49(4), 1213-1252.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0233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ACC"/>
                </a:solidFill>
                <a:latin typeface="Calibri"/>
              </a:defRPr>
            </a:pPr>
            <a:r>
              <a:t>[6]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023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Collin-Dufresne, P. &amp; Goldstein, R.S. (2001)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40233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"Do Credit Spreads Reflect Stationary Leverage Ratios?" Journal of Finance, 56(5), 1929-1957.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62686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ACC"/>
                </a:solidFill>
                <a:latin typeface="Calibri"/>
              </a:defRPr>
            </a:pPr>
            <a:r>
              <a:t>[7]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62686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Glasserman, P. (2003)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4626864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Monte Carlo Methods in Financial Engineering. Springer. (Brownian bridge barrier correction, antithetic variates, variance reduction.)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23036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ACC"/>
                </a:solidFill>
                <a:latin typeface="Calibri"/>
              </a:defRPr>
            </a:pPr>
            <a:r>
              <a:t>[8]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2303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Longstaff, F.A. &amp; Schwartz, E.S. (2001)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523036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"Valuing American Options by Simulation: A Simple Least-Squares Approach." Review of Financial Studies, 14(1), 113-147.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8338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ACC"/>
                </a:solidFill>
                <a:latin typeface="Calibri"/>
              </a:defRPr>
            </a:pPr>
            <a:r>
              <a:t>[9]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8338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Leland, H.E. &amp; Toft, K.B. (1996)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39" y="583387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"Optimal Capital Structure, Endogenous Bankruptcy, and the Term Structure of Credit Spreads." Journal of Finance, 51(3), 987-1019.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Appendix A: Monte Carlo Pricing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1247120" cy="502920"/>
          </a:xfrm>
          <a:prstGeom prst="rect">
            <a:avLst/>
          </a:prstGeom>
          <a:solidFill>
            <a:srgbClr val="FFF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822960"/>
            <a:ext cx="54864" cy="50292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1">
                <a:solidFill>
                  <a:srgbClr val="333333"/>
                </a:solidFill>
                <a:latin typeface="Calibri"/>
              </a:defRPr>
            </a:pPr>
            <a:r>
              <a:t>The MC engine prices each bond by simulating 25,000 asset paths, checking for barrier crossings via Brownian bridge [7], processing coupons (cash or PIK), and computing Z-spreads on a cash-equivalent basis.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  <a:latin typeface="Calibri"/>
              </a:defRPr>
            </a:pPr>
            <a:r>
              <a:t>1. Asset Evolution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54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GBM [1]: V(t+Δt) = V(t) · exp[(μ - ½σ²)Δt + σ√Δt · Z]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  <a:latin typeface="Calibri"/>
              </a:defRPr>
            </a:pPr>
            <a:r>
              <a:t>2. First-Passage Default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377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Brownian bridge barrier-crossing correction [2,7]. Crossing prob: p = exp(-2x₀x₁ / σ²Δt)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  <a:latin typeface="Calibri"/>
              </a:defRPr>
            </a:pPr>
            <a:r>
              <a:t>3. Coupon 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200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Cash → pay coupon; PIK → accrete to notional; Toggle → evaluate exercise model [8]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023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  <a:latin typeface="Calibri"/>
              </a:defRPr>
            </a:pPr>
            <a:r>
              <a:t>4. Default Recovery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023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R(N_current) via DynamicRecoverySpec, discounted to valuation 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46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  <a:latin typeface="Calibri"/>
              </a:defRPr>
            </a:pPr>
            <a:r>
              <a:t>5. Maturity Payoff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4846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Surviving paths: discount terminal notional N(T). For PIK: N(T) = N₀ · (1 + c/f)ⁿ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669280"/>
            <a:ext cx="11247120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57607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Variance Reduction &amp; Z-Spread Computation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035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31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Antithetic variates [7]: negate normal draws for half the paths (halves variance)</a:t>
            </a:r>
          </a:p>
          <a:p>
            <a:pPr>
              <a:spcAft>
                <a:spcPts val="431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Common random numbers (CRN): per-path deterministic RNG for calibration consistency</a:t>
            </a:r>
          </a:p>
          <a:p>
            <a:pPr>
              <a:spcAft>
                <a:spcPts val="431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Z-spread solved as: Σ CFᵢ · D(tᵢ) · exp(-z·tᵢ) = MC PV  (cash-equivalent basis)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Calibri"/>
              </a:defRPr>
            </a:pPr>
            <a:r>
              <a:t>[1] Merton (1974)  [2] Black &amp; Cox (1976)  [7] Glasserman (2003)  [8] Longstaff &amp; Schwartz (2001)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Appendix B: Detailed Results — BB+ to BB-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Calibri"/>
              </a:defRPr>
            </a:pPr>
            <a:r>
              <a:t>BB+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93268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Structure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Price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Z-Spread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YTM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ModDur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E[Loss]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Def Rate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PIK%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Cash-Pay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111.91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115bp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12.88%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Full PIK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110.62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142bp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6.01%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4.86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5.84%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12.88%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PIK Toggle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111.85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116bp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5.74%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4.80%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12.88%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2743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Calibri"/>
              </a:defRPr>
            </a:pPr>
            <a:r>
              <a:t>BB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063240"/>
          <a:ext cx="93268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Structure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Price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Z-Spread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YTM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ModDur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E[Loss]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Def Rate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PIK%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Cash-Pay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110.92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136bp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13.86%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Full PIK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109.27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171bp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6.31%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4.86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6.99%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13.86%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PIK Toggle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110.82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138bp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5.97%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5.67%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13.86%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480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Calibri"/>
              </a:defRPr>
            </a:pPr>
            <a:r>
              <a:t>BB-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4800600"/>
          <a:ext cx="93268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Structure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Price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Z-Spread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YTM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ModDur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E[Loss]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Def Rate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PIK%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Cash-Pay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109.97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156bp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6.16%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6.39%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14.64%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Full PIK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108.02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198bp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6.59%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4.85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8.05%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14.64%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PIK Toggle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108.74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183bp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6.43%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14.64%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Appendix C: Detailed Results — B+ to B-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Calibri"/>
              </a:defRPr>
            </a:pPr>
            <a:r>
              <a:t>B+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93268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Structure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Price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Z-Spread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YTM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ModDur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E[Loss]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Def Rate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PIK%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Cash-Pay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108.21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194bp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6.55%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7.89%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16.77%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Full PIK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105.46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255bp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7.18%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4.84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10.24%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16.77%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PIK Toggle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106.51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232bp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6.94%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9.34%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16.77%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6.6%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2743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Calibri"/>
              </a:defRPr>
            </a:pPr>
            <a:r>
              <a:t>B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063240"/>
          <a:ext cx="93268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Structure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Price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Z-Spread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YTM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ModDur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E[Loss]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Def Rate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PIK%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Cash-Pay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106.39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235bp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6.97%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9.44%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19.36%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Full PIK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102.66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320bp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7.85%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4.83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12.62%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19.36%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PIK Toggle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102.32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327bp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7.93%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12.91%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19.36%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30.7%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480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Calibri"/>
              </a:defRPr>
            </a:pPr>
            <a:r>
              <a:t>B-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4800600"/>
          <a:ext cx="93268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Structure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Price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Z-Spread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YTM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ModDur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E[Loss]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Def Rate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PIK%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Cash-Pay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102.97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312bp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7.78%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12.35%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24.48%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Full PIK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97.30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448bp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9.19%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4.80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17.18%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24.48%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PIK Toggle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96.73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462bp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9.34%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17.67%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24.48%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63.7%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Appendix D: Detailed Results — CCC+ to CCC-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Calibri"/>
              </a:defRPr>
            </a:pPr>
            <a:r>
              <a:t>CCC+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93268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Structure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Price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Z-Spread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YTM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ModDur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E[Loss]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Def Rate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PIK%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Cash-Pay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97.98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431bp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9.01%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16.60%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30.82%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Full PIK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89.91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638bp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11.19%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4.77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23.47%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30.82%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PIK Toggle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89.59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647bp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11.28%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23.74%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30.82%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69.2%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2743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Calibri"/>
              </a:defRPr>
            </a:pPr>
            <a:r>
              <a:t>CCC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063240"/>
          <a:ext cx="93268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Structure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Price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Z-Spread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YTM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ModDur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E[Loss]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Def Rate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PIK%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Cash-Pay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93.44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545bp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10.21%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20.47%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35.74%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Full PIK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83.51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818bp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13.10%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4.73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28.92%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35.74%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PIK Toggle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83.27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825bp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13.18%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29.12%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35.74%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79.3%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480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Calibri"/>
              </a:defRPr>
            </a:pPr>
            <a:r>
              <a:t>CCC-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4800600"/>
          <a:ext cx="93268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Structure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Price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Z-Spread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YTM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ModDur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E[Loss]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Def Rate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PIK%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Cash-Pay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85.93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748bp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12.36%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26.85%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44.27%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Full PIK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72.78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1158bp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16.75%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4.67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38.05%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44.27%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PIK Toggle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72.83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1156bp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16.73%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38.01%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44.27%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78.3%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Appendix E: Modified Duration Across Structures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1247120" cy="502920"/>
          </a:xfrm>
          <a:prstGeom prst="rect">
            <a:avLst/>
          </a:prstGeom>
          <a:solidFill>
            <a:srgbClr val="FFF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822960"/>
            <a:ext cx="54864" cy="50292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1">
                <a:solidFill>
                  <a:srgbClr val="333333"/>
                </a:solidFill>
                <a:latin typeface="Calibri"/>
              </a:defRPr>
            </a:pPr>
            <a:r>
              <a:t>PIK bonds have ~0.75yr longer duration than cash-pay (~18% more rate sensitivity). This is because PIK concentrates all value at maturity, extending the weighted-average cashflow timing.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54480"/>
          <a:ext cx="65836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Issuer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Cash ModDur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PIK ModDur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Toggle ModDur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PIK - Cash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Toggle - Cash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BB+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BB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4.10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4.86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4.10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+0.76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BB-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-0.02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B+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4.08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4.84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4.07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+0.76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-0.01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+0.77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-0.03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B-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4.03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4.80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3.98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+0.77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-0.05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CCC+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+0.78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-0.09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CCC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3.94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4.73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3.83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+0.79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-0.11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CCC-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+0.81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-0.16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0" y="155448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31"/>
              </a:spcAft>
              <a:defRPr sz="1200" b="1">
                <a:solidFill>
                  <a:srgbClr val="1A1A2E"/>
                </a:solidFill>
                <a:latin typeface="Calibri"/>
              </a:defRPr>
            </a:pPr>
            <a:r>
              <a:t>Key patterns:</a:t>
            </a:r>
          </a:p>
          <a:p>
            <a:pPr>
              <a:spcAft>
                <a:spcPts val="431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endParaRPr/>
          </a:p>
          <a:p>
            <a:pPr>
              <a:spcAft>
                <a:spcPts val="431"/>
              </a:spcAft>
              <a:defRPr sz="1200" b="1">
                <a:solidFill>
                  <a:srgbClr val="007ACC"/>
                </a:solidFill>
                <a:latin typeface="Calibri"/>
              </a:defRPr>
            </a:pPr>
            <a:r>
              <a:t>1. PIK extends duration by ~0.75yr</a:t>
            </a:r>
          </a:p>
          <a:p>
            <a:pPr>
              <a:spcAft>
                <a:spcPts val="431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All coupons accreted to maturity as terminal notional, concentrating cashflow at the longest point.</a:t>
            </a:r>
          </a:p>
          <a:p>
            <a:pPr>
              <a:spcAft>
                <a:spcPts val="431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endParaRPr/>
          </a:p>
          <a:p>
            <a:pPr>
              <a:spcAft>
                <a:spcPts val="431"/>
              </a:spcAft>
              <a:defRPr sz="1200" b="1">
                <a:solidFill>
                  <a:srgbClr val="007ACC"/>
                </a:solidFill>
                <a:latin typeface="Calibri"/>
              </a:defRPr>
            </a:pPr>
            <a:r>
              <a:t>2. Duration gap is stable across ratings</a:t>
            </a:r>
          </a:p>
          <a:p>
            <a:pPr>
              <a:spcAft>
                <a:spcPts val="431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BB+ to CCC-: PIK - Cash ranges from +0.75 to +0.81yr. Cashflow structure — not credit — drives the gap.</a:t>
            </a:r>
          </a:p>
          <a:p>
            <a:pPr>
              <a:spcAft>
                <a:spcPts val="431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endParaRPr/>
          </a:p>
          <a:p>
            <a:pPr>
              <a:spcAft>
                <a:spcPts val="431"/>
              </a:spcAft>
              <a:defRPr sz="1200" b="1">
                <a:solidFill>
                  <a:srgbClr val="007ACC"/>
                </a:solidFill>
                <a:latin typeface="Calibri"/>
              </a:defRPr>
            </a:pPr>
            <a:r>
              <a:t>3. Toggle converges to cash at high quality</a:t>
            </a:r>
          </a:p>
          <a:p>
            <a:pPr>
              <a:spcAft>
                <a:spcPts val="431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BB+: toggle barely fires (0.2%), so duration matches cash. CCC-: toggle fires 78%, but duration stays near cash since non-PIK periods revert to cash timing.</a:t>
            </a:r>
          </a:p>
          <a:p>
            <a:pPr>
              <a:spcAft>
                <a:spcPts val="431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endParaRPr/>
          </a:p>
          <a:p>
            <a:pPr>
              <a:spcAft>
                <a:spcPts val="431"/>
              </a:spcAft>
              <a:defRPr sz="1200" b="1">
                <a:solidFill>
                  <a:srgbClr val="CC3333"/>
                </a:solidFill>
                <a:latin typeface="Calibri"/>
              </a:defRPr>
            </a:pPr>
            <a:r>
              <a:t>Hedging implication: PIK bonds have ~18% greater rate sensitivity per dollar of notional.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Appendix F: Calibration — Barrier vs Asset 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1247120" cy="502920"/>
          </a:xfrm>
          <a:prstGeom prst="rect">
            <a:avLst/>
          </a:prstGeom>
          <a:solidFill>
            <a:srgbClr val="FFF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822960"/>
            <a:ext cx="54864" cy="50292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1">
                <a:solidFill>
                  <a:srgbClr val="333333"/>
                </a:solidFill>
                <a:latin typeface="Calibri"/>
              </a:defRPr>
            </a:pPr>
            <a:r>
              <a:t>The PIK premium is robust to calibration method — whether we calibrate via barrier or volatility, the full-PIK premium is identical. This validates that our results are not an artifact of the calibration approach.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63040"/>
          <a:ext cx="98755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Issuer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Mkt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 (cal)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σ (cal)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Cash Z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PIK Z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PIK-Cash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Toggle-Cash</a:t>
                      </a:r>
                    </a:p>
                  </a:txBody>
                  <a:tcPr>
                    <a:solidFill>
                      <a:srgbClr val="0050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BB+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150bp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barrier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147.2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149bp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206bp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+58bp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+1bp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vol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136.8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22.3%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149bp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206bp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+58bp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+3bp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250bp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barrier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117.5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253bp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358bp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+105bp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+43bp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vol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106.8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28.1%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253bp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358bp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+105bp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+56bp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400bp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barrier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81.6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407bp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616bp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+209bp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+214bp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vol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70.0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40.2%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407bp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616bp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+209bp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+214bp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700bp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barrier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84.9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698bp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1096bp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+398bp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+397bp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vol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69.6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47.8%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698bp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1096bp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+398bp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+397bp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9377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4"/>
              </a:spcAft>
              <a:defRPr sz="1400" b="1">
                <a:solidFill>
                  <a:srgbClr val="339966"/>
                </a:solidFill>
                <a:latin typeface="Calibri"/>
              </a:defRPr>
            </a:pPr>
            <a:r>
              <a:t>Result: PIK premiums are identical regardless of calibration parameter</a:t>
            </a:r>
          </a:p>
          <a:p>
            <a:pPr>
              <a:spcAft>
                <a:spcPts val="504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Full-PIK spread premium is the same under barrier or vol calibration</a:t>
            </a:r>
          </a:p>
          <a:p>
            <a:pPr>
              <a:spcAft>
                <a:spcPts val="504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Toggle premiums show small differences (toggle exercise responds differently to barrier vs vol)</a:t>
            </a:r>
          </a:p>
          <a:p>
            <a:pPr>
              <a:spcAft>
                <a:spcPts val="504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This validates model robustness — PIK pricing is not an artifact of the calibration 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Calibri"/>
              </a:defRPr>
            </a:pPr>
            <a:r>
              <a:t>Calibration via bisection on either barrier B or asset volatility σ to match cash Z-spread to observed market spread. See [7] for MC methodology.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5210</Words>
  <Application>Microsoft Macintosh PowerPoint</Application>
  <PresentationFormat>Widescreen</PresentationFormat>
  <Paragraphs>1263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Jon Eickmeier</cp:lastModifiedBy>
  <cp:revision>3</cp:revision>
  <dcterms:created xsi:type="dcterms:W3CDTF">2013-01-27T09:14:16Z</dcterms:created>
  <dcterms:modified xsi:type="dcterms:W3CDTF">2026-03-04T03:59:27Z</dcterms:modified>
  <cp:category/>
</cp:coreProperties>
</file>